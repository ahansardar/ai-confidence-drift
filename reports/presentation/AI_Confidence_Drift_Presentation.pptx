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2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3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1a05910154e4f45" /><Relationship Type="http://schemas.openxmlformats.org/officeDocument/2006/relationships/extended-properties" Target="/docProps/app.xml" Id="R377771648f0d48cc" /><Relationship Type="http://schemas.openxmlformats.org/officeDocument/2006/relationships/officeDocument" Target="/ppt/presentation.xml" Id="Rfba215093d84413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6a9648767944e7"/>
  </p:sldMasterIdLst>
  <p:notesMasterIdLst>
    <p:notesMasterId xmlns:r="http://schemas.openxmlformats.org/officeDocument/2006/relationships" r:id="Rd78422bbb1704fc1"/>
  </p:notesMasterIdLst>
  <p:sldIdLst>
    <p:sldId xmlns:r="http://schemas.openxmlformats.org/officeDocument/2006/relationships" id="256" r:id="Rc18d78d87d4347cf"/>
    <p:sldId xmlns:r="http://schemas.openxmlformats.org/officeDocument/2006/relationships" id="257" r:id="R64c1e854e9cf4d61"/>
    <p:sldId xmlns:r="http://schemas.openxmlformats.org/officeDocument/2006/relationships" id="258" r:id="R38c8b772d396435e"/>
    <p:sldId xmlns:r="http://schemas.openxmlformats.org/officeDocument/2006/relationships" id="259" r:id="R9349624286b74d8e"/>
    <p:sldId xmlns:r="http://schemas.openxmlformats.org/officeDocument/2006/relationships" id="260" r:id="R489edfd2ea2340a6"/>
    <p:sldId xmlns:r="http://schemas.openxmlformats.org/officeDocument/2006/relationships" id="261" r:id="Rc3d5ee7c71074aaa"/>
    <p:sldId xmlns:r="http://schemas.openxmlformats.org/officeDocument/2006/relationships" id="262" r:id="Rae97edcb96684c95"/>
    <p:sldId xmlns:r="http://schemas.openxmlformats.org/officeDocument/2006/relationships" id="263" r:id="Ra0949496f9cd444c"/>
    <p:sldId xmlns:r="http://schemas.openxmlformats.org/officeDocument/2006/relationships" id="264" r:id="R4f93cdbd3a054ecf"/>
    <p:sldId xmlns:r="http://schemas.openxmlformats.org/officeDocument/2006/relationships" id="265" r:id="Rb6fb71936bd047fd"/>
    <p:sldId xmlns:r="http://schemas.openxmlformats.org/officeDocument/2006/relationships" id="266" r:id="R58f427189e1b4f83"/>
    <p:sldId xmlns:r="http://schemas.openxmlformats.org/officeDocument/2006/relationships" id="267" r:id="R6508e94454ba4128"/>
    <p:sldId xmlns:r="http://schemas.openxmlformats.org/officeDocument/2006/relationships" id="268" r:id="Rb841911bd183492a"/>
    <p:sldId xmlns:r="http://schemas.openxmlformats.org/officeDocument/2006/relationships" id="269" r:id="Ra6d45a2ce93a406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28b06624da7482f" /><Relationship Type="http://schemas.openxmlformats.org/officeDocument/2006/relationships/slideMaster" Target="/ppt/slideMasters/slideMaster1.xml" Id="R5e6a9648767944e7" /><Relationship Type="http://schemas.openxmlformats.org/officeDocument/2006/relationships/notesMaster" Target="/ppt/notesMasters/notesMaster1.xml" Id="Rd78422bbb1704fc1" /><Relationship Type="http://schemas.openxmlformats.org/officeDocument/2006/relationships/presProps" Target="/ppt/presProps.xml" Id="Rb546c93637c44263" /><Relationship Type="http://schemas.openxmlformats.org/officeDocument/2006/relationships/tableStyles" Target="/ppt/tableStyles.xml" Id="Rdfbf29d94b4c446a" /><Relationship Type="http://schemas.openxmlformats.org/officeDocument/2006/relationships/slide" Target="/ppt/slides/slide1.xml" Id="Rc18d78d87d4347cf" /><Relationship Type="http://schemas.openxmlformats.org/officeDocument/2006/relationships/slide" Target="/ppt/slides/slide2.xml" Id="R64c1e854e9cf4d61" /><Relationship Type="http://schemas.openxmlformats.org/officeDocument/2006/relationships/slide" Target="/ppt/slides/slide3.xml" Id="R38c8b772d396435e" /><Relationship Type="http://schemas.openxmlformats.org/officeDocument/2006/relationships/slide" Target="/ppt/slides/slide4.xml" Id="R9349624286b74d8e" /><Relationship Type="http://schemas.openxmlformats.org/officeDocument/2006/relationships/slide" Target="/ppt/slides/slide5.xml" Id="R489edfd2ea2340a6" /><Relationship Type="http://schemas.openxmlformats.org/officeDocument/2006/relationships/slide" Target="/ppt/slides/slide6.xml" Id="Rc3d5ee7c71074aaa" /><Relationship Type="http://schemas.openxmlformats.org/officeDocument/2006/relationships/slide" Target="/ppt/slides/slide7.xml" Id="Rae97edcb96684c95" /><Relationship Type="http://schemas.openxmlformats.org/officeDocument/2006/relationships/slide" Target="/ppt/slides/slide8.xml" Id="Ra0949496f9cd444c" /><Relationship Type="http://schemas.openxmlformats.org/officeDocument/2006/relationships/slide" Target="/ppt/slides/slide9.xml" Id="R4f93cdbd3a054ecf" /><Relationship Type="http://schemas.openxmlformats.org/officeDocument/2006/relationships/slide" Target="/ppt/slides/slide10.xml" Id="Rb6fb71936bd047fd" /><Relationship Type="http://schemas.openxmlformats.org/officeDocument/2006/relationships/slide" Target="/ppt/slides/slide11.xml" Id="R58f427189e1b4f83" /><Relationship Type="http://schemas.openxmlformats.org/officeDocument/2006/relationships/slide" Target="/ppt/slides/slide12.xml" Id="R6508e94454ba4128" /><Relationship Type="http://schemas.openxmlformats.org/officeDocument/2006/relationships/slide" Target="/ppt/slides/slide13.xml" Id="Rb841911bd183492a" /><Relationship Type="http://schemas.openxmlformats.org/officeDocument/2006/relationships/slide" Target="/ppt/slides/slide14.xml" Id="Ra6d45a2ce93a40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7a8b8daaf0242d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afdbfead825485c" /><Relationship Type="http://schemas.openxmlformats.org/officeDocument/2006/relationships/notesMaster" Target="/ppt/notesMasters/notesMaster1.xml" Id="Rfba92542beb6405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c66f1e90ba5435b" /><Relationship Type="http://schemas.openxmlformats.org/officeDocument/2006/relationships/notesMaster" Target="/ppt/notesMasters/notesMaster1.xml" Id="R95783b8095fd4d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d1921b4f7f4743" /><Relationship Type="http://schemas.openxmlformats.org/officeDocument/2006/relationships/notesMaster" Target="/ppt/notesMasters/notesMaster1.xml" Id="R849538cec063412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bb931b293464af3" /><Relationship Type="http://schemas.openxmlformats.org/officeDocument/2006/relationships/notesMaster" Target="/ppt/notesMasters/notesMaster1.xml" Id="R082ba9f5c3884c7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6392255c6544df0" /><Relationship Type="http://schemas.openxmlformats.org/officeDocument/2006/relationships/notesMaster" Target="/ppt/notesMasters/notesMaster1.xml" Id="R2ad6ca3809f14ba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44bf1e92ea425f" /><Relationship Type="http://schemas.openxmlformats.org/officeDocument/2006/relationships/notesMaster" Target="/ppt/notesMasters/notesMaster1.xml" Id="Rd83de0445ba848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a8b45b10b0a4aca" /><Relationship Type="http://schemas.openxmlformats.org/officeDocument/2006/relationships/notesMaster" Target="/ppt/notesMasters/notesMaster1.xml" Id="R124a757ad68a420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8b1575863940b0" /><Relationship Type="http://schemas.openxmlformats.org/officeDocument/2006/relationships/notesMaster" Target="/ppt/notesMasters/notesMaster1.xml" Id="Rd48f64625d6d40a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9b7c291feea409d" /><Relationship Type="http://schemas.openxmlformats.org/officeDocument/2006/relationships/notesMaster" Target="/ppt/notesMasters/notesMaster1.xml" Id="Rc887181d3580499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8b9cdb8d1d24d0e" /><Relationship Type="http://schemas.openxmlformats.org/officeDocument/2006/relationships/notesMaster" Target="/ppt/notesMasters/notesMaster1.xml" Id="Rf161ac5779c24b8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a3126ccb2fa45e6" /><Relationship Type="http://schemas.openxmlformats.org/officeDocument/2006/relationships/notesMaster" Target="/ppt/notesMasters/notesMaster1.xml" Id="R77f31495b9f54f1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302b0c798c042a1" /><Relationship Type="http://schemas.openxmlformats.org/officeDocument/2006/relationships/notesMaster" Target="/ppt/notesMasters/notesMaster1.xml" Id="R6c11effe462f4b9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2741bf4df9b4d26" /><Relationship Type="http://schemas.openxmlformats.org/officeDocument/2006/relationships/notesMaster" Target="/ppt/notesMasters/notesMaster1.xml" Id="R870f22d7b3964de2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4041f81ba24b7b" /><Relationship Type="http://schemas.openxmlformats.org/officeDocument/2006/relationships/notesMaster" Target="/ppt/notesMasters/notesMaster1.xml" Id="R39d4151f4f27402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Trajectory data: data/processed/confidence_sequences.csv. These are actual base-model probabilities on six increasingly corrupted versions of each document. The sequence is simulated rather than naturally repeated.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Exact values: results/metrics/calibration_analysis.json. The Brier score uses the probability of class 1 against the true binary label; this corrects the earlier maximum-class-probability calculation.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detector result is five-fold document-grouped out-of-fold on the 439-document base test set. The separate review policy was fitted from out-of-fold predictions on the 1,315 base-model training documents. It routed all six test-set errors but also 78 correct high-confidence predictions. See results/metrics/high_confidence_detector_analysis.json and high_confidence_review_analysis.json.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A, B and C use the same Logistic Regression method, document-grouped folds, target and 0.5 threshold. A includes corruption step and level; B adds current confidence and margin; C adds nine history features. Results: results/metrics/drift_history_validation.json. Paired document-bootstrap intervals exclude retraining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reports/RESEARCH_REPORT.md and results/metrics in the accompanying project repository. The figures describe the corrected, document-grouped evaluation.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9dad8068f1f4c0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b3a910a190448c9" /><Relationship Type="http://schemas.openxmlformats.org/officeDocument/2006/relationships/slideLayout" Target="/ppt/slideLayouts/slideLayout1.xml" Id="Rd752caa69e0942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752caa69e0942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8b5dff329d4e37" /><Relationship Type="http://schemas.openxmlformats.org/officeDocument/2006/relationships/hyperlink" Target="https://github.com/ahansardar/ai-confidence-drift" TargetMode="External" Id="R6f21438dea9d437d" /><Relationship Type="http://schemas.openxmlformats.org/officeDocument/2006/relationships/notesSlide" Target="/ppt/notesSlides/notesSlide1.xml" Id="Rc3a96840b44b46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0cf2a7269489f" /><Relationship Type="http://schemas.openxmlformats.org/officeDocument/2006/relationships/notesSlide" Target="/ppt/notesSlides/notesSlide2.xml" Id="R4763554c7bc849b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5bef0a369842b2" /><Relationship Type="http://schemas.openxmlformats.org/officeDocument/2006/relationships/notesSlide" Target="/ppt/notesSlides/notesSlide3.xml" Id="R4ac8332df4074f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a8144986144441" /><Relationship Type="http://schemas.openxmlformats.org/officeDocument/2006/relationships/notesSlide" Target="/ppt/notesSlides/notesSlide4.xml" Id="R890655280eee4c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e52969a5744457" /><Relationship Type="http://schemas.openxmlformats.org/officeDocument/2006/relationships/notesSlide" Target="/ppt/notesSlides/notesSlide5.xml" Id="R44e64d25bdde41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9c896d078a42c8" /><Relationship Type="http://schemas.openxmlformats.org/officeDocument/2006/relationships/chart" Target="/ppt/slides/charts/chart1.xml" Id="Rf42209b59aee4f6b" /><Relationship Type="http://schemas.openxmlformats.org/officeDocument/2006/relationships/notesSlide" Target="/ppt/notesSlides/notesSlide6.xml" Id="R423ad5589a5644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71bd119d574aca" /><Relationship Type="http://schemas.openxmlformats.org/officeDocument/2006/relationships/notesSlide" Target="/ppt/notesSlides/notesSlide7.xml" Id="R9982b154fe4b42a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a9ce94eddf49db" /><Relationship Type="http://schemas.openxmlformats.org/officeDocument/2006/relationships/chart" Target="/ppt/slides/charts/chart2.xml" Id="Re0a2de3c257849d2" /><Relationship Type="http://schemas.openxmlformats.org/officeDocument/2006/relationships/notesSlide" Target="/ppt/notesSlides/notesSlide8.xml" Id="R685fb07303524b4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42ea8b9645486c" /><Relationship Type="http://schemas.openxmlformats.org/officeDocument/2006/relationships/chart" Target="/ppt/slides/charts/chart3.xml" Id="Rbf71e881d7934c67" /><Relationship Type="http://schemas.openxmlformats.org/officeDocument/2006/relationships/notesSlide" Target="/ppt/notesSlides/notesSlide9.xml" Id="R598585f6cb004fc7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1253756f449bb" /><Relationship Type="http://schemas.openxmlformats.org/officeDocument/2006/relationships/notesSlide" Target="/ppt/notesSlides/notesSlide10.xml" Id="Rbae46b8f3e8f4eb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d27b4368f4586" /><Relationship Type="http://schemas.openxmlformats.org/officeDocument/2006/relationships/notesSlide" Target="/ppt/notesSlides/notesSlide11.xml" Id="R76e81d9dc19542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e2ea7db17e48ec" /><Relationship Type="http://schemas.openxmlformats.org/officeDocument/2006/relationships/notesSlide" Target="/ppt/notesSlides/notesSlide12.xml" Id="R45da6afdd2c7475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357c1ceb414be6" /><Relationship Type="http://schemas.openxmlformats.org/officeDocument/2006/relationships/notesSlide" Target="/ppt/notesSlides/notesSlide13.xml" Id="Rb82a9268e87b4f0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06c356f0d64774" /><Relationship Type="http://schemas.openxmlformats.org/officeDocument/2006/relationships/hyperlink" Target="https://github.com/ahansardar/ai-confidence-drift" TargetMode="External" Id="R930a417174f947ce" /><Relationship Type="http://schemas.openxmlformats.org/officeDocument/2006/relationships/notesSlide" Target="/ppt/notesSlides/notesSlide14.xml" Id="Raf9bd101768e450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doc_00947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Data'!$A$2:$A$7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Data'!$B$2:$B$7</c:f>
              <c:numCache>
                <c:formatCode>0.0</c:formatCode>
                <c:ptCount val="6"/>
                <c:pt idx="0">
                  <c:v>0.719348323778</c:v>
                </c:pt>
                <c:pt idx="1">
                  <c:v>0.759857742655</c:v>
                </c:pt>
                <c:pt idx="2">
                  <c:v>0.715960064383</c:v>
                </c:pt>
                <c:pt idx="3">
                  <c:v>0.779436106036</c:v>
                </c:pt>
                <c:pt idx="4">
                  <c:v>0.734494194224</c:v>
                </c:pt>
                <c:pt idx="5">
                  <c:v>0.65024637782</c:v>
                </c:pt>
              </c:numCache>
            </c:numRef>
          </c:val>
          <c:smooth val="0"/>
        </c:ser>
        <c:ser>
          <c:idx val="1"/>
          <c:order val="1"/>
          <c:tx>
            <c:v>doc_00379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Data'!$C$2:$C$7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Data'!$D$2:$D$7</c:f>
              <c:numCache>
                <c:formatCode>0.0</c:formatCode>
                <c:ptCount val="6"/>
                <c:pt idx="0">
                  <c:v>0.651263024184</c:v>
                </c:pt>
                <c:pt idx="1">
                  <c:v>0.622375661344</c:v>
                </c:pt>
                <c:pt idx="2">
                  <c:v>0.639477690662</c:v>
                </c:pt>
                <c:pt idx="3">
                  <c:v>0.554223020774</c:v>
                </c:pt>
                <c:pt idx="4">
                  <c:v>0.660040219646</c:v>
                </c:pt>
                <c:pt idx="5">
                  <c:v>0.61338156255</c:v>
                </c:pt>
              </c:numCache>
            </c:numRef>
          </c:val>
          <c:smooth val="0"/>
        </c:ser>
        <c:ser>
          <c:idx val="2"/>
          <c:order val="2"/>
          <c:tx>
            <c:v>doc_00862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Data'!$E$2:$E$7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Data'!$F$2:$F$7</c:f>
              <c:numCache>
                <c:formatCode>0.0</c:formatCode>
                <c:ptCount val="6"/>
                <c:pt idx="0">
                  <c:v>0.654961951257</c:v>
                </c:pt>
                <c:pt idx="1">
                  <c:v>0.634114026368</c:v>
                </c:pt>
                <c:pt idx="2">
                  <c:v>0.6025647027</c:v>
                </c:pt>
                <c:pt idx="3">
                  <c:v>0.651328412914</c:v>
                </c:pt>
                <c:pt idx="4">
                  <c:v>0.605972114083</c:v>
                </c:pt>
                <c:pt idx="5">
                  <c:v>0.594695141483</c:v>
                </c:pt>
              </c:numCache>
            </c:numRef>
          </c:val>
          <c:smooth val="0"/>
        </c:ser>
        <c:ser>
          <c:idx val="3"/>
          <c:order val="3"/>
          <c:tx>
            <c:v>doc_00666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Data'!$G$2:$G$7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Data'!$H$2:$H$7</c:f>
              <c:numCache>
                <c:formatCode>0.0</c:formatCode>
                <c:ptCount val="6"/>
                <c:pt idx="0">
                  <c:v>0.573958284012</c:v>
                </c:pt>
                <c:pt idx="1">
                  <c:v>0.587214607883</c:v>
                </c:pt>
                <c:pt idx="2">
                  <c:v>0.603181527254</c:v>
                </c:pt>
                <c:pt idx="3">
                  <c:v>0.575965645126</c:v>
                </c:pt>
                <c:pt idx="4">
                  <c:v>0.532733701042</c:v>
                </c:pt>
                <c:pt idx="5">
                  <c:v>0.600116323688</c:v>
                </c:pt>
              </c:numCache>
            </c:numRef>
          </c:val>
          <c:smooth val="0"/>
        </c:ser>
        <c:ser>
          <c:idx val="4"/>
          <c:order val="4"/>
          <c:tx>
            <c:v>doc_00906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Data'!$I$2:$I$7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Data'!$J$2:$J$7</c:f>
              <c:numCache>
                <c:formatCode>0.0</c:formatCode>
                <c:ptCount val="6"/>
                <c:pt idx="0">
                  <c:v>0.803287623609</c:v>
                </c:pt>
                <c:pt idx="1">
                  <c:v>0.782247690794</c:v>
                </c:pt>
                <c:pt idx="2">
                  <c:v>0.752273990641</c:v>
                </c:pt>
                <c:pt idx="3">
                  <c:v>0.700765789377</c:v>
                </c:pt>
                <c:pt idx="4">
                  <c:v>0.749902716815</c:v>
                </c:pt>
                <c:pt idx="5">
                  <c:v>0.7218809687</c:v>
                </c:pt>
              </c:numCache>
            </c:numRef>
          </c:val>
          <c:smooth val="0"/>
        </c:ser>
        <c:ser>
          <c:idx val="5"/>
          <c:order val="5"/>
          <c:tx>
            <c:v>doc_00682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Data'!$K$2:$K$7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Data'!$L$2:$L$7</c:f>
              <c:numCache>
                <c:formatCode>0.0</c:formatCode>
                <c:ptCount val="6"/>
                <c:pt idx="0">
                  <c:v>0.547705670064</c:v>
                </c:pt>
                <c:pt idx="1">
                  <c:v>0.529057843546</c:v>
                </c:pt>
                <c:pt idx="2">
                  <c:v>0.520742630581</c:v>
                </c:pt>
                <c:pt idx="3">
                  <c:v>0.519210703769</c:v>
                </c:pt>
                <c:pt idx="4">
                  <c:v>0.525511695583</c:v>
                </c:pt>
                <c:pt idx="5">
                  <c:v>0.535102525295</c:v>
                </c:pt>
              </c:numCache>
            </c:numRef>
          </c:val>
          <c:smooth val="0"/>
        </c:ser>
        <c:ser>
          <c:idx val="6"/>
          <c:order val="6"/>
          <c:tx>
            <c:v>doc_00653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Data'!$M$2:$M$7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Data'!$N$2:$N$7</c:f>
              <c:numCache>
                <c:formatCode>0.0</c:formatCode>
                <c:ptCount val="6"/>
                <c:pt idx="0">
                  <c:v>0.599758428292</c:v>
                </c:pt>
                <c:pt idx="1">
                  <c:v>0.550448651466</c:v>
                </c:pt>
                <c:pt idx="2">
                  <c:v>0.557847904289</c:v>
                </c:pt>
                <c:pt idx="3">
                  <c:v>0.651255992277</c:v>
                </c:pt>
                <c:pt idx="4">
                  <c:v>0.614750156933</c:v>
                </c:pt>
                <c:pt idx="5">
                  <c:v>0.538446294376</c:v>
                </c:pt>
              </c:numCache>
            </c:numRef>
          </c:val>
          <c:smooth val="0"/>
        </c:ser>
        <c:ser>
          <c:idx val="7"/>
          <c:order val="7"/>
          <c:tx>
            <c:v>doc_00750</c:v>
          </c:tx>
          <c:spPr>
            <a:ln xmlns:a="http://schemas.openxmlformats.org/drawingml/2006/main" w="28575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Data'!$O$2:$O$7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Data'!$P$2:$P$7</c:f>
              <c:numCache>
                <c:formatCode>0.0</c:formatCode>
                <c:ptCount val="6"/>
                <c:pt idx="0">
                  <c:v>0.963198276368</c:v>
                </c:pt>
                <c:pt idx="1">
                  <c:v>0.951794704782</c:v>
                </c:pt>
                <c:pt idx="2">
                  <c:v>0.950893635072</c:v>
                </c:pt>
                <c:pt idx="3">
                  <c:v>0.950536433004</c:v>
                </c:pt>
                <c:pt idx="4">
                  <c:v>0.947528281923</c:v>
                </c:pt>
                <c:pt idx="5">
                  <c:v>0.949225523566</c:v>
                </c:pt>
              </c:numCache>
            </c:numRef>
          </c:val>
          <c:smooth val="0"/>
        </c:ser>
        <c:ser>
          <c:idx val="8"/>
          <c:order val="8"/>
          <c:tx>
            <c:v>doc_00949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Data'!$Q$2:$Q$7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Data'!$R$2:$R$7</c:f>
              <c:numCache>
                <c:formatCode>0.0</c:formatCode>
                <c:ptCount val="6"/>
                <c:pt idx="0">
                  <c:v>0.708532227862</c:v>
                </c:pt>
                <c:pt idx="1">
                  <c:v>0.7334973885</c:v>
                </c:pt>
                <c:pt idx="2">
                  <c:v>0.698768398381</c:v>
                </c:pt>
                <c:pt idx="3">
                  <c:v>0.674598700135</c:v>
                </c:pt>
                <c:pt idx="4">
                  <c:v>0.650643222049</c:v>
                </c:pt>
                <c:pt idx="5">
                  <c:v>0.714768716563</c:v>
                </c:pt>
              </c:numCache>
            </c:numRef>
          </c:val>
          <c:smooth val="0"/>
        </c:ser>
        <c:ser>
          <c:idx val="9"/>
          <c:order val="9"/>
          <c:tx>
            <c:v>doc_01749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Data'!$S$2:$S$7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Data'!$T$2:$T$7</c:f>
              <c:numCache>
                <c:formatCode>0.0</c:formatCode>
                <c:ptCount val="6"/>
                <c:pt idx="0">
                  <c:v>0.728667954938</c:v>
                </c:pt>
                <c:pt idx="1">
                  <c:v>0.762369273157</c:v>
                </c:pt>
                <c:pt idx="2">
                  <c:v>0.753212408906</c:v>
                </c:pt>
                <c:pt idx="3">
                  <c:v>0.731961285524</c:v>
                </c:pt>
                <c:pt idx="4">
                  <c:v>0.751639954251</c:v>
                </c:pt>
                <c:pt idx="5">
                  <c:v>0.735266212207</c:v>
                </c:pt>
              </c:numCache>
            </c:numRef>
          </c:val>
          <c:smooth val="0"/>
        </c:ser>
        <c:ser>
          <c:idx val="10"/>
          <c:order val="10"/>
          <c:tx>
            <c:v>doc_01258</c:v>
          </c:tx>
          <c:spPr>
            <a:ln xmlns:a="http://schemas.openxmlformats.org/drawingml/2006/main" w="14288">
              <a:solidFill>
                <a:srgbClr val="677B68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677B68"/>
              </a:solidFill>
            </c:spPr>
          </c:marker>
          <c:cat>
            <c:strRef>
              <c:f>'Chart Data'!$U$2:$U$7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Data'!$V$2:$V$7</c:f>
              <c:numCache>
                <c:formatCode>0.0</c:formatCode>
                <c:ptCount val="6"/>
                <c:pt idx="0">
                  <c:v>0.591846293039</c:v>
                </c:pt>
                <c:pt idx="1">
                  <c:v>0.545772336168</c:v>
                </c:pt>
                <c:pt idx="2">
                  <c:v>0.621892145394</c:v>
                </c:pt>
                <c:pt idx="3">
                  <c:v>0.638648588279</c:v>
                </c:pt>
                <c:pt idx="4">
                  <c:v>0.511166197593</c:v>
                </c:pt>
                <c:pt idx="5">
                  <c:v>0.5432283627</c:v>
                </c:pt>
              </c:numCache>
            </c:numRef>
          </c:val>
          <c:smooth val="0"/>
        </c:ser>
        <c:ser>
          <c:idx val="11"/>
          <c:order val="11"/>
          <c:tx>
            <c:v>doc_01065</c:v>
          </c:tx>
          <c:spPr>
            <a:ln xmlns:a="http://schemas.openxmlformats.org/drawingml/2006/main" w="14288">
              <a:solidFill>
                <a:srgbClr val="8B4C3B"/>
              </a:solidFill>
            </a:ln>
          </c:spPr>
          <c:marker>
            <c:symbol val="circle"/>
            <c:size val="4"/>
            <c:spPr>
              <a:solidFill xmlns:a="http://schemas.openxmlformats.org/drawingml/2006/main">
                <a:srgbClr val="8B4C3B"/>
              </a:solidFill>
            </c:spPr>
          </c:marker>
          <c:cat>
            <c:strRef>
              <c:f>'Chart Data'!$W$2:$W$7</c:f>
              <c:strCache>
                <c:ptCount val="6"/>
                <c:pt idx="0">
                  <c:v>0%</c:v>
                </c:pt>
                <c:pt idx="1">
                  <c:v>10%</c:v>
                </c:pt>
                <c:pt idx="2">
                  <c:v>20%</c:v>
                </c:pt>
                <c:pt idx="3">
                  <c:v>30%</c:v>
                </c:pt>
                <c:pt idx="4">
                  <c:v>40%</c:v>
                </c:pt>
                <c:pt idx="5">
                  <c:v>50%</c:v>
                </c:pt>
              </c:strCache>
            </c:strRef>
          </c:cat>
          <c:val>
            <c:numRef>
              <c:f>'Chart Data'!$X$2:$X$7</c:f>
              <c:numCache>
                <c:formatCode>0.0</c:formatCode>
                <c:ptCount val="6"/>
                <c:pt idx="0">
                  <c:v>0.562596053114</c:v>
                </c:pt>
                <c:pt idx="1">
                  <c:v>0.60434583868</c:v>
                </c:pt>
                <c:pt idx="2">
                  <c:v>0.573350875561</c:v>
                </c:pt>
                <c:pt idx="3">
                  <c:v>0.516305034727</c:v>
                </c:pt>
                <c:pt idx="4">
                  <c:v>0.536507176618</c:v>
                </c:pt>
                <c:pt idx="5">
                  <c:v>0.559754662177</c:v>
                </c:pt>
              </c:numCache>
            </c:numRef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Corruption level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.5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Accuracy</c:v>
          </c:tx>
          <c:spPr>
            <a:solidFill xmlns:a="http://schemas.openxmlformats.org/drawingml/2006/main">
              <a:srgbClr val="53695F"/>
            </a:solidFill>
          </c:spPr>
          <c:cat>
            <c:strRef>
              <c:f>'Chart Data'!$A$2:$A$4</c:f>
              <c:strCache>
                <c:ptCount val="3"/>
                <c:pt idx="0">
                  <c:v>40–60%</c:v>
                </c:pt>
                <c:pt idx="1">
                  <c:v>60–80%</c:v>
                </c:pt>
                <c:pt idx="2">
                  <c:v>80–100%</c:v>
                </c:pt>
              </c:strCache>
            </c:strRef>
          </c:cat>
          <c:val>
            <c:numRef>
              <c:f>'Chart Data'!$B$2:$B$4</c:f>
              <c:numCache>
                <c:formatCode>0.0%</c:formatCode>
                <c:ptCount val="3"/>
                <c:pt idx="0">
                  <c:v>0.634615384615</c:v>
                </c:pt>
                <c:pt idx="1">
                  <c:v>0.90134529148</c:v>
                </c:pt>
                <c:pt idx="2">
                  <c:v>0.933333333333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025" b="1">
                  <a:solidFill>
                    <a:srgbClr val="292B28"/>
                  </a:solidFill>
                  <a:latin typeface="Calibri"/>
                  <a:ea typeface="Calibri"/>
                  <a:cs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1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Confidence range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ser>
          <c:idx val="0"/>
          <c:order val="0"/>
          <c:tx>
            <c:v>Perfect calibration</c:v>
          </c:tx>
          <c:spPr>
            <a:ln xmlns:a="http://schemas.openxmlformats.org/drawingml/2006/main" w="14288">
              <a:solidFill>
                <a:srgbClr val="A9ADA7"/>
              </a:solidFill>
              <a:prstDash val="dash"/>
            </a:ln>
          </c:spPr>
          <c:marker>
            <c:symbol val="none"/>
          </c:marker>
          <c:xVal>
            <c:numRef>
              <c:f>'Chart Data'!$A$2:$A$3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xVal>
          <c:yVal>
            <c:numRef>
              <c:f>'Chart Data'!$B$2:$B$3</c:f>
              <c:numCache>
                <c:formatCode>0.0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yVal>
        </c:ser>
        <c:ser>
          <c:idx val="1"/>
          <c:order val="1"/>
          <c:tx>
            <c:v>Observed accuracy</c:v>
          </c:tx>
          <c:spPr>
            <a:ln xmlns:a="http://schemas.openxmlformats.org/drawingml/2006/main" w="28575">
              <a:solidFill>
                <a:srgbClr val="53695F"/>
              </a:solidFill>
            </a:ln>
          </c:spPr>
          <c:marker>
            <c:symbol val="circle"/>
            <c:size val="8"/>
            <c:spPr>
              <a:solidFill xmlns:a="http://schemas.openxmlformats.org/drawingml/2006/main">
                <a:srgbClr val="53695F"/>
              </a:solidFill>
            </c:spPr>
          </c:marker>
          <c:xVal>
            <c:numRef>
              <c:f>'Chart Data'!$C$2:$C$6</c:f>
              <c:numCache>
                <c:formatCode>General</c:formatCode>
                <c:ptCount val="5"/>
                <c:pt idx="0">
                  <c:v>0.554576604908</c:v>
                </c:pt>
                <c:pt idx="1">
                  <c:v>0.648322988615</c:v>
                </c:pt>
                <c:pt idx="2">
                  <c:v>0.744525584625</c:v>
                </c:pt>
                <c:pt idx="3">
                  <c:v>0.850104991077</c:v>
                </c:pt>
                <c:pt idx="4">
                  <c:v>0.919791378033</c:v>
                </c:pt>
              </c:numCache>
            </c:numRef>
          </c:xVal>
          <c:yVal>
            <c:numRef>
              <c:f>'Chart Data'!$D$2:$D$6</c:f>
              <c:numCache>
                <c:formatCode>0.0</c:formatCode>
                <c:ptCount val="5"/>
                <c:pt idx="0">
                  <c:v>0.634615384615</c:v>
                </c:pt>
                <c:pt idx="1">
                  <c:v>0.866666666667</c:v>
                </c:pt>
                <c:pt idx="2">
                  <c:v>0.954545454545</c:v>
                </c:pt>
                <c:pt idx="3">
                  <c:v>0.96</c:v>
                </c:pt>
                <c:pt idx="4">
                  <c:v>0.8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Calibri"/>
                  <a:ea typeface="Calibri"/>
                  <a:cs typeface="Calibr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3C9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Observed accuracy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50112"/>
        <c:majorUnit val="0.2"/>
      </c:valAx>
      <c:valAx>
        <c:axId val="48650112"/>
        <c:scaling>
          <c:orientation val="minMax"/>
          <c:max val="1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425">
                    <a:solidFill>
                      <a:srgbClr val="636761"/>
                    </a:solidFill>
                    <a:latin typeface="Calibri"/>
                    <a:ea typeface="Calibri"/>
                    <a:cs typeface="Calibri"/>
                  </a:rPr>
                  <a:t>Mean predicted confidence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425">
                  <a:solidFill>
                    <a:srgbClr val="636761"/>
                  </a:solidFill>
                  <a:latin typeface="Calibri"/>
                  <a:ea typeface="Calibri"/>
                  <a:cs typeface="Calibri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7D3C9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</a:p>
        </c:txPr>
        <c:crossAx val="48672768"/>
        <c:majorUnit val="0.2"/>
      </c:valAx>
      <c:spPr>
        <a:solidFill xmlns:a="http://schemas.openxmlformats.org/drawingml/2006/main">
          <a:srgbClr val="F8F5EF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75">
              <a:solidFill>
                <a:srgbClr val="636761"/>
              </a:solidFill>
              <a:latin typeface="Calibri"/>
              <a:ea typeface="Calibri"/>
              <a:cs typeface="Calibri"/>
            </a:defRPr>
          </a:pPr>
        </a:p>
      </c:txPr>
    </c:legend>
    <c:plotVisOnly val="1"/>
  </c:chart>
  <c:spPr>
    <a:solidFill xmlns:a="http://schemas.openxmlformats.org/drawingml/2006/main">
      <a:srgbClr val="F8F5EF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01">
            <a:extLst xmlns:a="http://schemas.openxmlformats.org/drawingml/2006/main">
              <a:ext uri="{FF2B5EF4-FFF2-40B4-BE49-F238E27FC236}">
                <a16:creationId xmlns:a16="http://schemas.microsoft.com/office/drawing/2014/main" id="{99B95DCF-A90B-4DDA-BBCF-D668BF5FF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2" name="PRANAVX LABS">
            <a:extLst xmlns:a="http://schemas.openxmlformats.org/drawingml/2006/main">
              <a:ext uri="{FF2B5EF4-FFF2-40B4-BE49-F238E27FC236}">
                <a16:creationId xmlns:a16="http://schemas.microsoft.com/office/drawing/2014/main" id="{CA10B4B3-6CCB-488A-A538-E4CF23C38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619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PRANAVX LABS</a:t>
            </a:r>
          </a:p>
        </p:txBody>
      </p:sp>
      <p:sp>
        <p:nvSpPr>
          <p:cNvPr id="3" name="AI/ML Internship">
            <a:extLst xmlns:a="http://schemas.openxmlformats.org/drawingml/2006/main">
              <a:ext uri="{FF2B5EF4-FFF2-40B4-BE49-F238E27FC236}">
                <a16:creationId xmlns:a16="http://schemas.microsoft.com/office/drawing/2014/main" id="{CEC0F9B2-E736-4792-B0B9-63404571D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54292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AI/ML Internship</a:t>
            </a:r>
          </a:p>
        </p:txBody>
      </p:sp>
      <p:sp>
        <p:nvSpPr>
          <p:cNvPr id="4" name="AI Confidence">
            <a:extLst xmlns:a="http://schemas.openxmlformats.org/drawingml/2006/main">
              <a:ext uri="{FF2B5EF4-FFF2-40B4-BE49-F238E27FC236}">
                <a16:creationId xmlns:a16="http://schemas.microsoft.com/office/drawing/2014/main" id="{18EB3329-4D74-4C3E-9B87-4C4A5533B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57350"/>
            <a:ext cx="10829925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AI Confidence</a:t>
            </a:r>
          </a:p>
        </p:txBody>
      </p:sp>
      <p:sp>
        <p:nvSpPr>
          <p:cNvPr id="5" name="Drift Detection">
            <a:extLst xmlns:a="http://schemas.openxmlformats.org/drawingml/2006/main">
              <a:ext uri="{FF2B5EF4-FFF2-40B4-BE49-F238E27FC236}">
                <a16:creationId xmlns:a16="http://schemas.microsoft.com/office/drawing/2014/main" id="{3BF11387-87B0-4213-A6C6-5136FCDA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771775"/>
            <a:ext cx="10829925" cy="1304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1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Drift Detection</a:t>
            </a:r>
          </a:p>
        </p:txBody>
      </p:sp>
      <p:sp>
        <p:nvSpPr>
          <p:cNvPr id="6" name="Using machine learning">
            <a:extLst xmlns:a="http://schemas.openxmlformats.org/drawingml/2006/main">
              <a:ext uri="{FF2B5EF4-FFF2-40B4-BE49-F238E27FC236}">
                <a16:creationId xmlns:a16="http://schemas.microsoft.com/office/drawing/2014/main" id="{B2E1BE2B-234D-4870-9F12-175213F92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486275"/>
            <a:ext cx="638175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4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Using machine learning</a:t>
            </a:r>
          </a:p>
        </p:txBody>
      </p:sp>
      <p:sp>
        <p:nvSpPr>
          <p:cNvPr id="7" name="Can changes in confidence help identify&#10;unreliable">
            <a:extLst xmlns:a="http://schemas.openxmlformats.org/drawingml/2006/main">
              <a:ext uri="{FF2B5EF4-FFF2-40B4-BE49-F238E27FC236}">
                <a16:creationId xmlns:a16="http://schemas.microsoft.com/office/drawing/2014/main" id="{6C1AAB3F-E89C-4C07-9E25-1E50114B9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105400"/>
            <a:ext cx="72199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Can changes in confidence help identify</a:t>
            </a:r>
          </a:p>
          <a:p xmlns:a="http://schemas.openxmlformats.org/drawingml/2006/main">
            <a:pPr algn="l">
              <a:def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unreliable predictions?</a:t>
            </a:r>
          </a:p>
        </p:txBody>
      </p:sp>
      <p:sp>
        <p:nvSpPr>
          <p:cNvPr id="8" name="Research project">
            <a:extLst xmlns:a="http://schemas.openxmlformats.org/drawingml/2006/main">
              <a:ext uri="{FF2B5EF4-FFF2-40B4-BE49-F238E27FC236}">
                <a16:creationId xmlns:a16="http://schemas.microsoft.com/office/drawing/2014/main" id="{08C05B52-338B-4A78-82D5-814C936EA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4638675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Research project</a:t>
            </a:r>
          </a:p>
        </p:txBody>
      </p:sp>
      <p:sp>
        <p:nvSpPr>
          <p:cNvPr id="9" name="Prepared by Ahan">
            <a:extLst xmlns:a="http://schemas.openxmlformats.org/drawingml/2006/main">
              <a:ext uri="{FF2B5EF4-FFF2-40B4-BE49-F238E27FC236}">
                <a16:creationId xmlns:a16="http://schemas.microsoft.com/office/drawing/2014/main" id="{12C0AACC-A386-4682-BADC-CBAF133B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5114925"/>
            <a:ext cx="2667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7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Prepared by Ahan</a:t>
            </a:r>
          </a:p>
        </p:txBody>
      </p:sp>
      <p:sp>
        <p:nvSpPr>
          <p:cNvPr id="10" name="github.com/ahansardar/ai-confidence-drift">
            <a:extLst xmlns:a="http://schemas.openxmlformats.org/drawingml/2006/main">
              <a:ext uri="{FF2B5EF4-FFF2-40B4-BE49-F238E27FC236}">
                <a16:creationId xmlns:a16="http://schemas.microsoft.com/office/drawing/2014/main" id="{D537BA18-A9BC-4445-8093-8E6DD5DDD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296025"/>
            <a:ext cx="10048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6f21438dea9d437d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5735046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onfidence problem">
            <a:extLst xmlns:a="http://schemas.openxmlformats.org/drawingml/2006/main">
              <a:ext uri="{FF2B5EF4-FFF2-40B4-BE49-F238E27FC236}">
                <a16:creationId xmlns:a16="http://schemas.microsoft.com/office/drawing/2014/main" id="{61B16C18-33DD-4C19-8E25-3D5C4FDEE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confidence problem</a:t>
            </a:r>
          </a:p>
        </p:txBody>
      </p:sp>
      <p:sp>
        <p:nvSpPr>
          <p:cNvPr id="2" name="02">
            <a:extLst xmlns:a="http://schemas.openxmlformats.org/drawingml/2006/main">
              <a:ext uri="{FF2B5EF4-FFF2-40B4-BE49-F238E27FC236}">
                <a16:creationId xmlns:a16="http://schemas.microsoft.com/office/drawing/2014/main" id="{38E56B1D-A35C-4432-8187-DE17B8FA9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3" name="96.3%">
            <a:extLst xmlns:a="http://schemas.openxmlformats.org/drawingml/2006/main">
              <a:ext uri="{FF2B5EF4-FFF2-40B4-BE49-F238E27FC236}">
                <a16:creationId xmlns:a16="http://schemas.microsoft.com/office/drawing/2014/main" id="{7E98425E-5BDD-48A9-B70A-44A161902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04975"/>
            <a:ext cx="5429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87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96.3%</a:t>
            </a:r>
          </a:p>
        </p:txBody>
      </p:sp>
      <p:sp>
        <p:nvSpPr>
          <p:cNvPr id="4" name="confident. Still wrong.">
            <a:extLst xmlns:a="http://schemas.openxmlformats.org/drawingml/2006/main">
              <a:ext uri="{FF2B5EF4-FFF2-40B4-BE49-F238E27FC236}">
                <a16:creationId xmlns:a16="http://schemas.microsoft.com/office/drawing/2014/main" id="{C5F28DEE-7BF9-4759-B9B9-DEF8955A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05175"/>
            <a:ext cx="5191125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2700" b="0" i="1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confident. Still wrong.</a:t>
            </a:r>
          </a:p>
        </p:txBody>
      </p:sp>
      <p:sp>
        <p:nvSpPr>
          <p:cNvPr id="5" name="One observed prediction&#10;Document doc_00750">
            <a:extLst xmlns:a="http://schemas.openxmlformats.org/drawingml/2006/main">
              <a:ext uri="{FF2B5EF4-FFF2-40B4-BE49-F238E27FC236}">
                <a16:creationId xmlns:a16="http://schemas.microsoft.com/office/drawing/2014/main" id="{BFAEAB5B-00F0-4F3F-ACF1-3E1E3B6DE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48125"/>
            <a:ext cx="4667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One observed prediction</a:t>
            </a:r>
          </a:p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Document doc_00750</a:t>
            </a:r>
          </a:p>
        </p:txBody>
      </p:sp>
      <p:sp>
        <p:nvSpPr>
          <p:cNvPr id="6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ADF5B278-CAEF-4AED-9933-0116917B4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75260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Confident errors</a:t>
            </a:r>
          </a:p>
        </p:txBody>
      </p:sp>
      <p:sp>
        <p:nvSpPr>
          <p:cNvPr id="7" name="A model can be highly confident about an incorrect">
            <a:extLst xmlns:a="http://schemas.openxmlformats.org/drawingml/2006/main">
              <a:ext uri="{FF2B5EF4-FFF2-40B4-BE49-F238E27FC236}">
                <a16:creationId xmlns:a16="http://schemas.microsoft.com/office/drawing/2014/main" id="{8C3DE774-AE2A-415C-8E15-A783CA75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20027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model can be highly confident about an incorrect prediction.</a:t>
            </a:r>
          </a:p>
        </p:txBody>
      </p:sp>
      <p:sp>
        <p:nvSpPr>
          <p:cNvPr id="8" name="Unstable confidence">
            <a:extLst xmlns:a="http://schemas.openxmlformats.org/drawingml/2006/main">
              <a:ext uri="{FF2B5EF4-FFF2-40B4-BE49-F238E27FC236}">
                <a16:creationId xmlns:a16="http://schemas.microsoft.com/office/drawing/2014/main" id="{06546966-1974-4DD2-8448-D8EC33CD1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190875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Unstable confidence</a:t>
            </a:r>
          </a:p>
        </p:txBody>
      </p:sp>
      <p:sp>
        <p:nvSpPr>
          <p:cNvPr id="9" name="Confidence can change across similar inputs withou">
            <a:extLst xmlns:a="http://schemas.openxmlformats.org/drawingml/2006/main">
              <a:ext uri="{FF2B5EF4-FFF2-40B4-BE49-F238E27FC236}">
                <a16:creationId xmlns:a16="http://schemas.microsoft.com/office/drawing/2014/main" id="{884B944C-F9C2-40F0-9096-B51B1F9C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638550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 can change across similar inputs without tracking correctness.</a:t>
            </a:r>
          </a:p>
        </p:txBody>
      </p:sp>
      <p:sp>
        <p:nvSpPr>
          <p:cNvPr id="10" name="Increasing difficulty">
            <a:extLst xmlns:a="http://schemas.openxmlformats.org/drawingml/2006/main">
              <a:ext uri="{FF2B5EF4-FFF2-40B4-BE49-F238E27FC236}">
                <a16:creationId xmlns:a16="http://schemas.microsoft.com/office/drawing/2014/main" id="{13A76AD2-3837-4753-A96C-6EE646C45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629150"/>
            <a:ext cx="5105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Increasing difficulty</a:t>
            </a:r>
          </a:p>
        </p:txBody>
      </p:sp>
      <p:sp>
        <p:nvSpPr>
          <p:cNvPr id="11" name="Lower confidence may accompany harder inputs. The ">
            <a:extLst xmlns:a="http://schemas.openxmlformats.org/drawingml/2006/main">
              <a:ext uri="{FF2B5EF4-FFF2-40B4-BE49-F238E27FC236}">
                <a16:creationId xmlns:a16="http://schemas.microsoft.com/office/drawing/2014/main" id="{80FED9E6-0B2F-4D0B-8BD3-BB70E2367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76825"/>
            <a:ext cx="51054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Lower confidence may accompany harder inputs. The link to accuracy needs testing.</a:t>
            </a:r>
          </a:p>
        </p:txBody>
      </p:sp>
    </p:spTree>
    <p:extLst>
      <p:ext uri="{BB962C8B-B14F-4D97-AF65-F5344CB8AC3E}">
        <p14:creationId xmlns:p14="http://schemas.microsoft.com/office/powerpoint/2010/main" val="185557309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search question">
            <a:extLst xmlns:a="http://schemas.openxmlformats.org/drawingml/2006/main">
              <a:ext uri="{FF2B5EF4-FFF2-40B4-BE49-F238E27FC236}">
                <a16:creationId xmlns:a16="http://schemas.microsoft.com/office/drawing/2014/main" id="{A05534E0-E69F-40A7-A7C1-2A3DE7500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Research question</a:t>
            </a:r>
          </a:p>
        </p:txBody>
      </p:sp>
      <p:sp>
        <p:nvSpPr>
          <p:cNvPr id="2" name="03">
            <a:extLst xmlns:a="http://schemas.openxmlformats.org/drawingml/2006/main">
              <a:ext uri="{FF2B5EF4-FFF2-40B4-BE49-F238E27FC236}">
                <a16:creationId xmlns:a16="http://schemas.microsoft.com/office/drawing/2014/main" id="{2DF09F8D-B248-4AF3-81DC-EF59508D8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3" name="Can changes in a model’s confidence">
            <a:extLst xmlns:a="http://schemas.openxmlformats.org/drawingml/2006/main">
              <a:ext uri="{FF2B5EF4-FFF2-40B4-BE49-F238E27FC236}">
                <a16:creationId xmlns:a16="http://schemas.microsoft.com/office/drawing/2014/main" id="{F5FF6355-8F71-4A4E-85ED-BA0F968C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24025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Can changes in a model’s confidence</a:t>
            </a:r>
          </a:p>
        </p:txBody>
      </p:sp>
      <p:sp>
        <p:nvSpPr>
          <p:cNvPr id="4" name="help identify predictions that are">
            <a:extLst xmlns:a="http://schemas.openxmlformats.org/drawingml/2006/main">
              <a:ext uri="{FF2B5EF4-FFF2-40B4-BE49-F238E27FC236}">
                <a16:creationId xmlns:a16="http://schemas.microsoft.com/office/drawing/2014/main" id="{F161DBA3-8492-48A3-910F-E28F1ABAC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6220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5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help identify predictions that are</a:t>
            </a:r>
          </a:p>
        </p:txBody>
      </p:sp>
      <p:sp>
        <p:nvSpPr>
          <p:cNvPr id="5" name="likely to be unreliable?">
            <a:extLst xmlns:a="http://schemas.openxmlformats.org/drawingml/2006/main">
              <a:ext uri="{FF2B5EF4-FFF2-40B4-BE49-F238E27FC236}">
                <a16:creationId xmlns:a16="http://schemas.microsoft.com/office/drawing/2014/main" id="{DF3F75C4-6677-46BB-A5F0-E50E66EDD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108585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90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likely to be unreliable?</a:t>
            </a:r>
          </a:p>
        </p:txBody>
      </p:sp>
      <p:sp>
        <p:nvSpPr>
          <p:cNvPr id="6" name="The hypothesis">
            <a:extLst xmlns:a="http://schemas.openxmlformats.org/drawingml/2006/main">
              <a:ext uri="{FF2B5EF4-FFF2-40B4-BE49-F238E27FC236}">
                <a16:creationId xmlns:a16="http://schemas.microsoft.com/office/drawing/2014/main" id="{F835D5A9-2E89-4696-8EAA-52CFEFDE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100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hypothesis</a:t>
            </a:r>
          </a:p>
        </p:txBody>
      </p:sp>
      <p:sp>
        <p:nvSpPr>
          <p:cNvPr id="7" name="Confidence history may help predict errors after a">
            <a:extLst xmlns:a="http://schemas.openxmlformats.org/drawingml/2006/main">
              <a:ext uri="{FF2B5EF4-FFF2-40B4-BE49-F238E27FC236}">
                <a16:creationId xmlns:a16="http://schemas.microsoft.com/office/drawing/2014/main" id="{C1AB28BC-775F-46FB-9A3D-6EF2B2724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10050"/>
            <a:ext cx="7191375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history may help predict errors after accounting for the current confidence value and corruption level.</a:t>
            </a:r>
          </a:p>
        </p:txBody>
      </p:sp>
      <p:sp>
        <p:nvSpPr>
          <p:cNvPr id="8" name="The A/B/C comparison isolates each additional sour">
            <a:extLst xmlns:a="http://schemas.openxmlformats.org/drawingml/2006/main">
              <a:ext uri="{FF2B5EF4-FFF2-40B4-BE49-F238E27FC236}">
                <a16:creationId xmlns:a16="http://schemas.microsoft.com/office/drawing/2014/main" id="{117AFA38-F36A-4210-A6D0-BA745077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38800"/>
            <a:ext cx="71913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A/B/C comparison isolates each additional source of information.</a:t>
            </a:r>
          </a:p>
        </p:txBody>
      </p:sp>
    </p:spTree>
    <p:extLst>
      <p:ext uri="{BB962C8B-B14F-4D97-AF65-F5344CB8AC3E}">
        <p14:creationId xmlns:p14="http://schemas.microsoft.com/office/powerpoint/2010/main" val="200593598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ask and dataset">
            <a:extLst xmlns:a="http://schemas.openxmlformats.org/drawingml/2006/main">
              <a:ext uri="{FF2B5EF4-FFF2-40B4-BE49-F238E27FC236}">
                <a16:creationId xmlns:a16="http://schemas.microsoft.com/office/drawing/2014/main" id="{9723426D-D435-4463-B4A0-F90BC5EFE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Task and dataset</a:t>
            </a:r>
          </a:p>
        </p:txBody>
      </p:sp>
      <p:sp>
        <p:nvSpPr>
          <p:cNvPr id="2" name="04">
            <a:extLst xmlns:a="http://schemas.openxmlformats.org/drawingml/2006/main">
              <a:ext uri="{FF2B5EF4-FFF2-40B4-BE49-F238E27FC236}">
                <a16:creationId xmlns:a16="http://schemas.microsoft.com/office/drawing/2014/main" id="{7723F7D9-4AAA-4529-AD3F-CEA87D1A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3" name="1,754">
            <a:extLst xmlns:a="http://schemas.openxmlformats.org/drawingml/2006/main">
              <a:ext uri="{FF2B5EF4-FFF2-40B4-BE49-F238E27FC236}">
                <a16:creationId xmlns:a16="http://schemas.microsoft.com/office/drawing/2014/main" id="{34E24C4E-74A8-4276-A076-8294081E9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1571625"/>
            <a:ext cx="5000625" cy="1228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1,754</a:t>
            </a:r>
          </a:p>
        </p:txBody>
      </p:sp>
      <p:sp>
        <p:nvSpPr>
          <p:cNvPr id="4" name="documents from 20 Newsgroups">
            <a:extLst xmlns:a="http://schemas.openxmlformats.org/drawingml/2006/main">
              <a:ext uri="{FF2B5EF4-FFF2-40B4-BE49-F238E27FC236}">
                <a16:creationId xmlns:a16="http://schemas.microsoft.com/office/drawing/2014/main" id="{779814A4-D773-4417-9A9C-8A404BC8B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4905375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documents from 20 Newsgroups</a:t>
            </a:r>
          </a:p>
        </p:txBody>
      </p:sp>
      <p:sp>
        <p:nvSpPr>
          <p:cNvPr id="5" name="1,315 training / 439 test">
            <a:extLst xmlns:a="http://schemas.openxmlformats.org/drawingml/2006/main">
              <a:ext uri="{FF2B5EF4-FFF2-40B4-BE49-F238E27FC236}">
                <a16:creationId xmlns:a16="http://schemas.microsoft.com/office/drawing/2014/main" id="{91EBB7E2-3D79-4E43-A9DD-17B2BA14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7670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1,315 training / 439 test</a:t>
            </a:r>
          </a:p>
        </p:txBody>
      </p:sp>
      <p:sp>
        <p:nvSpPr>
          <p:cNvPr id="6" name="Stratified split&#10;44.4% / 55.6% class balance">
            <a:extLst xmlns:a="http://schemas.openxmlformats.org/drawingml/2006/main">
              <a:ext uri="{FF2B5EF4-FFF2-40B4-BE49-F238E27FC236}">
                <a16:creationId xmlns:a16="http://schemas.microsoft.com/office/drawing/2014/main" id="{08CC263A-817C-4374-9E75-A543CC5D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48200"/>
            <a:ext cx="47625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Stratified split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44.4% / 55.6% class balance</a:t>
            </a:r>
          </a:p>
        </p:txBody>
      </p:sp>
      <p:sp>
        <p:nvSpPr>
          <p:cNvPr id="7" name="Binary text classification">
            <a:extLst xmlns:a="http://schemas.openxmlformats.org/drawingml/2006/main">
              <a:ext uri="{FF2B5EF4-FFF2-40B4-BE49-F238E27FC236}">
                <a16:creationId xmlns:a16="http://schemas.microsoft.com/office/drawing/2014/main" id="{B6B357A2-1FDD-4249-8A2E-3F874EBAF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04975"/>
            <a:ext cx="50958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Binary text classification</a:t>
            </a:r>
          </a:p>
        </p:txBody>
      </p:sp>
      <p:sp>
        <p:nvSpPr>
          <p:cNvPr id="8" name="alt.atheism&#10;soc.religion.christian">
            <a:extLst xmlns:a="http://schemas.openxmlformats.org/drawingml/2006/main">
              <a:ext uri="{FF2B5EF4-FFF2-40B4-BE49-F238E27FC236}">
                <a16:creationId xmlns:a16="http://schemas.microsoft.com/office/drawing/2014/main" id="{EFC9EA04-5F21-4732-A2F1-95F14A509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333625"/>
            <a:ext cx="5095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alt.atheism</a:t>
            </a:r>
          </a:p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defRPr>
            </a:pPr>
            <a:r>
              <a:rPr sz="2250" b="0" i="0">
                <a:solidFill>
                  <a:srgbClr val="53695F"/>
                </a:solidFill>
                <a:latin typeface="Calibri"/>
                <a:ea typeface="Calibri"/>
                <a:cs typeface="Calibri"/>
              </a:rPr>
              <a:t>soc.religion.christian</a:t>
            </a:r>
          </a:p>
        </p:txBody>
      </p:sp>
      <p:sp>
        <p:nvSpPr>
          <p:cNvPr id="9" name="Overlapping vocabulary makes the task less trivial">
            <a:extLst xmlns:a="http://schemas.openxmlformats.org/drawingml/2006/main">
              <a:ext uri="{FF2B5EF4-FFF2-40B4-BE49-F238E27FC236}">
                <a16:creationId xmlns:a16="http://schemas.microsoft.com/office/drawing/2014/main" id="{ABC5FA3A-932D-4D5C-AE4B-37BEDB651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476625"/>
            <a:ext cx="4953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Overlapping vocabulary makes the task less trivial.</a:t>
            </a:r>
          </a:p>
        </p:txBody>
      </p:sp>
      <p:sp>
        <p:nvSpPr>
          <p:cNvPr id="10" name="Headers, footers and quoted text removed to reduce">
            <a:extLst xmlns:a="http://schemas.openxmlformats.org/drawingml/2006/main">
              <a:ext uri="{FF2B5EF4-FFF2-40B4-BE49-F238E27FC236}">
                <a16:creationId xmlns:a16="http://schemas.microsoft.com/office/drawing/2014/main" id="{74C55CBA-3E35-411D-A4AA-80DF8A2C8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438650"/>
            <a:ext cx="4953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Headers, footers and quoted text removed to reduce metadata leakage.</a:t>
            </a:r>
          </a:p>
        </p:txBody>
      </p:sp>
      <p:sp>
        <p:nvSpPr>
          <p:cNvPr id="11" name="Ground truth: the newsgroup that published each po">
            <a:extLst xmlns:a="http://schemas.openxmlformats.org/drawingml/2006/main">
              <a:ext uri="{FF2B5EF4-FFF2-40B4-BE49-F238E27FC236}">
                <a16:creationId xmlns:a16="http://schemas.microsoft.com/office/drawing/2014/main" id="{7FF1EBD2-E4CE-465D-8835-820F345F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5438775"/>
            <a:ext cx="4953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Ground truth: the newsgroup that published each post.</a:t>
            </a:r>
          </a:p>
        </p:txBody>
      </p:sp>
      <p:sp>
        <p:nvSpPr>
          <p:cNvPr id="12" name="Source: scikit-learn’s official 20 Newsgroups mirr">
            <a:extLst xmlns:a="http://schemas.openxmlformats.org/drawingml/2006/main">
              <a:ext uri="{FF2B5EF4-FFF2-40B4-BE49-F238E27FC236}">
                <a16:creationId xmlns:a16="http://schemas.microsoft.com/office/drawing/2014/main" id="{42FC575E-7573-4DAB-A4A4-FAB15A375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86500"/>
            <a:ext cx="990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2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Source: scikit-learn’s official 20 Newsgroups mirror (fetch_20newsgroups)</a:t>
            </a:r>
          </a:p>
        </p:txBody>
      </p:sp>
    </p:spTree>
    <p:extLst>
      <p:ext uri="{BB962C8B-B14F-4D97-AF65-F5344CB8AC3E}">
        <p14:creationId xmlns:p14="http://schemas.microsoft.com/office/powerpoint/2010/main" val="13333283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he research pipeline">
            <a:extLst xmlns:a="http://schemas.openxmlformats.org/drawingml/2006/main">
              <a:ext uri="{FF2B5EF4-FFF2-40B4-BE49-F238E27FC236}">
                <a16:creationId xmlns:a16="http://schemas.microsoft.com/office/drawing/2014/main" id="{64EF3B96-2822-403D-9C5B-91712B881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research pipeline</a:t>
            </a:r>
          </a:p>
        </p:txBody>
      </p:sp>
      <p:sp>
        <p:nvSpPr>
          <p:cNvPr id="2" name="05">
            <a:extLst xmlns:a="http://schemas.openxmlformats.org/drawingml/2006/main">
              <a:ext uri="{FF2B5EF4-FFF2-40B4-BE49-F238E27FC236}">
                <a16:creationId xmlns:a16="http://schemas.microsoft.com/office/drawing/2014/main" id="{B84B378B-955C-4137-BE81-75B227815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6FD7112-DCC3-4EB7-8289-33C4D29C7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811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01</a:t>
            </a:r>
          </a:p>
        </p:txBody>
      </p:sp>
      <p:sp>
        <p:nvSpPr>
          <p:cNvPr id="4" name="Train the base classifier">
            <a:extLst xmlns:a="http://schemas.openxmlformats.org/drawingml/2006/main">
              <a:ext uri="{FF2B5EF4-FFF2-40B4-BE49-F238E27FC236}">
                <a16:creationId xmlns:a16="http://schemas.microsoft.com/office/drawing/2014/main" id="{8F9687CD-C0F7-4D92-A288-53FD0E6E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16002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the base classifier</a:t>
            </a:r>
          </a:p>
        </p:txBody>
      </p:sp>
      <p:sp>
        <p:nvSpPr>
          <p:cNvPr id="5" name="TF-IDF + Logistic Regression for text classificati">
            <a:extLst xmlns:a="http://schemas.openxmlformats.org/drawingml/2006/main">
              <a:ext uri="{FF2B5EF4-FFF2-40B4-BE49-F238E27FC236}">
                <a16:creationId xmlns:a16="http://schemas.microsoft.com/office/drawing/2014/main" id="{7ACD0602-A6FD-44C5-9025-1958232E6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0002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TF-IDF + Logistic Regression for text classification.</a:t>
            </a:r>
          </a:p>
        </p:txBody>
      </p:sp>
      <p:sp>
        <p:nvSpPr>
          <p:cNvPr id="6" name="02">
            <a:extLst xmlns:a="http://schemas.openxmlformats.org/drawingml/2006/main">
              <a:ext uri="{FF2B5EF4-FFF2-40B4-BE49-F238E27FC236}">
                <a16:creationId xmlns:a16="http://schemas.microsoft.com/office/drawing/2014/main" id="{B8774D1B-D4AE-4B50-84FF-A05B8528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146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02</a:t>
            </a:r>
          </a:p>
        </p:txBody>
      </p:sp>
      <p:sp>
        <p:nvSpPr>
          <p:cNvPr id="7" name="Generate confidence sequences">
            <a:extLst xmlns:a="http://schemas.openxmlformats.org/drawingml/2006/main">
              <a:ext uri="{FF2B5EF4-FFF2-40B4-BE49-F238E27FC236}">
                <a16:creationId xmlns:a16="http://schemas.microsoft.com/office/drawing/2014/main" id="{0D737C94-CC54-4318-87D9-BE12EF86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5336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Generate confidence sequences</a:t>
            </a:r>
          </a:p>
        </p:txBody>
      </p:sp>
      <p:sp>
        <p:nvSpPr>
          <p:cNvPr id="8" name="Re-classify each test document at six corruption l">
            <a:extLst xmlns:a="http://schemas.openxmlformats.org/drawingml/2006/main">
              <a:ext uri="{FF2B5EF4-FFF2-40B4-BE49-F238E27FC236}">
                <a16:creationId xmlns:a16="http://schemas.microsoft.com/office/drawing/2014/main" id="{1C6FCEE6-6A23-4DFF-B8B6-603E11536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29337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Re-classify each test document at six corruption levels.</a:t>
            </a:r>
          </a:p>
        </p:txBody>
      </p:sp>
      <p:sp>
        <p:nvSpPr>
          <p:cNvPr id="9" name="03">
            <a:extLst xmlns:a="http://schemas.openxmlformats.org/drawingml/2006/main">
              <a:ext uri="{FF2B5EF4-FFF2-40B4-BE49-F238E27FC236}">
                <a16:creationId xmlns:a16="http://schemas.microsoft.com/office/drawing/2014/main" id="{4EBB4723-6061-4FBC-A92F-D82DE1CA4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480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03</a:t>
            </a:r>
          </a:p>
        </p:txBody>
      </p:sp>
      <p:sp>
        <p:nvSpPr>
          <p:cNvPr id="10" name="Engineer drift features">
            <a:extLst xmlns:a="http://schemas.openxmlformats.org/drawingml/2006/main">
              <a:ext uri="{FF2B5EF4-FFF2-40B4-BE49-F238E27FC236}">
                <a16:creationId xmlns:a16="http://schemas.microsoft.com/office/drawing/2014/main" id="{14FF3D1C-4D16-4E56-B8DD-6A8DEFF05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4671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Engineer drift features</a:t>
            </a:r>
          </a:p>
        </p:txBody>
      </p:sp>
      <p:sp>
        <p:nvSpPr>
          <p:cNvPr id="11" name="Moving statistics, deltas, consecutive drops and m">
            <a:extLst xmlns:a="http://schemas.openxmlformats.org/drawingml/2006/main">
              <a:ext uri="{FF2B5EF4-FFF2-40B4-BE49-F238E27FC236}">
                <a16:creationId xmlns:a16="http://schemas.microsoft.com/office/drawing/2014/main" id="{61C3F93F-7346-4936-B571-73143F36E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38671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Moving statistics, deltas, consecutive drops and margin.</a:t>
            </a:r>
          </a:p>
        </p:txBody>
      </p:sp>
      <p:sp>
        <p:nvSpPr>
          <p:cNvPr id="12" name="04">
            <a:extLst xmlns:a="http://schemas.openxmlformats.org/drawingml/2006/main">
              <a:ext uri="{FF2B5EF4-FFF2-40B4-BE49-F238E27FC236}">
                <a16:creationId xmlns:a16="http://schemas.microsoft.com/office/drawing/2014/main" id="{86E40138-5C14-4A6E-8847-16A072D6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04</a:t>
            </a:r>
          </a:p>
        </p:txBody>
      </p:sp>
      <p:sp>
        <p:nvSpPr>
          <p:cNvPr id="13" name="Train a second model">
            <a:extLst xmlns:a="http://schemas.openxmlformats.org/drawingml/2006/main">
              <a:ext uri="{FF2B5EF4-FFF2-40B4-BE49-F238E27FC236}">
                <a16:creationId xmlns:a16="http://schemas.microsoft.com/office/drawing/2014/main" id="{092E855D-DB44-4FF5-9898-0A612ADE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4005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Train a second model</a:t>
            </a:r>
          </a:p>
        </p:txBody>
      </p:sp>
      <p:sp>
        <p:nvSpPr>
          <p:cNvPr id="14" name="Predict whether a classification is unreliable.">
            <a:extLst xmlns:a="http://schemas.openxmlformats.org/drawingml/2006/main">
              <a:ext uri="{FF2B5EF4-FFF2-40B4-BE49-F238E27FC236}">
                <a16:creationId xmlns:a16="http://schemas.microsoft.com/office/drawing/2014/main" id="{FC0525D4-04D0-4E27-95E4-54E1CA7F2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80060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Predict whether a classification is unreliable.</a:t>
            </a:r>
          </a:p>
        </p:txBody>
      </p:sp>
      <p:sp>
        <p:nvSpPr>
          <p:cNvPr id="15" name="05">
            <a:extLst xmlns:a="http://schemas.openxmlformats.org/drawingml/2006/main">
              <a:ext uri="{FF2B5EF4-FFF2-40B4-BE49-F238E27FC236}">
                <a16:creationId xmlns:a16="http://schemas.microsoft.com/office/drawing/2014/main" id="{D613EDE1-89D9-40C6-8F51-FB00F307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14950"/>
            <a:ext cx="933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450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05</a:t>
            </a:r>
          </a:p>
        </p:txBody>
      </p:sp>
      <p:sp>
        <p:nvSpPr>
          <p:cNvPr id="16" name="Evaluate the detector">
            <a:extLst xmlns:a="http://schemas.openxmlformats.org/drawingml/2006/main">
              <a:ext uri="{FF2B5EF4-FFF2-40B4-BE49-F238E27FC236}">
                <a16:creationId xmlns:a16="http://schemas.microsoft.com/office/drawing/2014/main" id="{9CF83BE2-B548-4D8A-9C05-7F2D1B25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4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32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Evaluate the detector</a:t>
            </a:r>
          </a:p>
        </p:txBody>
      </p:sp>
      <p:sp>
        <p:nvSpPr>
          <p:cNvPr id="17" name="Calibration, high-confidence errors and an A/B/C c">
            <a:extLst xmlns:a="http://schemas.openxmlformats.org/drawingml/2006/main">
              <a:ext uri="{FF2B5EF4-FFF2-40B4-BE49-F238E27FC236}">
                <a16:creationId xmlns:a16="http://schemas.microsoft.com/office/drawing/2014/main" id="{3F7A34DB-0594-4FDB-941B-FD498EAE8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734050"/>
            <a:ext cx="9429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Calibration, high-confidence errors and an A/B/C comparison.</a:t>
            </a:r>
          </a:p>
        </p:txBody>
      </p:sp>
    </p:spTree>
    <p:extLst>
      <p:ext uri="{BB962C8B-B14F-4D97-AF65-F5344CB8AC3E}">
        <p14:creationId xmlns:p14="http://schemas.microsoft.com/office/powerpoint/2010/main" val="14698162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How confidence changes">
            <a:extLst xmlns:a="http://schemas.openxmlformats.org/drawingml/2006/main">
              <a:ext uri="{FF2B5EF4-FFF2-40B4-BE49-F238E27FC236}">
                <a16:creationId xmlns:a16="http://schemas.microsoft.com/office/drawing/2014/main" id="{45B4F50A-730E-4E4A-8FC1-F5F0A2A9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How confidence changes</a:t>
            </a:r>
          </a:p>
        </p:txBody>
      </p:sp>
      <p:sp>
        <p:nvSpPr>
          <p:cNvPr id="2" name="06">
            <a:extLst xmlns:a="http://schemas.openxmlformats.org/drawingml/2006/main">
              <a:ext uri="{FF2B5EF4-FFF2-40B4-BE49-F238E27FC236}">
                <a16:creationId xmlns:a16="http://schemas.microsoft.com/office/drawing/2014/main" id="{5DF74729-A8CD-42D8-B1D5-3CAEEBE81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06</a:t>
            </a:r>
          </a:p>
        </p:txBody>
      </p:sp>
      <p:sp>
        <p:nvSpPr>
          <p:cNvPr id="3" name="Six levels, from 0% to 50% of words removed and sh">
            <a:extLst xmlns:a="http://schemas.openxmlformats.org/drawingml/2006/main">
              <a:ext uri="{FF2B5EF4-FFF2-40B4-BE49-F238E27FC236}">
                <a16:creationId xmlns:a16="http://schemas.microsoft.com/office/drawing/2014/main" id="{0473F4C1-BCDC-454C-8366-C390C4F57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81125"/>
            <a:ext cx="10763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Six levels, from 0% to 50% of words removed and shuffled. Each confidence value is a real model output.</a:t>
            </a:r>
          </a:p>
        </p:txBody>
      </p:sp>
      <p:sp>
        <p:nvSpPr>
          <p:cNvPr id="4" name="Two contrasting examples">
            <a:extLst xmlns:a="http://schemas.openxmlformats.org/drawingml/2006/main">
              <a:ext uri="{FF2B5EF4-FFF2-40B4-BE49-F238E27FC236}">
                <a16:creationId xmlns:a16="http://schemas.microsoft.com/office/drawing/2014/main" id="{13339BE5-429D-438E-B3C0-E46EFD430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4762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contrasting examples</a:t>
            </a:r>
          </a:p>
        </p:txBody>
      </p:sp>
      <p:graphicFrame>
        <p:nvGraphicFramePr>
          <p:cNvPr id="16" name=""/>
          <p:cNvGraphicFramePr/>
          <p:nvPr/>
        </p:nvGraphicFramePr>
        <p:xfrm>
          <a:off xmlns:a="http://schemas.openxmlformats.org/drawingml/2006/main" x="666750" y="3048000"/>
          <a:ext xmlns:a="http://schemas.openxmlformats.org/drawingml/2006/main" cx="4762500" cy="25146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800100"/>
                <a:gridCol w="1981200"/>
                <a:gridCol w="1981200"/>
              </a:tblGrid>
              <a:tr h="4000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Step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doc_00750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doc_01280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0.963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0.889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0.778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0.682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0.842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3524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0.949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0.651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Stayed wrong">
            <a:extLst xmlns:a="http://schemas.openxmlformats.org/drawingml/2006/main">
              <a:ext uri="{FF2B5EF4-FFF2-40B4-BE49-F238E27FC236}">
                <a16:creationId xmlns:a16="http://schemas.microsoft.com/office/drawing/2014/main" id="{70E3991C-61CC-4CE0-86BF-5B6C0FB2F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2705100"/>
            <a:ext cx="18383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8B4C3B"/>
                </a:solidFill>
                <a:latin typeface="Calibri"/>
                <a:ea typeface="Calibri"/>
                <a:cs typeface="Calibri"/>
              </a:rPr>
              <a:t>Stayed wrong</a:t>
            </a:r>
          </a:p>
        </p:txBody>
      </p:sp>
      <p:sp>
        <p:nvSpPr>
          <p:cNvPr id="7" name="Stayed correct">
            <a:extLst xmlns:a="http://schemas.openxmlformats.org/drawingml/2006/main">
              <a:ext uri="{FF2B5EF4-FFF2-40B4-BE49-F238E27FC236}">
                <a16:creationId xmlns:a16="http://schemas.microsoft.com/office/drawing/2014/main" id="{C3D30089-A8CD-421D-A775-0E9A11E7F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705100"/>
            <a:ext cx="1895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defRPr>
            </a:pPr>
            <a:r>
              <a:rPr sz="1500" b="1" i="0">
                <a:solidFill>
                  <a:srgbClr val="677B68"/>
                </a:solidFill>
                <a:latin typeface="Calibri"/>
                <a:ea typeface="Calibri"/>
                <a:cs typeface="Calibri"/>
              </a:rPr>
              <a:t>Stayed correct</a:t>
            </a:r>
          </a:p>
        </p:txBody>
      </p:sp>
      <p:sp>
        <p:nvSpPr>
          <p:cNvPr id="8" name="Confidence">
            <a:extLst xmlns:a="http://schemas.openxmlformats.org/drawingml/2006/main">
              <a:ext uri="{FF2B5EF4-FFF2-40B4-BE49-F238E27FC236}">
                <a16:creationId xmlns:a16="http://schemas.microsoft.com/office/drawing/2014/main" id="{3C9A08FB-6BDB-468F-B7DC-64297599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21145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Confidence</a:t>
            </a:r>
          </a:p>
        </p:txBody>
      </p:sp>
      <p:graphicFrame>
        <p:nvGraphicFramePr>
          <p:cNvPr id="20" name="Chart"/>
          <p:cNvGraphicFramePr/>
          <p:nvPr/>
        </p:nvGraphicFramePr>
        <p:xfrm>
          <a:off xmlns:a="http://schemas.openxmlformats.org/drawingml/2006/main" x="5905500" y="2419350"/>
          <a:ext xmlns:a="http://schemas.openxmlformats.org/drawingml/2006/main" cx="5667375" cy="33147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42209b59aee4f6b"/>
          </a:graphicData>
        </a:graphic>
      </p:graphicFrame>
      <p:sp>
        <p:nvSpPr>
          <p:cNvPr id="10" name="12 test documents. Green: correct at the final ste">
            <a:extLst xmlns:a="http://schemas.openxmlformats.org/drawingml/2006/main">
              <a:ext uri="{FF2B5EF4-FFF2-40B4-BE49-F238E27FC236}">
                <a16:creationId xmlns:a16="http://schemas.microsoft.com/office/drawing/2014/main" id="{90D55853-655C-4DB7-B74B-04D64E6B9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819775"/>
            <a:ext cx="528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12 test documents. Green: correct at the final step. Rust: incorrect.</a:t>
            </a:r>
          </a:p>
        </p:txBody>
      </p:sp>
      <p:sp>
        <p:nvSpPr>
          <p:cNvPr id="11" name="Sequences simulate repeated predictions through te">
            <a:extLst xmlns:a="http://schemas.openxmlformats.org/drawingml/2006/main">
              <a:ext uri="{FF2B5EF4-FFF2-40B4-BE49-F238E27FC236}">
                <a16:creationId xmlns:a16="http://schemas.microsoft.com/office/drawing/2014/main" id="{250D3194-7C6B-47BA-88D4-42671313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305550"/>
            <a:ext cx="1019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Sequences simulate repeated predictions through text corruption.</a:t>
            </a:r>
          </a:p>
        </p:txBody>
      </p:sp>
    </p:spTree>
    <p:extLst>
      <p:ext uri="{BB962C8B-B14F-4D97-AF65-F5344CB8AC3E}">
        <p14:creationId xmlns:p14="http://schemas.microsoft.com/office/powerpoint/2010/main" val="53732952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natomy of a confidence sequence">
            <a:extLst xmlns:a="http://schemas.openxmlformats.org/drawingml/2006/main">
              <a:ext uri="{FF2B5EF4-FFF2-40B4-BE49-F238E27FC236}">
                <a16:creationId xmlns:a16="http://schemas.microsoft.com/office/drawing/2014/main" id="{E96F04CE-64B2-4968-BEAC-C11B97C4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Anatomy of a confidence sequence</a:t>
            </a:r>
          </a:p>
        </p:txBody>
      </p:sp>
      <p:sp>
        <p:nvSpPr>
          <p:cNvPr id="2" name="07">
            <a:extLst xmlns:a="http://schemas.openxmlformats.org/drawingml/2006/main">
              <a:ext uri="{FF2B5EF4-FFF2-40B4-BE49-F238E27FC236}">
                <a16:creationId xmlns:a16="http://schemas.microsoft.com/office/drawing/2014/main" id="{42F2F7F6-E73B-448E-9CED-673EAF60B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07</a:t>
            </a:r>
          </a:p>
        </p:txBody>
      </p:sp>
      <p:sp>
        <p:nvSpPr>
          <p:cNvPr id="3" name="13 features, compared with simpler baselines in th">
            <a:extLst xmlns:a="http://schemas.openxmlformats.org/drawingml/2006/main">
              <a:ext uri="{FF2B5EF4-FFF2-40B4-BE49-F238E27FC236}">
                <a16:creationId xmlns:a16="http://schemas.microsoft.com/office/drawing/2014/main" id="{1C916293-6DEF-4C9A-A3CD-BFAF8FB7D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47800"/>
            <a:ext cx="10668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13 features, compared with simpler baselines in the experiments.</a:t>
            </a:r>
          </a:p>
        </p:txBody>
      </p:sp>
      <p:graphicFrame>
        <p:nvGraphicFramePr>
          <p:cNvPr id="8" name=""/>
          <p:cNvGraphicFramePr/>
          <p:nvPr/>
        </p:nvGraphicFramePr>
        <p:xfrm>
          <a:off xmlns:a="http://schemas.openxmlformats.org/drawingml/2006/main" x="666750" y="2190750"/>
          <a:ext xmlns:a="http://schemas.openxmlformats.org/drawingml/2006/main" cx="10810875" cy="371475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2714625"/>
                <a:gridCol w="8096250"/>
              </a:tblGrid>
              <a:tr h="47625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Group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Context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step, corruption_level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Current (2)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confidence, prediction_margin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change (4)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prev_confidence, confidence_diff,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confidence_pct_change, rate_of_change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80962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History: pattern (5)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moving_avg_confidence, moving_std_confidence,</a:t>
                      </a:r>
                    </a:p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rolling_std_confidence, confidence_range_so_far, consecutive_decreases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3942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onfidence carries signal">
            <a:extLst xmlns:a="http://schemas.openxmlformats.org/drawingml/2006/main">
              <a:ext uri="{FF2B5EF4-FFF2-40B4-BE49-F238E27FC236}">
                <a16:creationId xmlns:a16="http://schemas.microsoft.com/office/drawing/2014/main" id="{43946350-C3BF-4804-B1F5-A6CB3F3C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carries signal</a:t>
            </a:r>
          </a:p>
        </p:txBody>
      </p:sp>
      <p:sp>
        <p:nvSpPr>
          <p:cNvPr id="2" name="08">
            <a:extLst xmlns:a="http://schemas.openxmlformats.org/drawingml/2006/main">
              <a:ext uri="{FF2B5EF4-FFF2-40B4-BE49-F238E27FC236}">
                <a16:creationId xmlns:a16="http://schemas.microsoft.com/office/drawing/2014/main" id="{3BFBF29E-947A-46E4-BE26-496A7644C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08</a:t>
            </a:r>
          </a:p>
        </p:txBody>
      </p:sp>
      <p:sp>
        <p:nvSpPr>
          <p:cNvPr id="3" name="Accuracy across 439 uncorrupted test predictions">
            <a:extLst xmlns:a="http://schemas.openxmlformats.org/drawingml/2006/main">
              <a:ext uri="{FF2B5EF4-FFF2-40B4-BE49-F238E27FC236}">
                <a16:creationId xmlns:a16="http://schemas.microsoft.com/office/drawing/2014/main" id="{E9C1DAB3-FD46-4A95-AE91-86BDE6A7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across 439 uncorrupted test predictions</a:t>
            </a:r>
          </a:p>
        </p:txBody>
      </p:sp>
      <p:graphicFrame>
        <p:nvGraphicFramePr>
          <p:cNvPr id="10" name="Chart"/>
          <p:cNvGraphicFramePr/>
          <p:nvPr/>
        </p:nvGraphicFramePr>
        <p:xfrm>
          <a:off xmlns:a="http://schemas.openxmlformats.org/drawingml/2006/main" x="628650" y="2171700"/>
          <a:ext xmlns:a="http://schemas.openxmlformats.org/drawingml/2006/main" cx="6429375" cy="3638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a2de3c257849d2"/>
          </a:graphicData>
        </a:graphic>
      </p:graphicFrame>
      <p:graphicFrame>
        <p:nvGraphicFramePr>
          <p:cNvPr id="11" name=""/>
          <p:cNvGraphicFramePr/>
          <p:nvPr/>
        </p:nvGraphicFramePr>
        <p:xfrm>
          <a:off xmlns:a="http://schemas.openxmlformats.org/drawingml/2006/main" x="7639050" y="2238375"/>
          <a:ext xmlns:a="http://schemas.openxmlformats.org/drawingml/2006/main" cx="3867150" cy="22860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533525"/>
                <a:gridCol w="733425"/>
                <a:gridCol w="1600200"/>
              </a:tblGrid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Confidence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n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Accuracy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40–60%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156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63.5%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60–80%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223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90.1%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571500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80–100%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60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17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93.3%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</a:tbl>
          </a:graphicData>
        </a:graphic>
      </p:graphicFrame>
      <p:sp>
        <p:nvSpPr>
          <p:cNvPr id="6" name="Confidence carries signal, but calibration remains">
            <a:extLst xmlns:a="http://schemas.openxmlformats.org/drawingml/2006/main">
              <a:ext uri="{FF2B5EF4-FFF2-40B4-BE49-F238E27FC236}">
                <a16:creationId xmlns:a16="http://schemas.microsoft.com/office/drawing/2014/main" id="{F53062C9-02AE-41F9-A89C-4F3A2086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8575" y="4943475"/>
            <a:ext cx="3781425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signal, but calibration remains imperfect.</a:t>
            </a:r>
          </a:p>
        </p:txBody>
      </p:sp>
    </p:spTree>
    <p:extLst>
      <p:ext uri="{BB962C8B-B14F-4D97-AF65-F5344CB8AC3E}">
        <p14:creationId xmlns:p14="http://schemas.microsoft.com/office/powerpoint/2010/main" val="104540471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he calibration gap">
            <a:extLst xmlns:a="http://schemas.openxmlformats.org/drawingml/2006/main">
              <a:ext uri="{FF2B5EF4-FFF2-40B4-BE49-F238E27FC236}">
                <a16:creationId xmlns:a16="http://schemas.microsoft.com/office/drawing/2014/main" id="{D76204E0-DB84-4FA4-B626-F5F217A58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The calibration gap</a:t>
            </a:r>
          </a:p>
        </p:txBody>
      </p:sp>
      <p:sp>
        <p:nvSpPr>
          <p:cNvPr id="2" name="09">
            <a:extLst xmlns:a="http://schemas.openxmlformats.org/drawingml/2006/main">
              <a:ext uri="{FF2B5EF4-FFF2-40B4-BE49-F238E27FC236}">
                <a16:creationId xmlns:a16="http://schemas.microsoft.com/office/drawing/2014/main" id="{E1B9E5D0-D874-4709-88FC-487A29FE5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09</a:t>
            </a:r>
          </a:p>
        </p:txBody>
      </p:sp>
      <p:sp>
        <p:nvSpPr>
          <p:cNvPr id="3" name="Reliability diagram for uncorrupted test predictio">
            <a:extLst xmlns:a="http://schemas.openxmlformats.org/drawingml/2006/main">
              <a:ext uri="{FF2B5EF4-FFF2-40B4-BE49-F238E27FC236}">
                <a16:creationId xmlns:a16="http://schemas.microsoft.com/office/drawing/2014/main" id="{8321F386-8EB3-41E9-8A92-6EA3B52B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Reliability diagram for uncorrupted test predictions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19125" y="2095500"/>
          <a:ext xmlns:a="http://schemas.openxmlformats.org/drawingml/2006/main" cx="6000750" cy="3876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71e881d7934c67"/>
          </a:graphicData>
        </a:graphic>
      </p:graphicFrame>
      <p:sp>
        <p:nvSpPr>
          <p:cNvPr id="5" name="0.153">
            <a:extLst xmlns:a="http://schemas.openxmlformats.org/drawingml/2006/main">
              <a:ext uri="{FF2B5EF4-FFF2-40B4-BE49-F238E27FC236}">
                <a16:creationId xmlns:a16="http://schemas.microsoft.com/office/drawing/2014/main" id="{D76D3B2D-520C-4E0E-89B9-F04EF9CD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2105025"/>
            <a:ext cx="2209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0.153</a:t>
            </a:r>
          </a:p>
        </p:txBody>
      </p:sp>
      <p:sp>
        <p:nvSpPr>
          <p:cNvPr id="6" name="0.160">
            <a:extLst xmlns:a="http://schemas.openxmlformats.org/drawingml/2006/main">
              <a:ext uri="{FF2B5EF4-FFF2-40B4-BE49-F238E27FC236}">
                <a16:creationId xmlns:a16="http://schemas.microsoft.com/office/drawing/2014/main" id="{99553CC2-7F62-4C96-8EA7-4EA6A7184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2105025"/>
            <a:ext cx="1924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0.160</a:t>
            </a:r>
          </a:p>
        </p:txBody>
      </p:sp>
      <p:sp>
        <p:nvSpPr>
          <p:cNvPr id="7" name="Calibration error">
            <a:extLst xmlns:a="http://schemas.openxmlformats.org/drawingml/2006/main">
              <a:ext uri="{FF2B5EF4-FFF2-40B4-BE49-F238E27FC236}">
                <a16:creationId xmlns:a16="http://schemas.microsoft.com/office/drawing/2014/main" id="{09C57C2B-3AF9-49FF-BCC9-2DF25EAA9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943225"/>
            <a:ext cx="23717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Calibration error</a:t>
            </a:r>
          </a:p>
        </p:txBody>
      </p:sp>
      <p:sp>
        <p:nvSpPr>
          <p:cNvPr id="8" name="Brier score">
            <a:extLst xmlns:a="http://schemas.openxmlformats.org/drawingml/2006/main">
              <a:ext uri="{FF2B5EF4-FFF2-40B4-BE49-F238E27FC236}">
                <a16:creationId xmlns:a16="http://schemas.microsoft.com/office/drawing/2014/main" id="{016DF768-F2E6-43E6-96A8-3B395BE34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943225"/>
            <a:ext cx="1952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6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Brier score</a:t>
            </a:r>
          </a:p>
        </p:txBody>
      </p:sp>
      <p:sp>
        <p:nvSpPr>
          <p:cNvPr id="9" name="Under-confident at 0.6–0.9">
            <a:extLst xmlns:a="http://schemas.openxmlformats.org/drawingml/2006/main">
              <a:ext uri="{FF2B5EF4-FFF2-40B4-BE49-F238E27FC236}">
                <a16:creationId xmlns:a16="http://schemas.microsoft.com/office/drawing/2014/main" id="{53598615-2936-4B01-98E9-ED882814D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3657600"/>
            <a:ext cx="442912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Under-confident at 0.6–0.9</a:t>
            </a:r>
          </a:p>
        </p:txBody>
      </p:sp>
      <p:sp>
        <p:nvSpPr>
          <p:cNvPr id="10" name="Observed accuracy exceeds stated confidence in thi">
            <a:extLst xmlns:a="http://schemas.openxmlformats.org/drawingml/2006/main">
              <a:ext uri="{FF2B5EF4-FFF2-40B4-BE49-F238E27FC236}">
                <a16:creationId xmlns:a16="http://schemas.microsoft.com/office/drawing/2014/main" id="{2784F026-A670-4C25-92BE-3F9D01DF2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4162425"/>
            <a:ext cx="438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Observed accuracy exceeds stated confidence in this range.</a:t>
            </a:r>
          </a:p>
        </p:txBody>
      </p:sp>
      <p:sp>
        <p:nvSpPr>
          <p:cNvPr id="11" name="The top bin has only 10 samples: 80% accuracy, ver">
            <a:extLst xmlns:a="http://schemas.openxmlformats.org/drawingml/2006/main">
              <a:ext uri="{FF2B5EF4-FFF2-40B4-BE49-F238E27FC236}">
                <a16:creationId xmlns:a16="http://schemas.microsoft.com/office/drawing/2014/main" id="{7D626259-80E2-4076-91BF-6D0CAEF9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5172075"/>
            <a:ext cx="4381500" cy="1085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0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top bin has only 10 samples: 80% accuracy, versus 96% in the bin below. Small-sample noise may explain the dip.</a:t>
            </a:r>
          </a:p>
        </p:txBody>
      </p:sp>
    </p:spTree>
    <p:extLst>
      <p:ext uri="{BB962C8B-B14F-4D97-AF65-F5344CB8AC3E}">
        <p14:creationId xmlns:p14="http://schemas.microsoft.com/office/powerpoint/2010/main" val="1273355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onfident errors">
            <a:extLst xmlns:a="http://schemas.openxmlformats.org/drawingml/2006/main">
              <a:ext uri="{FF2B5EF4-FFF2-40B4-BE49-F238E27FC236}">
                <a16:creationId xmlns:a16="http://schemas.microsoft.com/office/drawing/2014/main" id="{1253AF97-2AC0-478D-A9B9-FF18CF007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Confident errors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5A57B5F1-E707-4BD2-BF21-07C4903F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10</a:t>
            </a:r>
          </a:p>
        </p:txBody>
      </p:sp>
      <p:sp>
        <p:nvSpPr>
          <p:cNvPr id="3" name="6 of 100">
            <a:extLst xmlns:a="http://schemas.openxmlformats.org/drawingml/2006/main">
              <a:ext uri="{FF2B5EF4-FFF2-40B4-BE49-F238E27FC236}">
                <a16:creationId xmlns:a16="http://schemas.microsoft.com/office/drawing/2014/main" id="{C43BCD1C-3D49-4A72-B71E-164710104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47825"/>
            <a:ext cx="704850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795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4" name="high-confidence predictions were wrong">
            <a:extLst xmlns:a="http://schemas.openxmlformats.org/drawingml/2006/main">
              <a:ext uri="{FF2B5EF4-FFF2-40B4-BE49-F238E27FC236}">
                <a16:creationId xmlns:a16="http://schemas.microsoft.com/office/drawing/2014/main" id="{DFD6F09E-D2CF-4D28-8C1B-5EB47353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28975"/>
            <a:ext cx="103822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30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high-confidence predictions were wrong</a:t>
            </a:r>
          </a:p>
        </p:txBody>
      </p:sp>
      <p:sp>
        <p:nvSpPr>
          <p:cNvPr id="5" name="100 of 439 predictions reached at least 75% confid">
            <a:extLst xmlns:a="http://schemas.openxmlformats.org/drawingml/2006/main">
              <a:ext uri="{FF2B5EF4-FFF2-40B4-BE49-F238E27FC236}">
                <a16:creationId xmlns:a16="http://schemas.microsoft.com/office/drawing/2014/main" id="{064F4CA3-316C-45E8-B077-AD4413A9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00500"/>
            <a:ext cx="105727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100 of 439 predictions reached at least 75% confidence.</a:t>
            </a:r>
          </a:p>
          <a:p xmlns:a="http://schemas.openxmlformats.org/drawingml/2006/main">
            <a:pPr algn="l">
              <a:def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75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That is 22.8% of the test set, with a 6.0% error rate in this group.</a:t>
            </a:r>
          </a:p>
        </p:txBody>
      </p:sp>
      <p:sp>
        <p:nvSpPr>
          <p:cNvPr id="6" name="Drift detector: 0/6">
            <a:extLst xmlns:a="http://schemas.openxmlformats.org/drawingml/2006/main">
              <a:ext uri="{FF2B5EF4-FFF2-40B4-BE49-F238E27FC236}">
                <a16:creationId xmlns:a16="http://schemas.microsoft.com/office/drawing/2014/main" id="{D77935B2-4F8F-4BC8-A6D3-A4889948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95900"/>
            <a:ext cx="5095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Drift detector: 0/6</a:t>
            </a:r>
          </a:p>
        </p:txBody>
      </p:sp>
      <p:sp>
        <p:nvSpPr>
          <p:cNvPr id="7" name="No history exists at the first prediction.&#10;It flag">
            <a:extLst xmlns:a="http://schemas.openxmlformats.org/drawingml/2006/main">
              <a:ext uri="{FF2B5EF4-FFF2-40B4-BE49-F238E27FC236}">
                <a16:creationId xmlns:a16="http://schemas.microsoft.com/office/drawing/2014/main" id="{AA46181C-1CCE-48AC-8CA9-050DD38F5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753100"/>
            <a:ext cx="5095875" cy="600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No history exists at the first prediction.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It flagged none of these errors.</a:t>
            </a:r>
          </a:p>
        </p:txBody>
      </p:sp>
      <p:sp>
        <p:nvSpPr>
          <p:cNvPr id="8" name="Review policy: 6/6">
            <a:extLst xmlns:a="http://schemas.openxmlformats.org/drawingml/2006/main">
              <a:ext uri="{FF2B5EF4-FFF2-40B4-BE49-F238E27FC236}">
                <a16:creationId xmlns:a16="http://schemas.microsoft.com/office/drawing/2014/main" id="{AD1272CB-A7FE-47A5-BB59-E7D6E0B4D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295900"/>
            <a:ext cx="52197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Review policy: 6/6</a:t>
            </a:r>
          </a:p>
        </p:txBody>
      </p:sp>
      <p:sp>
        <p:nvSpPr>
          <p:cNvPr id="9" name="It routed 84 cases to review,&#10;including 78 correct">
            <a:extLst xmlns:a="http://schemas.openxmlformats.org/drawingml/2006/main">
              <a:ext uri="{FF2B5EF4-FFF2-40B4-BE49-F238E27FC236}">
                <a16:creationId xmlns:a16="http://schemas.microsoft.com/office/drawing/2014/main" id="{60D209DC-D1B1-4827-8CBE-D81370509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5753100"/>
            <a:ext cx="52197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It routed 84 cases to review,</a:t>
            </a:r>
          </a:p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including 78 correct predictions.</a:t>
            </a:r>
          </a:p>
        </p:txBody>
      </p:sp>
    </p:spTree>
    <p:extLst>
      <p:ext uri="{BB962C8B-B14F-4D97-AF65-F5344CB8AC3E}">
        <p14:creationId xmlns:p14="http://schemas.microsoft.com/office/powerpoint/2010/main" val="191953499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What drift features add">
            <a:extLst xmlns:a="http://schemas.openxmlformats.org/drawingml/2006/main">
              <a:ext uri="{FF2B5EF4-FFF2-40B4-BE49-F238E27FC236}">
                <a16:creationId xmlns:a16="http://schemas.microsoft.com/office/drawing/2014/main" id="{3702A6F5-5BB8-4CB7-8A75-7893A0D09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What drift features add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E5D58072-A0E2-4055-B867-D4EB16949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11</a:t>
            </a:r>
          </a:p>
        </p:txBody>
      </p:sp>
      <p:sp>
        <p:nvSpPr>
          <p:cNvPr id="3" name="Pooled out-of-fold results · five document-grouped">
            <a:extLst xmlns:a="http://schemas.openxmlformats.org/drawingml/2006/main">
              <a:ext uri="{FF2B5EF4-FFF2-40B4-BE49-F238E27FC236}">
                <a16:creationId xmlns:a16="http://schemas.microsoft.com/office/drawing/2014/main" id="{436948D3-B344-4BE7-B3AF-A24FF79B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38275"/>
            <a:ext cx="1066800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Pooled out-of-fold results · five document-grouped folds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666750" y="2114550"/>
          <a:ext xmlns:a="http://schemas.openxmlformats.org/drawingml/2006/main" cx="10810875" cy="2400300"/>
        </p:xfrm>
        <a:graphic xmlns:a="http://schemas.openxmlformats.org/drawingml/2006/main">
          <a:graphicData uri="http://schemas.openxmlformats.org/drawingml/2006/table">
            <a:tbl>
              <a:tblPr firstRow="0" bandRow="0"/>
              <a:tblGrid>
                <a:gridCol w="1619250"/>
                <a:gridCol w="5667375"/>
                <a:gridCol w="1619250"/>
                <a:gridCol w="1905000"/>
              </a:tblGrid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Experiment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Features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F1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636761"/>
                          </a:solidFill>
                          <a:latin typeface="Calibri"/>
                          <a:ea typeface="Calibri"/>
                          <a:cs typeface="Calibri"/>
                        </a:rPr>
                        <a:t>ROC-AUC</a:t>
                      </a:r>
                    </a:p>
                  </a:txBody>
                  <a:tcPr marL="91440" marR="91440" marT="45720" marB="45720" anchor="ctr">
                    <a:solidFill>
                      <a:srgbClr val="EEEAE1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Corruption context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0.296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A + current confidence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0.468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0.729</a:t>
                      </a:r>
                    </a:p>
                  </a:txBody>
                  <a:tcPr marL="91440" marR="91440" marT="45720" marB="45720" anchor="ctr">
                    <a:solidFill>
                      <a:srgbClr val="F8F5EF"/>
                    </a:solidFill>
                  </a:tcPr>
                </a:tc>
              </a:tr>
              <a:tr h="600075"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C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B + nine history features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0.508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  <a:tc>
                  <a:txBody>
                    <a:bodyPr lIns="133350" tIns="85725" rIns="114300" bIns="85725">
                      <a:noAutofit/>
                    </a:bodyPr>
                    <a:lstStyle/>
                    <a:p>
                      <a:r>
                        <a:rPr sz="2025" b="1">
                          <a:solidFill>
                            <a:srgbClr val="292B28"/>
                          </a:solidFill>
                          <a:latin typeface="Calibri"/>
                          <a:ea typeface="Calibri"/>
                          <a:cs typeface="Calibri"/>
                        </a:rPr>
                        <a:t>0.763</a:t>
                      </a:r>
                    </a:p>
                  </a:txBody>
                  <a:tcPr marL="91440" marR="91440" marT="45720" marB="45720" anchor="ctr">
                    <a:solidFill>
                      <a:srgbClr val="E5ECE9"/>
                    </a:solidFill>
                  </a:tcPr>
                </a:tc>
              </a:tr>
            </a:tbl>
          </a:graphicData>
        </a:graphic>
      </p:graphicFrame>
      <p:sp>
        <p:nvSpPr>
          <p:cNvPr id="5" name="+0.040">
            <a:extLst xmlns:a="http://schemas.openxmlformats.org/drawingml/2006/main">
              <a:ext uri="{FF2B5EF4-FFF2-40B4-BE49-F238E27FC236}">
                <a16:creationId xmlns:a16="http://schemas.microsoft.com/office/drawing/2014/main" id="{9FC96831-8EED-4342-B31B-5FE329994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9175"/>
            <a:ext cx="28765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+0.040</a:t>
            </a:r>
          </a:p>
        </p:txBody>
      </p:sp>
      <p:sp>
        <p:nvSpPr>
          <p:cNvPr id="6" name="F1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0AA57B0F-058E-4C29-8D1D-B7AC6ABB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95950"/>
            <a:ext cx="34861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improvement, B to C</a:t>
            </a:r>
          </a:p>
        </p:txBody>
      </p:sp>
      <p:sp>
        <p:nvSpPr>
          <p:cNvPr id="7" name="+0.034">
            <a:extLst xmlns:a="http://schemas.openxmlformats.org/drawingml/2006/main">
              <a:ext uri="{FF2B5EF4-FFF2-40B4-BE49-F238E27FC236}">
                <a16:creationId xmlns:a16="http://schemas.microsoft.com/office/drawing/2014/main" id="{04A299EE-8D30-41B8-B26A-AFE69B6C9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9175"/>
            <a:ext cx="30670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45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+0.034</a:t>
            </a:r>
          </a:p>
        </p:txBody>
      </p:sp>
      <p:sp>
        <p:nvSpPr>
          <p:cNvPr id="8" name="ROC-AUC improvement, B to C">
            <a:extLst xmlns:a="http://schemas.openxmlformats.org/drawingml/2006/main">
              <a:ext uri="{FF2B5EF4-FFF2-40B4-BE49-F238E27FC236}">
                <a16:creationId xmlns:a16="http://schemas.microsoft.com/office/drawing/2014/main" id="{3EC39CF8-6E50-4741-BD0D-F9C8B94F9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5695950"/>
            <a:ext cx="41529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7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ROC-AUC improvement, B to C</a:t>
            </a:r>
          </a:p>
        </p:txBody>
      </p:sp>
      <p:sp>
        <p:nvSpPr>
          <p:cNvPr id="9" name="History adds a&#10;modest gain.">
            <a:extLst xmlns:a="http://schemas.openxmlformats.org/drawingml/2006/main">
              <a:ext uri="{FF2B5EF4-FFF2-40B4-BE49-F238E27FC236}">
                <a16:creationId xmlns:a16="http://schemas.microsoft.com/office/drawing/2014/main" id="{4F6409B3-4197-440C-8172-418BE6C83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029200"/>
            <a:ext cx="2600325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</a:t>
            </a:r>
          </a:p>
          <a:p xmlns:a="http://schemas.openxmlformats.org/drawingml/2006/main">
            <a:pPr algn="l">
              <a:def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10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modest gain.</a:t>
            </a:r>
          </a:p>
        </p:txBody>
      </p:sp>
      <p:sp>
        <p:nvSpPr>
          <p:cNvPr id="10" name="The separate 110-document holdout showed a smaller">
            <a:extLst xmlns:a="http://schemas.openxmlformats.org/drawingml/2006/main">
              <a:ext uri="{FF2B5EF4-FFF2-40B4-BE49-F238E27FC236}">
                <a16:creationId xmlns:a16="http://schemas.microsoft.com/office/drawing/2014/main" id="{8043759D-0CAF-4A07-83F7-29F402B2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229350"/>
            <a:ext cx="103060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separate 110-document holdout showed a smaller B-to-C F1 gain: 0.447 to 0.457.</a:t>
            </a:r>
          </a:p>
        </p:txBody>
      </p:sp>
    </p:spTree>
    <p:extLst>
      <p:ext uri="{BB962C8B-B14F-4D97-AF65-F5344CB8AC3E}">
        <p14:creationId xmlns:p14="http://schemas.microsoft.com/office/powerpoint/2010/main" val="68649183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Four findings">
            <a:extLst xmlns:a="http://schemas.openxmlformats.org/drawingml/2006/main">
              <a:ext uri="{FF2B5EF4-FFF2-40B4-BE49-F238E27FC236}">
                <a16:creationId xmlns:a16="http://schemas.microsoft.com/office/drawing/2014/main" id="{CC8CD3AA-23FD-4B2B-92DD-8674CDB4A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Four findings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0BEC6B17-42B6-4E25-B668-16527E529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12</a:t>
            </a:r>
          </a:p>
        </p:txBody>
      </p:sp>
      <p:sp>
        <p:nvSpPr>
          <p:cNvPr id="3" name="63.5–93.3%">
            <a:extLst xmlns:a="http://schemas.openxmlformats.org/drawingml/2006/main">
              <a:ext uri="{FF2B5EF4-FFF2-40B4-BE49-F238E27FC236}">
                <a16:creationId xmlns:a16="http://schemas.microsoft.com/office/drawing/2014/main" id="{D8AFE0E1-E85E-463C-B943-782EC5113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67640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1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63.5–93.3%</a:t>
            </a:r>
          </a:p>
        </p:txBody>
      </p:sp>
      <p:sp>
        <p:nvSpPr>
          <p:cNvPr id="4" name="Confidence carries useful signal">
            <a:extLst xmlns:a="http://schemas.openxmlformats.org/drawingml/2006/main">
              <a:ext uri="{FF2B5EF4-FFF2-40B4-BE49-F238E27FC236}">
                <a16:creationId xmlns:a16="http://schemas.microsoft.com/office/drawing/2014/main" id="{8E718061-E3E4-4CC0-A8FC-DC506974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68592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Confidence carries useful signal</a:t>
            </a:r>
          </a:p>
        </p:txBody>
      </p:sp>
      <p:sp>
        <p:nvSpPr>
          <p:cNvPr id="5" name="Accuracy rises across the confidence bins.">
            <a:extLst xmlns:a="http://schemas.openxmlformats.org/drawingml/2006/main">
              <a:ext uri="{FF2B5EF4-FFF2-40B4-BE49-F238E27FC236}">
                <a16:creationId xmlns:a16="http://schemas.microsoft.com/office/drawing/2014/main" id="{4F5E5747-884C-4998-94CC-67F4E54E2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15265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Accuracy rises across the confidence bins.</a:t>
            </a:r>
          </a:p>
        </p:txBody>
      </p:sp>
      <p:sp>
        <p:nvSpPr>
          <p:cNvPr id="6" name="6 of 100">
            <a:extLst xmlns:a="http://schemas.openxmlformats.org/drawingml/2006/main">
              <a:ext uri="{FF2B5EF4-FFF2-40B4-BE49-F238E27FC236}">
                <a16:creationId xmlns:a16="http://schemas.microsoft.com/office/drawing/2014/main" id="{1FC4DD9C-94D6-4CAE-9DA9-E9FF7E92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80987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6 of 100</a:t>
            </a:r>
          </a:p>
        </p:txBody>
      </p:sp>
      <p:sp>
        <p:nvSpPr>
          <p:cNvPr id="7" name="High confidence can still be wrong">
            <a:extLst xmlns:a="http://schemas.openxmlformats.org/drawingml/2006/main">
              <a:ext uri="{FF2B5EF4-FFF2-40B4-BE49-F238E27FC236}">
                <a16:creationId xmlns:a16="http://schemas.microsoft.com/office/drawing/2014/main" id="{499540EB-1532-4B49-B9C1-35BD8FE72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81940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High confidence can still be wrong</a:t>
            </a:r>
          </a:p>
        </p:txBody>
      </p:sp>
      <p:sp>
        <p:nvSpPr>
          <p:cNvPr id="8" name="The review rule routed all six, with 78 false alar">
            <a:extLst xmlns:a="http://schemas.openxmlformats.org/drawingml/2006/main">
              <a:ext uri="{FF2B5EF4-FFF2-40B4-BE49-F238E27FC236}">
                <a16:creationId xmlns:a16="http://schemas.microsoft.com/office/drawing/2014/main" id="{92CCC18B-F741-48DE-82F8-74A8239E2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28612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review rule routed all six, with 78 false alarms.</a:t>
            </a:r>
          </a:p>
        </p:txBody>
      </p:sp>
      <p:sp>
        <p:nvSpPr>
          <p:cNvPr id="9" name="r = 0.09">
            <a:extLst xmlns:a="http://schemas.openxmlformats.org/drawingml/2006/main">
              <a:ext uri="{FF2B5EF4-FFF2-40B4-BE49-F238E27FC236}">
                <a16:creationId xmlns:a16="http://schemas.microsoft.com/office/drawing/2014/main" id="{F1CE36D8-75E9-45F8-A4D2-BF20C7F7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943350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r = 0.09</a:t>
            </a:r>
          </a:p>
        </p:txBody>
      </p:sp>
      <p:sp>
        <p:nvSpPr>
          <p:cNvPr id="10" name="Net drift is a weak predictor">
            <a:extLst xmlns:a="http://schemas.openxmlformats.org/drawingml/2006/main">
              <a:ext uri="{FF2B5EF4-FFF2-40B4-BE49-F238E27FC236}">
                <a16:creationId xmlns:a16="http://schemas.microsoft.com/office/drawing/2014/main" id="{1451E937-4A17-46AE-9B1C-A8319D330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Net drift is a weak predictor</a:t>
            </a:r>
          </a:p>
        </p:txBody>
      </p:sp>
      <p:sp>
        <p:nvSpPr>
          <p:cNvPr id="11" name="Correlation with becoming incorrect is small.">
            <a:extLst xmlns:a="http://schemas.openxmlformats.org/drawingml/2006/main">
              <a:ext uri="{FF2B5EF4-FFF2-40B4-BE49-F238E27FC236}">
                <a16:creationId xmlns:a16="http://schemas.microsoft.com/office/drawing/2014/main" id="{38EC159D-3186-43B9-963D-A41259AD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419600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Correlation with becoming incorrect is small.</a:t>
            </a:r>
          </a:p>
        </p:txBody>
      </p:sp>
      <p:sp>
        <p:nvSpPr>
          <p:cNvPr id="12" name="+0.040 F1">
            <a:extLst xmlns:a="http://schemas.openxmlformats.org/drawingml/2006/main">
              <a:ext uri="{FF2B5EF4-FFF2-40B4-BE49-F238E27FC236}">
                <a16:creationId xmlns:a16="http://schemas.microsoft.com/office/drawing/2014/main" id="{2D543D42-21B5-451E-92DC-2A3CD673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5076825"/>
            <a:ext cx="355282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360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+0.040 F1</a:t>
            </a:r>
          </a:p>
        </p:txBody>
      </p:sp>
      <p:sp>
        <p:nvSpPr>
          <p:cNvPr id="13" name="History adds a modest gain">
            <a:extLst xmlns:a="http://schemas.openxmlformats.org/drawingml/2006/main">
              <a:ext uri="{FF2B5EF4-FFF2-40B4-BE49-F238E27FC236}">
                <a16:creationId xmlns:a16="http://schemas.microsoft.com/office/drawing/2014/main" id="{A750C70A-15D2-49C9-9B04-4FCFEA40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086350"/>
            <a:ext cx="6819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2250" b="1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History adds a modest gain</a:t>
            </a:r>
          </a:p>
        </p:txBody>
      </p:sp>
      <p:sp>
        <p:nvSpPr>
          <p:cNvPr id="14" name="F1 rises from 0.468 to 0.508 after current confide">
            <a:extLst xmlns:a="http://schemas.openxmlformats.org/drawingml/2006/main">
              <a:ext uri="{FF2B5EF4-FFF2-40B4-BE49-F238E27FC236}">
                <a16:creationId xmlns:a16="http://schemas.microsoft.com/office/drawing/2014/main" id="{ED116966-F1BC-4257-93B5-1BD08E2A1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553075"/>
            <a:ext cx="68199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87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F1 rises from 0.468 to 0.508 after current confidence.</a:t>
            </a:r>
          </a:p>
        </p:txBody>
      </p:sp>
    </p:spTree>
    <p:extLst>
      <p:ext uri="{BB962C8B-B14F-4D97-AF65-F5344CB8AC3E}">
        <p14:creationId xmlns:p14="http://schemas.microsoft.com/office/powerpoint/2010/main" val="161748798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Limitations and next steps">
            <a:extLst xmlns:a="http://schemas.openxmlformats.org/drawingml/2006/main">
              <a:ext uri="{FF2B5EF4-FFF2-40B4-BE49-F238E27FC236}">
                <a16:creationId xmlns:a16="http://schemas.microsoft.com/office/drawing/2014/main" id="{37F69563-E3A4-4FB2-A216-0AA6E65E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57200"/>
            <a:ext cx="108394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38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Limitations and next steps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8B38E04F-EAAD-45C8-9DBB-65E5A4F9A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13</a:t>
            </a:r>
          </a:p>
        </p:txBody>
      </p:sp>
      <p:sp>
        <p:nvSpPr>
          <p:cNvPr id="3" name="Limits of this study">
            <a:extLst xmlns:a="http://schemas.openxmlformats.org/drawingml/2006/main">
              <a:ext uri="{FF2B5EF4-FFF2-40B4-BE49-F238E27FC236}">
                <a16:creationId xmlns:a16="http://schemas.microsoft.com/office/drawing/2014/main" id="{38DFC128-D8E5-49AE-84C2-2AF791E1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57350"/>
            <a:ext cx="5010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Limits of this study</a:t>
            </a:r>
          </a:p>
        </p:txBody>
      </p:sp>
      <p:sp>
        <p:nvSpPr>
          <p:cNvPr id="4" name="What I would test next">
            <a:extLst xmlns:a="http://schemas.openxmlformats.org/drawingml/2006/main">
              <a:ext uri="{FF2B5EF4-FFF2-40B4-BE49-F238E27FC236}">
                <a16:creationId xmlns:a16="http://schemas.microsoft.com/office/drawing/2014/main" id="{BB1D4493-7919-471A-AE64-30AF2C3FB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1657350"/>
            <a:ext cx="49625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325" b="0" i="1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What I would test next</a:t>
            </a:r>
          </a:p>
        </p:txBody>
      </p:sp>
      <p:sp>
        <p:nvSpPr>
          <p:cNvPr id="5" name="Text corruption simulates repeated predictions. Re">
            <a:extLst xmlns:a="http://schemas.openxmlformats.org/drawingml/2006/main">
              <a:ext uri="{FF2B5EF4-FFF2-40B4-BE49-F238E27FC236}">
                <a16:creationId xmlns:a16="http://schemas.microsoft.com/office/drawing/2014/main" id="{32C31A99-7D6C-4961-A945-D02E13464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Text corruption simulates repeated predictions. Real usage may behave differently.</a:t>
            </a:r>
          </a:p>
        </p:txBody>
      </p:sp>
      <p:sp>
        <p:nvSpPr>
          <p:cNvPr id="6" name="Only 439 test documents. The top calibration bin h">
            <a:extLst xmlns:a="http://schemas.openxmlformats.org/drawingml/2006/main">
              <a:ext uri="{FF2B5EF4-FFF2-40B4-BE49-F238E27FC236}">
                <a16:creationId xmlns:a16="http://schemas.microsoft.com/office/drawing/2014/main" id="{405E515F-7DCD-4F9D-81EE-8D73A6A12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Only 439 test documents. The top calibration bin has 10 predictions.</a:t>
            </a:r>
          </a:p>
        </p:txBody>
      </p:sp>
      <p:sp>
        <p:nvSpPr>
          <p:cNvPr id="7" name="Two classes and one base model architecture.">
            <a:extLst xmlns:a="http://schemas.openxmlformats.org/drawingml/2006/main">
              <a:ext uri="{FF2B5EF4-FFF2-40B4-BE49-F238E27FC236}">
                <a16:creationId xmlns:a16="http://schemas.microsoft.com/office/drawing/2014/main" id="{2D835236-9806-41AB-AB5D-25B4C06E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Two classes and one base model architecture.</a:t>
            </a:r>
          </a:p>
        </p:txBody>
      </p:sp>
      <p:sp>
        <p:nvSpPr>
          <p:cNvPr id="8" name="The review rule sent 78 correct predictions to hum">
            <a:extLst xmlns:a="http://schemas.openxmlformats.org/drawingml/2006/main">
              <a:ext uri="{FF2B5EF4-FFF2-40B4-BE49-F238E27FC236}">
                <a16:creationId xmlns:a16="http://schemas.microsoft.com/office/drawing/2014/main" id="{A051FF61-53E7-493A-8D10-1445B4C49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The review rule sent 78 correct predictions to human review.</a:t>
            </a:r>
          </a:p>
        </p:txBody>
      </p:sp>
      <p:sp>
        <p:nvSpPr>
          <p:cNvPr id="9" name="Find a more selective way to catch step-0 high-con">
            <a:extLst xmlns:a="http://schemas.openxmlformats.org/drawingml/2006/main">
              <a:ext uri="{FF2B5EF4-FFF2-40B4-BE49-F238E27FC236}">
                <a16:creationId xmlns:a16="http://schemas.microsoft.com/office/drawing/2014/main" id="{069FE060-9382-4D25-BB4B-C6E5F74A1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0030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Find a more selective way to catch step-0 high-confidence errors.</a:t>
            </a:r>
          </a:p>
        </p:txBody>
      </p:sp>
      <p:sp>
        <p:nvSpPr>
          <p:cNvPr id="10" name="Collect naturally repeated real-world queries when">
            <a:extLst xmlns:a="http://schemas.openxmlformats.org/drawingml/2006/main">
              <a:ext uri="{FF2B5EF4-FFF2-40B4-BE49-F238E27FC236}">
                <a16:creationId xmlns:a16="http://schemas.microsoft.com/office/drawing/2014/main" id="{1DC6DBE3-B1B6-47AC-BBCD-9713258D1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34327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Collect naturally repeated real-world queries when data becomes available.</a:t>
            </a:r>
          </a:p>
        </p:txBody>
      </p:sp>
      <p:sp>
        <p:nvSpPr>
          <p:cNvPr id="11" name="Apply temperature scaling and retest whether histo">
            <a:extLst xmlns:a="http://schemas.openxmlformats.org/drawingml/2006/main">
              <a:ext uri="{FF2B5EF4-FFF2-40B4-BE49-F238E27FC236}">
                <a16:creationId xmlns:a16="http://schemas.microsoft.com/office/drawing/2014/main" id="{8ED39B30-7794-4F04-AA3F-34CFED34E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286250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Apply temperature scaling and retest whether history adds value.</a:t>
            </a:r>
          </a:p>
        </p:txBody>
      </p:sp>
      <p:sp>
        <p:nvSpPr>
          <p:cNvPr id="12" name="Extend to multiple classes and another base model.">
            <a:extLst xmlns:a="http://schemas.openxmlformats.org/drawingml/2006/main">
              <a:ext uri="{FF2B5EF4-FFF2-40B4-BE49-F238E27FC236}">
                <a16:creationId xmlns:a16="http://schemas.microsoft.com/office/drawing/2014/main" id="{C0CC14B7-6D8C-4A91-8402-647A71B6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229225"/>
            <a:ext cx="4895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defRPr>
            </a:pPr>
            <a:r>
              <a:rPr sz="1950" b="0" i="0">
                <a:solidFill>
                  <a:srgbClr val="292B28"/>
                </a:solidFill>
                <a:latin typeface="Calibri"/>
                <a:ea typeface="Calibri"/>
                <a:cs typeface="Calibri"/>
              </a:rPr>
              <a:t>Extend to multiple classes and another base model.</a:t>
            </a:r>
          </a:p>
        </p:txBody>
      </p:sp>
    </p:spTree>
    <p:extLst>
      <p:ext uri="{BB962C8B-B14F-4D97-AF65-F5344CB8AC3E}">
        <p14:creationId xmlns:p14="http://schemas.microsoft.com/office/powerpoint/2010/main" val="35541804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14">
            <a:extLst xmlns:a="http://schemas.openxmlformats.org/drawingml/2006/main">
              <a:ext uri="{FF2B5EF4-FFF2-40B4-BE49-F238E27FC236}">
                <a16:creationId xmlns:a16="http://schemas.microsoft.com/office/drawing/2014/main" id="{B9651141-DD2E-43C0-B714-5CF0A379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7222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defRPr>
            </a:pPr>
            <a:r>
              <a:rPr sz="1350" b="0" i="1">
                <a:solidFill>
                  <a:srgbClr val="636761"/>
                </a:solidFill>
                <a:latin typeface="Georgia"/>
                <a:ea typeface="Georgia"/>
                <a:cs typeface="Georgia"/>
              </a:rPr>
              <a:t>14</a:t>
            </a:r>
          </a:p>
        </p:txBody>
      </p:sp>
      <p:sp>
        <p:nvSpPr>
          <p:cNvPr id="2" name="CONCLUSION">
            <a:extLst xmlns:a="http://schemas.openxmlformats.org/drawingml/2006/main">
              <a:ext uri="{FF2B5EF4-FFF2-40B4-BE49-F238E27FC236}">
                <a16:creationId xmlns:a16="http://schemas.microsoft.com/office/drawing/2014/main" id="{B72FF8BC-CE8D-40D1-9844-4D52DDEA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575" b="1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CONCLUSION</a:t>
            </a:r>
          </a:p>
        </p:txBody>
      </p:sp>
      <p:sp>
        <p:nvSpPr>
          <p:cNvPr id="3" name="Confidence history adds">
            <a:extLst xmlns:a="http://schemas.openxmlformats.org/drawingml/2006/main">
              <a:ext uri="{FF2B5EF4-FFF2-40B4-BE49-F238E27FC236}">
                <a16:creationId xmlns:a16="http://schemas.microsoft.com/office/drawing/2014/main" id="{BEB3A70E-E7EA-4549-8CC1-B2A2D6E6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1562100"/>
            <a:ext cx="108585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5025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Confidence history adds</a:t>
            </a:r>
          </a:p>
        </p:txBody>
      </p:sp>
      <p:sp>
        <p:nvSpPr>
          <p:cNvPr id="4" name="a modest signal.">
            <a:extLst xmlns:a="http://schemas.openxmlformats.org/drawingml/2006/main">
              <a:ext uri="{FF2B5EF4-FFF2-40B4-BE49-F238E27FC236}">
                <a16:creationId xmlns:a16="http://schemas.microsoft.com/office/drawing/2014/main" id="{B7DCC727-3A99-447C-915C-95FBB699C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09825"/>
            <a:ext cx="1085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defRPr>
            </a:pPr>
            <a:r>
              <a:rPr sz="5025" b="0" i="1">
                <a:solidFill>
                  <a:srgbClr val="8B4C3B"/>
                </a:solidFill>
                <a:latin typeface="Georgia"/>
                <a:ea typeface="Georgia"/>
                <a:cs typeface="Georgia"/>
              </a:rPr>
              <a:t>a modest signal.</a:t>
            </a:r>
          </a:p>
        </p:txBody>
      </p:sp>
      <p:sp>
        <p:nvSpPr>
          <p:cNvPr id="5" name="Review covers the rest—at a cost.">
            <a:extLst xmlns:a="http://schemas.openxmlformats.org/drawingml/2006/main">
              <a:ext uri="{FF2B5EF4-FFF2-40B4-BE49-F238E27FC236}">
                <a16:creationId xmlns:a16="http://schemas.microsoft.com/office/drawing/2014/main" id="{C0C27CE1-873D-441D-B6D1-51BB7DBE2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32575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defRPr>
            </a:pPr>
            <a:r>
              <a:rPr sz="4650" b="0" i="0">
                <a:solidFill>
                  <a:srgbClr val="292B28"/>
                </a:solidFill>
                <a:latin typeface="Georgia"/>
                <a:ea typeface="Georgia"/>
                <a:cs typeface="Georgia"/>
              </a:rPr>
              <a:t>Review covers the rest—at a cost.</a:t>
            </a:r>
          </a:p>
        </p:txBody>
      </p:sp>
      <p:sp>
        <p:nvSpPr>
          <p:cNvPr id="6" name="The drift detector missed all six high-confidence ">
            <a:extLst xmlns:a="http://schemas.openxmlformats.org/drawingml/2006/main">
              <a:ext uri="{FF2B5EF4-FFF2-40B4-BE49-F238E27FC236}">
                <a16:creationId xmlns:a16="http://schemas.microsoft.com/office/drawing/2014/main" id="{146887E3-D345-49B8-9DB6-419427E0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676775"/>
            <a:ext cx="107632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The drift detector missed all six high-confidence errors.</a:t>
            </a:r>
          </a:p>
          <a:p xmlns:a="http://schemas.openxmlformats.org/drawingml/2006/main">
            <a:pPr algn="l">
              <a:def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2025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A separate review rule routed all six, plus 78 correct cases.</a:t>
            </a:r>
          </a:p>
        </p:txBody>
      </p:sp>
      <p:sp>
        <p:nvSpPr>
          <p:cNvPr id="7" name="F1  0.468 to 0.508">
            <a:extLst xmlns:a="http://schemas.openxmlformats.org/drawingml/2006/main">
              <a:ext uri="{FF2B5EF4-FFF2-40B4-BE49-F238E27FC236}">
                <a16:creationId xmlns:a16="http://schemas.microsoft.com/office/drawing/2014/main" id="{87793C5B-754A-415E-B54D-A303D735B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724525"/>
            <a:ext cx="51911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F1  0.468 to 0.508</a:t>
            </a:r>
          </a:p>
        </p:txBody>
      </p:sp>
      <p:sp>
        <p:nvSpPr>
          <p:cNvPr id="8" name="ROC-AUC  0.729 to 0.763">
            <a:extLst xmlns:a="http://schemas.openxmlformats.org/drawingml/2006/main">
              <a:ext uri="{FF2B5EF4-FFF2-40B4-BE49-F238E27FC236}">
                <a16:creationId xmlns:a16="http://schemas.microsoft.com/office/drawing/2014/main" id="{30C23FA5-6A99-4BD8-91ED-4113818DD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5724525"/>
            <a:ext cx="507682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defRPr>
            </a:pPr>
            <a:r>
              <a:rPr sz="2250" b="0" i="0">
                <a:solidFill>
                  <a:srgbClr val="53695F"/>
                </a:solidFill>
                <a:latin typeface="Georgia"/>
                <a:ea typeface="Georgia"/>
                <a:cs typeface="Georgia"/>
              </a:rPr>
              <a:t>ROC-AUC  0.729 to 0.763</a:t>
            </a:r>
          </a:p>
        </p:txBody>
      </p:sp>
      <p:sp>
        <p:nvSpPr>
          <p:cNvPr id="9" name="Code, data, models and research report: github.com">
            <a:extLst xmlns:a="http://schemas.openxmlformats.org/drawingml/2006/main">
              <a:ext uri="{FF2B5EF4-FFF2-40B4-BE49-F238E27FC236}">
                <a16:creationId xmlns:a16="http://schemas.microsoft.com/office/drawing/2014/main" id="{247D303D-885B-4898-8C7D-16718F0A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6362700"/>
            <a:ext cx="1040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defRPr>
            </a:pP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</a:rPr>
              <a:t>Code, data, models and research report: </a:t>
            </a:r>
            <a:r>
              <a:rPr sz="1350" b="0" i="0">
                <a:solidFill>
                  <a:srgbClr val="63676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930a417174f947ce"/>
              </a:rPr>
              <a:t>github.com/ahansardar/ai-confidence-drift</a:t>
            </a:r>
          </a:p>
        </p:txBody>
      </p:sp>
    </p:spTree>
    <p:extLst>
      <p:ext uri="{BB962C8B-B14F-4D97-AF65-F5344CB8AC3E}">
        <p14:creationId xmlns:p14="http://schemas.microsoft.com/office/powerpoint/2010/main" val="59955652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2026-09-21T13:01:25.8670000Z</dcterms:created>
  <dcterms:modified xsi:type="dcterms:W3CDTF">2026-09-21T13:01:25.8670000Z</dcterms:modified>
</coreProperties>
</file>