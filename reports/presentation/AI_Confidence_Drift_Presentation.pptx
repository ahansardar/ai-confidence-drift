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d3d35791004db7" /><Relationship Type="http://schemas.openxmlformats.org/officeDocument/2006/relationships/extended-properties" Target="/docProps/app.xml" Id="Rf2b4f65b0abd4e60" /><Relationship Type="http://schemas.openxmlformats.org/officeDocument/2006/relationships/officeDocument" Target="/ppt/presentation.xml" Id="R9a389a9c232248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c0759fa6cca425c"/>
  </p:sldMasterIdLst>
  <p:notesMasterIdLst>
    <p:notesMasterId xmlns:r="http://schemas.openxmlformats.org/officeDocument/2006/relationships" r:id="R380d611db4b7492c"/>
  </p:notesMasterIdLst>
  <p:sldIdLst>
    <p:sldId xmlns:r="http://schemas.openxmlformats.org/officeDocument/2006/relationships" id="256" r:id="R8a88dd05a94c48a9"/>
    <p:sldId xmlns:r="http://schemas.openxmlformats.org/officeDocument/2006/relationships" id="257" r:id="Re0c7a9c0b1ba4af0"/>
    <p:sldId xmlns:r="http://schemas.openxmlformats.org/officeDocument/2006/relationships" id="258" r:id="Re63a6fdabbf444f8"/>
    <p:sldId xmlns:r="http://schemas.openxmlformats.org/officeDocument/2006/relationships" id="259" r:id="Rcfd9062434bb4efb"/>
    <p:sldId xmlns:r="http://schemas.openxmlformats.org/officeDocument/2006/relationships" id="260" r:id="R9c790271b1a5484d"/>
    <p:sldId xmlns:r="http://schemas.openxmlformats.org/officeDocument/2006/relationships" id="261" r:id="R3e2c502b38d14506"/>
    <p:sldId xmlns:r="http://schemas.openxmlformats.org/officeDocument/2006/relationships" id="262" r:id="Re9d9173f68aa448c"/>
    <p:sldId xmlns:r="http://schemas.openxmlformats.org/officeDocument/2006/relationships" id="263" r:id="R905d685c4d3a48d6"/>
    <p:sldId xmlns:r="http://schemas.openxmlformats.org/officeDocument/2006/relationships" id="264" r:id="R4d597cdb46214aff"/>
    <p:sldId xmlns:r="http://schemas.openxmlformats.org/officeDocument/2006/relationships" id="265" r:id="R39135f3090dd4c48"/>
    <p:sldId xmlns:r="http://schemas.openxmlformats.org/officeDocument/2006/relationships" id="266" r:id="R0b6355e4948a42e7"/>
    <p:sldId xmlns:r="http://schemas.openxmlformats.org/officeDocument/2006/relationships" id="267" r:id="R16d12e88f3044fcf"/>
    <p:sldId xmlns:r="http://schemas.openxmlformats.org/officeDocument/2006/relationships" id="268" r:id="R309190ea914f4aae"/>
    <p:sldId xmlns:r="http://schemas.openxmlformats.org/officeDocument/2006/relationships" id="269" r:id="Rcb84f6e7d1dc48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e6ee85fe7b4578" /><Relationship Type="http://schemas.openxmlformats.org/officeDocument/2006/relationships/slideMaster" Target="/ppt/slideMasters/slideMaster1.xml" Id="R8c0759fa6cca425c" /><Relationship Type="http://schemas.openxmlformats.org/officeDocument/2006/relationships/notesMaster" Target="/ppt/notesMasters/notesMaster1.xml" Id="R380d611db4b7492c" /><Relationship Type="http://schemas.openxmlformats.org/officeDocument/2006/relationships/presProps" Target="/ppt/presProps.xml" Id="R12ec51d1b99a4dea" /><Relationship Type="http://schemas.openxmlformats.org/officeDocument/2006/relationships/tableStyles" Target="/ppt/tableStyles.xml" Id="Rb518d48d86974707" /><Relationship Type="http://schemas.openxmlformats.org/officeDocument/2006/relationships/slide" Target="/ppt/slides/slide1.xml" Id="R8a88dd05a94c48a9" /><Relationship Type="http://schemas.openxmlformats.org/officeDocument/2006/relationships/slide" Target="/ppt/slides/slide2.xml" Id="Re0c7a9c0b1ba4af0" /><Relationship Type="http://schemas.openxmlformats.org/officeDocument/2006/relationships/slide" Target="/ppt/slides/slide3.xml" Id="Re63a6fdabbf444f8" /><Relationship Type="http://schemas.openxmlformats.org/officeDocument/2006/relationships/slide" Target="/ppt/slides/slide4.xml" Id="Rcfd9062434bb4efb" /><Relationship Type="http://schemas.openxmlformats.org/officeDocument/2006/relationships/slide" Target="/ppt/slides/slide5.xml" Id="R9c790271b1a5484d" /><Relationship Type="http://schemas.openxmlformats.org/officeDocument/2006/relationships/slide" Target="/ppt/slides/slide6.xml" Id="R3e2c502b38d14506" /><Relationship Type="http://schemas.openxmlformats.org/officeDocument/2006/relationships/slide" Target="/ppt/slides/slide7.xml" Id="Re9d9173f68aa448c" /><Relationship Type="http://schemas.openxmlformats.org/officeDocument/2006/relationships/slide" Target="/ppt/slides/slide8.xml" Id="R905d685c4d3a48d6" /><Relationship Type="http://schemas.openxmlformats.org/officeDocument/2006/relationships/slide" Target="/ppt/slides/slide9.xml" Id="R4d597cdb46214aff" /><Relationship Type="http://schemas.openxmlformats.org/officeDocument/2006/relationships/slide" Target="/ppt/slides/slide10.xml" Id="R39135f3090dd4c48" /><Relationship Type="http://schemas.openxmlformats.org/officeDocument/2006/relationships/slide" Target="/ppt/slides/slide11.xml" Id="R0b6355e4948a42e7" /><Relationship Type="http://schemas.openxmlformats.org/officeDocument/2006/relationships/slide" Target="/ppt/slides/slide12.xml" Id="R16d12e88f3044fcf" /><Relationship Type="http://schemas.openxmlformats.org/officeDocument/2006/relationships/slide" Target="/ppt/slides/slide13.xml" Id="R309190ea914f4aae" /><Relationship Type="http://schemas.openxmlformats.org/officeDocument/2006/relationships/slide" Target="/ppt/slides/slide14.xml" Id="Rcb84f6e7d1dc48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9ce339539e41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560e7b645e74176" /><Relationship Type="http://schemas.openxmlformats.org/officeDocument/2006/relationships/notesMaster" Target="/ppt/notesMasters/notesMaster1.xml" Id="R7bc379485fc14f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db57420ad8427b" /><Relationship Type="http://schemas.openxmlformats.org/officeDocument/2006/relationships/notesMaster" Target="/ppt/notesMasters/notesMaster1.xml" Id="Rb45464f3d34e47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30638595f243a4" /><Relationship Type="http://schemas.openxmlformats.org/officeDocument/2006/relationships/notesMaster" Target="/ppt/notesMasters/notesMaster1.xml" Id="R7bb168c96b724a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e04ce1fbd44194" /><Relationship Type="http://schemas.openxmlformats.org/officeDocument/2006/relationships/notesMaster" Target="/ppt/notesMasters/notesMaster1.xml" Id="R66f5f93202fb47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a031cbacd754f20" /><Relationship Type="http://schemas.openxmlformats.org/officeDocument/2006/relationships/notesMaster" Target="/ppt/notesMasters/notesMaster1.xml" Id="R1b3e9b18269745f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774c9b9d5a4f96" /><Relationship Type="http://schemas.openxmlformats.org/officeDocument/2006/relationships/notesMaster" Target="/ppt/notesMasters/notesMaster1.xml" Id="Rd7f744e4345248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5d1bf494e74d5e" /><Relationship Type="http://schemas.openxmlformats.org/officeDocument/2006/relationships/notesMaster" Target="/ppt/notesMasters/notesMaster1.xml" Id="R20fd26c4f2a24c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d311135c3b745cb" /><Relationship Type="http://schemas.openxmlformats.org/officeDocument/2006/relationships/notesMaster" Target="/ppt/notesMasters/notesMaster1.xml" Id="R7683fa2bf8254b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129436feeaa4e99" /><Relationship Type="http://schemas.openxmlformats.org/officeDocument/2006/relationships/notesMaster" Target="/ppt/notesMasters/notesMaster1.xml" Id="R40068c047f5447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4ec5a9afa934f7e" /><Relationship Type="http://schemas.openxmlformats.org/officeDocument/2006/relationships/notesMaster" Target="/ppt/notesMasters/notesMaster1.xml" Id="R6f82f9b2f1344c7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77e51c20dae4750" /><Relationship Type="http://schemas.openxmlformats.org/officeDocument/2006/relationships/notesMaster" Target="/ppt/notesMasters/notesMaster1.xml" Id="Ra1c5033c0abb45b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021c294b77d409f" /><Relationship Type="http://schemas.openxmlformats.org/officeDocument/2006/relationships/notesMaster" Target="/ppt/notesMasters/notesMaster1.xml" Id="Ra74d7f643598448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4a5b77fbd1d4d61" /><Relationship Type="http://schemas.openxmlformats.org/officeDocument/2006/relationships/notesMaster" Target="/ppt/notesMasters/notesMaster1.xml" Id="Rc13080906d9c4bb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f1ed78235ee4e40" /><Relationship Type="http://schemas.openxmlformats.org/officeDocument/2006/relationships/notesMaster" Target="/ppt/notesMasters/notesMaster1.xml" Id="Rd9e7185fa1b143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Trajectory data: data/processed/confidence_sequences.csv. These are actual base-model probabilities on six increasingly corrupted versions of each document. The sequence is simulated rather than naturally repeated.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Exact values: results/metrics/calibration_analysis.json. The Brier score uses the probability of class 1 against the true binary label; this corrects the earlier maximum-class-probability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A, B and C use the same Logistic Regression method, document-grouped folds, target and 0.5 threshold. A includes corruption step and level; B adds current confidence and margin; C adds nine history features. Results: results/metrics/drift_history_validation.json. Paired document-bootstrap intervals exclude retraining uncertainty.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c2af4898304a8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6924a302e14fe0" /><Relationship Type="http://schemas.openxmlformats.org/officeDocument/2006/relationships/slideLayout" Target="/ppt/slideLayouts/slideLayout1.xml" Id="R52c0b6e0f539474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c0b6e0f539474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57c1cc431f479e" /><Relationship Type="http://schemas.openxmlformats.org/officeDocument/2006/relationships/hyperlink" Target="https://github.com/ahansardar/ai-confidence-drift" TargetMode="External" Id="R535d12874d514332" /><Relationship Type="http://schemas.openxmlformats.org/officeDocument/2006/relationships/notesSlide" Target="/ppt/notesSlides/notesSlide1.xml" Id="R4de3315df9264eb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54d23a63c34c87" /><Relationship Type="http://schemas.openxmlformats.org/officeDocument/2006/relationships/notesSlide" Target="/ppt/notesSlides/notesSlide2.xml" Id="Rcc81d7a3132d4b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a50dd11e04ac8" /><Relationship Type="http://schemas.openxmlformats.org/officeDocument/2006/relationships/notesSlide" Target="/ppt/notesSlides/notesSlide3.xml" Id="R5a69805e64c145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ffe9ec66a04407" /><Relationship Type="http://schemas.openxmlformats.org/officeDocument/2006/relationships/notesSlide" Target="/ppt/notesSlides/notesSlide4.xml" Id="R9f3c578fea364a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955ff6a74e4d9f" /><Relationship Type="http://schemas.openxmlformats.org/officeDocument/2006/relationships/notesSlide" Target="/ppt/notesSlides/notesSlide5.xml" Id="R8d1b6d08b0184b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1b6fe439c4481e" /><Relationship Type="http://schemas.openxmlformats.org/officeDocument/2006/relationships/chart" Target="/ppt/slides/charts/chart1.xml" Id="R47174d91d40f4cff" /><Relationship Type="http://schemas.openxmlformats.org/officeDocument/2006/relationships/notesSlide" Target="/ppt/notesSlides/notesSlide6.xml" Id="R11bcba3ef08741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f854b5577a4f38" /><Relationship Type="http://schemas.openxmlformats.org/officeDocument/2006/relationships/notesSlide" Target="/ppt/notesSlides/notesSlide7.xml" Id="Rb15c49bb654f4cd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9f600c54c54da0" /><Relationship Type="http://schemas.openxmlformats.org/officeDocument/2006/relationships/chart" Target="/ppt/slides/charts/chart2.xml" Id="R4d64d363ba0546a6" /><Relationship Type="http://schemas.openxmlformats.org/officeDocument/2006/relationships/notesSlide" Target="/ppt/notesSlides/notesSlide8.xml" Id="Rf449fdbd7df64ce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abae8c667a45f1" /><Relationship Type="http://schemas.openxmlformats.org/officeDocument/2006/relationships/chart" Target="/ppt/slides/charts/chart3.xml" Id="R9b7875ab74184ee2" /><Relationship Type="http://schemas.openxmlformats.org/officeDocument/2006/relationships/notesSlide" Target="/ppt/notesSlides/notesSlide9.xml" Id="Rb38db08621db4df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47c5b46bc476b" /><Relationship Type="http://schemas.openxmlformats.org/officeDocument/2006/relationships/notesSlide" Target="/ppt/notesSlides/notesSlide10.xml" Id="Rb06298504cbe49e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0eee118e8d4bf4" /><Relationship Type="http://schemas.openxmlformats.org/officeDocument/2006/relationships/notesSlide" Target="/ppt/notesSlides/notesSlide11.xml" Id="R75e518be432e410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ca17d64db047e0" /><Relationship Type="http://schemas.openxmlformats.org/officeDocument/2006/relationships/notesSlide" Target="/ppt/notesSlides/notesSlide12.xml" Id="R9c8d7182a1d7462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f0b8b1f39404f" /><Relationship Type="http://schemas.openxmlformats.org/officeDocument/2006/relationships/notesSlide" Target="/ppt/notesSlides/notesSlide13.xml" Id="Rd0542f5329eb417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6680cc8f74f65" /><Relationship Type="http://schemas.openxmlformats.org/officeDocument/2006/relationships/hyperlink" Target="https://github.com/ahansardar/ai-confidence-drift" TargetMode="External" Id="R67b11a05fda04708" /><Relationship Type="http://schemas.openxmlformats.org/officeDocument/2006/relationships/notesSlide" Target="/ppt/notesSlides/notesSlide14.xml" Id="Rf3644c897bac47b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doc_00947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Data'!$A$2:$A$7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Data'!$B$2:$B$7</c:f>
              <c:numCache>
                <c:formatCode>0.0</c:formatCode>
                <c:ptCount val="6"/>
                <c:pt idx="0">
                  <c:v>0.719348323778</c:v>
                </c:pt>
                <c:pt idx="1">
                  <c:v>0.759857742655</c:v>
                </c:pt>
                <c:pt idx="2">
                  <c:v>0.715960064383</c:v>
                </c:pt>
                <c:pt idx="3">
                  <c:v>0.779436106036</c:v>
                </c:pt>
                <c:pt idx="4">
                  <c:v>0.734494194224</c:v>
                </c:pt>
                <c:pt idx="5">
                  <c:v>0.65024637782</c:v>
                </c:pt>
              </c:numCache>
            </c:numRef>
          </c:val>
          <c:smooth val="0"/>
        </c:ser>
        <c:ser>
          <c:idx val="1"/>
          <c:order val="1"/>
          <c:tx>
            <c:v>doc_00379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Data'!$C$2:$C$7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Data'!$D$2:$D$7</c:f>
              <c:numCache>
                <c:formatCode>0.0</c:formatCode>
                <c:ptCount val="6"/>
                <c:pt idx="0">
                  <c:v>0.651263024184</c:v>
                </c:pt>
                <c:pt idx="1">
                  <c:v>0.622375661344</c:v>
                </c:pt>
                <c:pt idx="2">
                  <c:v>0.639477690662</c:v>
                </c:pt>
                <c:pt idx="3">
                  <c:v>0.554223020774</c:v>
                </c:pt>
                <c:pt idx="4">
                  <c:v>0.660040219646</c:v>
                </c:pt>
                <c:pt idx="5">
                  <c:v>0.61338156255</c:v>
                </c:pt>
              </c:numCache>
            </c:numRef>
          </c:val>
          <c:smooth val="0"/>
        </c:ser>
        <c:ser>
          <c:idx val="2"/>
          <c:order val="2"/>
          <c:tx>
            <c:v>doc_00862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Data'!$E$2:$E$7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Data'!$F$2:$F$7</c:f>
              <c:numCache>
                <c:formatCode>0.0</c:formatCode>
                <c:ptCount val="6"/>
                <c:pt idx="0">
                  <c:v>0.654961951257</c:v>
                </c:pt>
                <c:pt idx="1">
                  <c:v>0.634114026368</c:v>
                </c:pt>
                <c:pt idx="2">
                  <c:v>0.6025647027</c:v>
                </c:pt>
                <c:pt idx="3">
                  <c:v>0.651328412914</c:v>
                </c:pt>
                <c:pt idx="4">
                  <c:v>0.605972114083</c:v>
                </c:pt>
                <c:pt idx="5">
                  <c:v>0.594695141483</c:v>
                </c:pt>
              </c:numCache>
            </c:numRef>
          </c:val>
          <c:smooth val="0"/>
        </c:ser>
        <c:ser>
          <c:idx val="3"/>
          <c:order val="3"/>
          <c:tx>
            <c:v>doc_00666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Data'!$G$2:$G$7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Data'!$H$2:$H$7</c:f>
              <c:numCache>
                <c:formatCode>0.0</c:formatCode>
                <c:ptCount val="6"/>
                <c:pt idx="0">
                  <c:v>0.573958284012</c:v>
                </c:pt>
                <c:pt idx="1">
                  <c:v>0.587214607883</c:v>
                </c:pt>
                <c:pt idx="2">
                  <c:v>0.603181527254</c:v>
                </c:pt>
                <c:pt idx="3">
                  <c:v>0.575965645126</c:v>
                </c:pt>
                <c:pt idx="4">
                  <c:v>0.532733701042</c:v>
                </c:pt>
                <c:pt idx="5">
                  <c:v>0.600116323688</c:v>
                </c:pt>
              </c:numCache>
            </c:numRef>
          </c:val>
          <c:smooth val="0"/>
        </c:ser>
        <c:ser>
          <c:idx val="4"/>
          <c:order val="4"/>
          <c:tx>
            <c:v>doc_00906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Data'!$I$2:$I$7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Data'!$J$2:$J$7</c:f>
              <c:numCache>
                <c:formatCode>0.0</c:formatCode>
                <c:ptCount val="6"/>
                <c:pt idx="0">
                  <c:v>0.803287623609</c:v>
                </c:pt>
                <c:pt idx="1">
                  <c:v>0.782247690794</c:v>
                </c:pt>
                <c:pt idx="2">
                  <c:v>0.752273990641</c:v>
                </c:pt>
                <c:pt idx="3">
                  <c:v>0.700765789377</c:v>
                </c:pt>
                <c:pt idx="4">
                  <c:v>0.749902716815</c:v>
                </c:pt>
                <c:pt idx="5">
                  <c:v>0.7218809687</c:v>
                </c:pt>
              </c:numCache>
            </c:numRef>
          </c:val>
          <c:smooth val="0"/>
        </c:ser>
        <c:ser>
          <c:idx val="5"/>
          <c:order val="5"/>
          <c:tx>
            <c:v>doc_00682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Data'!$K$2:$K$7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Data'!$L$2:$L$7</c:f>
              <c:numCache>
                <c:formatCode>0.0</c:formatCode>
                <c:ptCount val="6"/>
                <c:pt idx="0">
                  <c:v>0.547705670064</c:v>
                </c:pt>
                <c:pt idx="1">
                  <c:v>0.529057843546</c:v>
                </c:pt>
                <c:pt idx="2">
                  <c:v>0.520742630581</c:v>
                </c:pt>
                <c:pt idx="3">
                  <c:v>0.519210703769</c:v>
                </c:pt>
                <c:pt idx="4">
                  <c:v>0.525511695583</c:v>
                </c:pt>
                <c:pt idx="5">
                  <c:v>0.535102525295</c:v>
                </c:pt>
              </c:numCache>
            </c:numRef>
          </c:val>
          <c:smooth val="0"/>
        </c:ser>
        <c:ser>
          <c:idx val="6"/>
          <c:order val="6"/>
          <c:tx>
            <c:v>doc_00653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Data'!$M$2:$M$7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Data'!$N$2:$N$7</c:f>
              <c:numCache>
                <c:formatCode>0.0</c:formatCode>
                <c:ptCount val="6"/>
                <c:pt idx="0">
                  <c:v>0.599758428292</c:v>
                </c:pt>
                <c:pt idx="1">
                  <c:v>0.550448651466</c:v>
                </c:pt>
                <c:pt idx="2">
                  <c:v>0.557847904289</c:v>
                </c:pt>
                <c:pt idx="3">
                  <c:v>0.651255992277</c:v>
                </c:pt>
                <c:pt idx="4">
                  <c:v>0.614750156933</c:v>
                </c:pt>
                <c:pt idx="5">
                  <c:v>0.538446294376</c:v>
                </c:pt>
              </c:numCache>
            </c:numRef>
          </c:val>
          <c:smooth val="0"/>
        </c:ser>
        <c:ser>
          <c:idx val="7"/>
          <c:order val="7"/>
          <c:tx>
            <c:v>doc_00750</c:v>
          </c:tx>
          <c:spPr>
            <a:ln xmlns:a="http://schemas.openxmlformats.org/drawingml/2006/main" w="28575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Data'!$O$2:$O$7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Data'!$P$2:$P$7</c:f>
              <c:numCache>
                <c:formatCode>0.0</c:formatCode>
                <c:ptCount val="6"/>
                <c:pt idx="0">
                  <c:v>0.963198276368</c:v>
                </c:pt>
                <c:pt idx="1">
                  <c:v>0.951794704782</c:v>
                </c:pt>
                <c:pt idx="2">
                  <c:v>0.950893635072</c:v>
                </c:pt>
                <c:pt idx="3">
                  <c:v>0.950536433004</c:v>
                </c:pt>
                <c:pt idx="4">
                  <c:v>0.947528281923</c:v>
                </c:pt>
                <c:pt idx="5">
                  <c:v>0.949225523566</c:v>
                </c:pt>
              </c:numCache>
            </c:numRef>
          </c:val>
          <c:smooth val="0"/>
        </c:ser>
        <c:ser>
          <c:idx val="8"/>
          <c:order val="8"/>
          <c:tx>
            <c:v>doc_00949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Data'!$Q$2:$Q$7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Data'!$R$2:$R$7</c:f>
              <c:numCache>
                <c:formatCode>0.0</c:formatCode>
                <c:ptCount val="6"/>
                <c:pt idx="0">
                  <c:v>0.708532227862</c:v>
                </c:pt>
                <c:pt idx="1">
                  <c:v>0.7334973885</c:v>
                </c:pt>
                <c:pt idx="2">
                  <c:v>0.698768398381</c:v>
                </c:pt>
                <c:pt idx="3">
                  <c:v>0.674598700135</c:v>
                </c:pt>
                <c:pt idx="4">
                  <c:v>0.650643222049</c:v>
                </c:pt>
                <c:pt idx="5">
                  <c:v>0.714768716563</c:v>
                </c:pt>
              </c:numCache>
            </c:numRef>
          </c:val>
          <c:smooth val="0"/>
        </c:ser>
        <c:ser>
          <c:idx val="9"/>
          <c:order val="9"/>
          <c:tx>
            <c:v>doc_01749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Data'!$S$2:$S$7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Data'!$T$2:$T$7</c:f>
              <c:numCache>
                <c:formatCode>0.0</c:formatCode>
                <c:ptCount val="6"/>
                <c:pt idx="0">
                  <c:v>0.728667954938</c:v>
                </c:pt>
                <c:pt idx="1">
                  <c:v>0.762369273157</c:v>
                </c:pt>
                <c:pt idx="2">
                  <c:v>0.753212408906</c:v>
                </c:pt>
                <c:pt idx="3">
                  <c:v>0.731961285524</c:v>
                </c:pt>
                <c:pt idx="4">
                  <c:v>0.751639954251</c:v>
                </c:pt>
                <c:pt idx="5">
                  <c:v>0.735266212207</c:v>
                </c:pt>
              </c:numCache>
            </c:numRef>
          </c:val>
          <c:smooth val="0"/>
        </c:ser>
        <c:ser>
          <c:idx val="10"/>
          <c:order val="10"/>
          <c:tx>
            <c:v>doc_01258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Data'!$U$2:$U$7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Data'!$V$2:$V$7</c:f>
              <c:numCache>
                <c:formatCode>0.0</c:formatCode>
                <c:ptCount val="6"/>
                <c:pt idx="0">
                  <c:v>0.591846293039</c:v>
                </c:pt>
                <c:pt idx="1">
                  <c:v>0.545772336168</c:v>
                </c:pt>
                <c:pt idx="2">
                  <c:v>0.621892145394</c:v>
                </c:pt>
                <c:pt idx="3">
                  <c:v>0.638648588279</c:v>
                </c:pt>
                <c:pt idx="4">
                  <c:v>0.511166197593</c:v>
                </c:pt>
                <c:pt idx="5">
                  <c:v>0.5432283627</c:v>
                </c:pt>
              </c:numCache>
            </c:numRef>
          </c:val>
          <c:smooth val="0"/>
        </c:ser>
        <c:ser>
          <c:idx val="11"/>
          <c:order val="11"/>
          <c:tx>
            <c:v>doc_01065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Data'!$W$2:$W$7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Data'!$X$2:$X$7</c:f>
              <c:numCache>
                <c:formatCode>0.0</c:formatCode>
                <c:ptCount val="6"/>
                <c:pt idx="0">
                  <c:v>0.562596053114</c:v>
                </c:pt>
                <c:pt idx="1">
                  <c:v>0.60434583868</c:v>
                </c:pt>
                <c:pt idx="2">
                  <c:v>0.573350875561</c:v>
                </c:pt>
                <c:pt idx="3">
                  <c:v>0.516305034727</c:v>
                </c:pt>
                <c:pt idx="4">
                  <c:v>0.536507176618</c:v>
                </c:pt>
                <c:pt idx="5">
                  <c:v>0.559754662177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Corruption level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.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Accuracy</c:v>
          </c:tx>
          <c:spPr>
            <a:solidFill xmlns:a="http://schemas.openxmlformats.org/drawingml/2006/main">
              <a:srgbClr val="53695F"/>
            </a:solidFill>
          </c:spPr>
          <c:cat>
            <c:strRef>
              <c:f>'Chart Data'!$A$2:$A$4</c:f>
              <c:strCache>
                <c:ptCount val="3"/>
                <c:pt idx="0">
                  <c:v>40–60%</c:v>
                </c:pt>
                <c:pt idx="1">
                  <c:v>60–80%</c:v>
                </c:pt>
                <c:pt idx="2">
                  <c:v>80–100%</c:v>
                </c:pt>
              </c:strCache>
            </c:strRef>
          </c:cat>
          <c:val>
            <c:numRef>
              <c:f>'Chart Data'!$B$2:$B$4</c:f>
              <c:numCache>
                <c:formatCode>0.0%</c:formatCode>
                <c:ptCount val="3"/>
                <c:pt idx="0">
                  <c:v>0.634615384615</c:v>
                </c:pt>
                <c:pt idx="1">
                  <c:v>0.90134529148</c:v>
                </c:pt>
                <c:pt idx="2">
                  <c:v>0.933333333333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solidFill>
                    <a:srgbClr val="292B28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Confidence range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Perfect calibration</c:v>
          </c:tx>
          <c:spPr>
            <a:ln xmlns:a="http://schemas.openxmlformats.org/drawingml/2006/main" w="14288">
              <a:solidFill>
                <a:srgbClr val="A9ADA7"/>
              </a:solidFill>
              <a:prstDash val="dash"/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Observed accuracy</c:v>
          </c:tx>
          <c:spPr>
            <a:ln xmlns:a="http://schemas.openxmlformats.org/drawingml/2006/main" w="28575">
              <a:solidFill>
                <a:srgbClr val="53695F"/>
              </a:solidFill>
            </a:ln>
          </c:spPr>
          <c:marker>
            <c:symbol val="circle"/>
            <c:size val="8"/>
            <c:spPr>
              <a:solidFill xmlns:a="http://schemas.openxmlformats.org/drawingml/2006/main">
                <a:srgbClr val="53695F"/>
              </a:solidFill>
            </c:spPr>
          </c:marker>
          <c:xVal>
            <c:numRef>
              <c:f>'Chart Data'!$C$2:$C$6</c:f>
              <c:numCache>
                <c:formatCode>General</c:formatCode>
                <c:ptCount val="5"/>
                <c:pt idx="0">
                  <c:v>0.554576604908</c:v>
                </c:pt>
                <c:pt idx="1">
                  <c:v>0.648322988615</c:v>
                </c:pt>
                <c:pt idx="2">
                  <c:v>0.744525584625</c:v>
                </c:pt>
                <c:pt idx="3">
                  <c:v>0.850104991077</c:v>
                </c:pt>
                <c:pt idx="4">
                  <c:v>0.919791378033</c:v>
                </c:pt>
              </c:numCache>
            </c:numRef>
          </c:xVal>
          <c:yVal>
            <c:numRef>
              <c:f>'Chart Data'!$D$2:$D$6</c:f>
              <c:numCache>
                <c:formatCode>0.0</c:formatCode>
                <c:ptCount val="5"/>
                <c:pt idx="0">
                  <c:v>0.634615384615</c:v>
                </c:pt>
                <c:pt idx="1">
                  <c:v>0.866666666667</c:v>
                </c:pt>
                <c:pt idx="2">
                  <c:v>0.954545454545</c:v>
                </c:pt>
                <c:pt idx="3">
                  <c:v>0.96</c:v>
                </c:pt>
                <c:pt idx="4">
                  <c:v>0.8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Observed 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Mean predicted confidence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0.2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636761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01">
            <a:extLst xmlns:a="http://schemas.openxmlformats.org/drawingml/2006/main">
              <a:ext uri="{FF2B5EF4-FFF2-40B4-BE49-F238E27FC236}">
                <a16:creationId xmlns:a16="http://schemas.microsoft.com/office/drawing/2014/main" id="{70540C69-DB98-4B77-94D4-2CE53497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2" name="PRANAVX LABS">
            <a:extLst xmlns:a="http://schemas.openxmlformats.org/drawingml/2006/main">
              <a:ext uri="{FF2B5EF4-FFF2-40B4-BE49-F238E27FC236}">
                <a16:creationId xmlns:a16="http://schemas.microsoft.com/office/drawing/2014/main" id="{B2E109E4-4341-4BCD-B72A-6F85A770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PRANAVX LABS</a:t>
            </a:r>
          </a:p>
        </p:txBody>
      </p:sp>
      <p:sp>
        <p:nvSpPr>
          <p:cNvPr id="3" name="AI/ML Internship">
            <a:extLst xmlns:a="http://schemas.openxmlformats.org/drawingml/2006/main">
              <a:ext uri="{FF2B5EF4-FFF2-40B4-BE49-F238E27FC236}">
                <a16:creationId xmlns:a16="http://schemas.microsoft.com/office/drawing/2014/main" id="{188737F8-9D9D-47F1-A83E-DBDCDC75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429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AI/ML Internship</a:t>
            </a:r>
          </a:p>
        </p:txBody>
      </p:sp>
      <p:sp>
        <p:nvSpPr>
          <p:cNvPr id="4" name="AI Confidence">
            <a:extLst xmlns:a="http://schemas.openxmlformats.org/drawingml/2006/main">
              <a:ext uri="{FF2B5EF4-FFF2-40B4-BE49-F238E27FC236}">
                <a16:creationId xmlns:a16="http://schemas.microsoft.com/office/drawing/2014/main" id="{EC853238-F39E-4D6A-9A6D-1C9D0867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08299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0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7500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AI Confidence</a:t>
            </a:r>
          </a:p>
        </p:txBody>
      </p:sp>
      <p:sp>
        <p:nvSpPr>
          <p:cNvPr id="5" name="Drift Detection">
            <a:extLst xmlns:a="http://schemas.openxmlformats.org/drawingml/2006/main">
              <a:ext uri="{FF2B5EF4-FFF2-40B4-BE49-F238E27FC236}">
                <a16:creationId xmlns:a16="http://schemas.microsoft.com/office/drawing/2014/main" id="{E6DA64F8-33EE-4C1C-8C1A-729029D6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71775"/>
            <a:ext cx="10829925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10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810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Drift Detection</a:t>
            </a:r>
          </a:p>
        </p:txBody>
      </p:sp>
      <p:sp>
        <p:nvSpPr>
          <p:cNvPr id="6" name="Using machine learning">
            <a:extLst xmlns:a="http://schemas.openxmlformats.org/drawingml/2006/main">
              <a:ext uri="{FF2B5EF4-FFF2-40B4-BE49-F238E27FC236}">
                <a16:creationId xmlns:a16="http://schemas.microsoft.com/office/drawing/2014/main" id="{778ACD99-C406-4400-B0D1-0AF46FBD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6381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4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Using machine learning</a:t>
            </a:r>
          </a:p>
        </p:txBody>
      </p:sp>
      <p:sp>
        <p:nvSpPr>
          <p:cNvPr id="7" name="Can changes in confidence help identify&#10;unreliable">
            <a:extLst xmlns:a="http://schemas.openxmlformats.org/drawingml/2006/main">
              <a:ext uri="{FF2B5EF4-FFF2-40B4-BE49-F238E27FC236}">
                <a16:creationId xmlns:a16="http://schemas.microsoft.com/office/drawing/2014/main" id="{E1A101EF-1F75-43D3-9A41-BBD36646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05400"/>
            <a:ext cx="72199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Can changes in confidence help identify</a:t>
            </a:r>
          </a:p>
          <a:p xmlns:a="http://schemas.openxmlformats.org/drawingml/2006/main">
            <a:pPr algn="l">
              <a:def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unreliable predictions?</a:t>
            </a:r>
          </a:p>
        </p:txBody>
      </p:sp>
      <p:sp>
        <p:nvSpPr>
          <p:cNvPr id="8" name="Research project">
            <a:extLst xmlns:a="http://schemas.openxmlformats.org/drawingml/2006/main">
              <a:ext uri="{FF2B5EF4-FFF2-40B4-BE49-F238E27FC236}">
                <a16:creationId xmlns:a16="http://schemas.microsoft.com/office/drawing/2014/main" id="{2084B47B-9B68-4B4C-9EF3-50FC2BEA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63867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Research project</a:t>
            </a:r>
          </a:p>
        </p:txBody>
      </p:sp>
      <p:sp>
        <p:nvSpPr>
          <p:cNvPr id="9" name="Prepared by Ahan">
            <a:extLst xmlns:a="http://schemas.openxmlformats.org/drawingml/2006/main">
              <a:ext uri="{FF2B5EF4-FFF2-40B4-BE49-F238E27FC236}">
                <a16:creationId xmlns:a16="http://schemas.microsoft.com/office/drawing/2014/main" id="{5BE5DF00-AE53-4C82-8270-B1B8530D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51149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7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Prepared by Ahan</a:t>
            </a:r>
          </a:p>
        </p:txBody>
      </p:sp>
      <p:sp>
        <p:nvSpPr>
          <p:cNvPr id="10" name="github.com/ahansardar/ai-confidence-drift">
            <a:extLst xmlns:a="http://schemas.openxmlformats.org/drawingml/2006/main">
              <a:ext uri="{FF2B5EF4-FFF2-40B4-BE49-F238E27FC236}">
                <a16:creationId xmlns:a16="http://schemas.microsoft.com/office/drawing/2014/main" id="{11CA6A37-60C3-48CD-840D-AB89E1BF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296025"/>
            <a:ext cx="1004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35d12874d514332"/>
              </a:rPr>
              <a:t>github.com/ahansardar/ai-confidence-drift</a:t>
            </a:r>
          </a:p>
        </p:txBody>
      </p:sp>
    </p:spTree>
    <p:extLst>
      <p:ext uri="{BB962C8B-B14F-4D97-AF65-F5344CB8AC3E}">
        <p14:creationId xmlns:p14="http://schemas.microsoft.com/office/powerpoint/2010/main" val="1262214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he confidence problem">
            <a:extLst xmlns:a="http://schemas.openxmlformats.org/drawingml/2006/main">
              <a:ext uri="{FF2B5EF4-FFF2-40B4-BE49-F238E27FC236}">
                <a16:creationId xmlns:a16="http://schemas.microsoft.com/office/drawing/2014/main" id="{EDE1C0BE-F1A3-4B0D-A6AD-F5B56C2A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confidence problem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B1249237-6398-4B93-A2D2-C0F44F59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3" name="96.3%">
            <a:extLst xmlns:a="http://schemas.openxmlformats.org/drawingml/2006/main">
              <a:ext uri="{FF2B5EF4-FFF2-40B4-BE49-F238E27FC236}">
                <a16:creationId xmlns:a16="http://schemas.microsoft.com/office/drawing/2014/main" id="{7981ED07-D296-4EBB-A89E-59FD13E0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04975"/>
            <a:ext cx="5429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87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96.3%</a:t>
            </a:r>
          </a:p>
        </p:txBody>
      </p:sp>
      <p:sp>
        <p:nvSpPr>
          <p:cNvPr id="4" name="confident. Still wrong.">
            <a:extLst xmlns:a="http://schemas.openxmlformats.org/drawingml/2006/main">
              <a:ext uri="{FF2B5EF4-FFF2-40B4-BE49-F238E27FC236}">
                <a16:creationId xmlns:a16="http://schemas.microsoft.com/office/drawing/2014/main" id="{5E79AB13-5D64-471B-A773-5724960A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05175"/>
            <a:ext cx="5191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0" i="1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2700" b="0" i="1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confident. Still wrong.</a:t>
            </a:r>
          </a:p>
        </p:txBody>
      </p:sp>
      <p:sp>
        <p:nvSpPr>
          <p:cNvPr id="5" name="One observed prediction&#10;Document doc_00750">
            <a:extLst xmlns:a="http://schemas.openxmlformats.org/drawingml/2006/main">
              <a:ext uri="{FF2B5EF4-FFF2-40B4-BE49-F238E27FC236}">
                <a16:creationId xmlns:a16="http://schemas.microsoft.com/office/drawing/2014/main" id="{C4C60060-F820-4275-8907-7522D794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48125"/>
            <a:ext cx="4667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One observed prediction</a:t>
            </a:r>
          </a:p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Document doc_00750</a:t>
            </a:r>
          </a:p>
        </p:txBody>
      </p:sp>
      <p:sp>
        <p:nvSpPr>
          <p:cNvPr id="6" name="Confident errors">
            <a:extLst xmlns:a="http://schemas.openxmlformats.org/drawingml/2006/main">
              <a:ext uri="{FF2B5EF4-FFF2-40B4-BE49-F238E27FC236}">
                <a16:creationId xmlns:a16="http://schemas.microsoft.com/office/drawing/2014/main" id="{03DD4331-72D6-4B5C-9A05-845AE0A7C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526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Confident errors</a:t>
            </a:r>
          </a:p>
        </p:txBody>
      </p:sp>
      <p:sp>
        <p:nvSpPr>
          <p:cNvPr id="7" name="A model can be highly confident about an incorrect">
            <a:extLst xmlns:a="http://schemas.openxmlformats.org/drawingml/2006/main">
              <a:ext uri="{FF2B5EF4-FFF2-40B4-BE49-F238E27FC236}">
                <a16:creationId xmlns:a16="http://schemas.microsoft.com/office/drawing/2014/main" id="{B1B2B204-5DF0-46D1-9B9B-BFC772C0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00275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 model can be highly confident about an incorrect prediction.</a:t>
            </a:r>
          </a:p>
        </p:txBody>
      </p:sp>
      <p:sp>
        <p:nvSpPr>
          <p:cNvPr id="8" name="Unstable confidence">
            <a:extLst xmlns:a="http://schemas.openxmlformats.org/drawingml/2006/main">
              <a:ext uri="{FF2B5EF4-FFF2-40B4-BE49-F238E27FC236}">
                <a16:creationId xmlns:a16="http://schemas.microsoft.com/office/drawing/2014/main" id="{EAC1EBC5-2E51-440D-8388-43914428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90875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Unstable confidence</a:t>
            </a:r>
          </a:p>
        </p:txBody>
      </p:sp>
      <p:sp>
        <p:nvSpPr>
          <p:cNvPr id="9" name="Confidence can change across similar inputs withou">
            <a:extLst xmlns:a="http://schemas.openxmlformats.org/drawingml/2006/main">
              <a:ext uri="{FF2B5EF4-FFF2-40B4-BE49-F238E27FC236}">
                <a16:creationId xmlns:a16="http://schemas.microsoft.com/office/drawing/2014/main" id="{AC35C61C-FADD-4BB3-A4A5-E78DE50E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Confidence can change across similar inputs without tracking correctness.</a:t>
            </a:r>
          </a:p>
        </p:txBody>
      </p:sp>
      <p:sp>
        <p:nvSpPr>
          <p:cNvPr id="10" name="Increasing difficulty">
            <a:extLst xmlns:a="http://schemas.openxmlformats.org/drawingml/2006/main">
              <a:ext uri="{FF2B5EF4-FFF2-40B4-BE49-F238E27FC236}">
                <a16:creationId xmlns:a16="http://schemas.microsoft.com/office/drawing/2014/main" id="{E1AC62EF-9892-43A2-A531-D12D2C5D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2915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Increasing difficulty</a:t>
            </a:r>
          </a:p>
        </p:txBody>
      </p:sp>
      <p:sp>
        <p:nvSpPr>
          <p:cNvPr id="11" name="Lower confidence may accompany harder inputs. The ">
            <a:extLst xmlns:a="http://schemas.openxmlformats.org/drawingml/2006/main">
              <a:ext uri="{FF2B5EF4-FFF2-40B4-BE49-F238E27FC236}">
                <a16:creationId xmlns:a16="http://schemas.microsoft.com/office/drawing/2014/main" id="{7E9F7B7D-AAA6-4899-886C-EA601631E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Lower confidence may accompany harder inputs. The link to accuracy needs testing.</a:t>
            </a:r>
          </a:p>
        </p:txBody>
      </p:sp>
    </p:spTree>
    <p:extLst>
      <p:ext uri="{BB962C8B-B14F-4D97-AF65-F5344CB8AC3E}">
        <p14:creationId xmlns:p14="http://schemas.microsoft.com/office/powerpoint/2010/main" val="1049426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search question">
            <a:extLst xmlns:a="http://schemas.openxmlformats.org/drawingml/2006/main">
              <a:ext uri="{FF2B5EF4-FFF2-40B4-BE49-F238E27FC236}">
                <a16:creationId xmlns:a16="http://schemas.microsoft.com/office/drawing/2014/main" id="{F87FE71A-24B2-4A8F-B070-09528BFF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Research question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A4E6D59E-BE80-49C8-85A9-CF1402894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3" name="Can changes in a model’s confidence">
            <a:extLst xmlns:a="http://schemas.openxmlformats.org/drawingml/2006/main">
              <a:ext uri="{FF2B5EF4-FFF2-40B4-BE49-F238E27FC236}">
                <a16:creationId xmlns:a16="http://schemas.microsoft.com/office/drawing/2014/main" id="{D1470387-16D9-4D7C-9A68-7767DA6A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2402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Can changes in a model’s confidence</a:t>
            </a:r>
          </a:p>
        </p:txBody>
      </p:sp>
      <p:sp>
        <p:nvSpPr>
          <p:cNvPr id="4" name="help identify predictions that are">
            <a:extLst xmlns:a="http://schemas.openxmlformats.org/drawingml/2006/main">
              <a:ext uri="{FF2B5EF4-FFF2-40B4-BE49-F238E27FC236}">
                <a16:creationId xmlns:a16="http://schemas.microsoft.com/office/drawing/2014/main" id="{68165677-CC07-4139-8074-75774F88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6220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help identify predictions that are</a:t>
            </a:r>
          </a:p>
        </p:txBody>
      </p:sp>
      <p:sp>
        <p:nvSpPr>
          <p:cNvPr id="5" name="likely to be unreliable?">
            <a:extLst xmlns:a="http://schemas.openxmlformats.org/drawingml/2006/main">
              <a:ext uri="{FF2B5EF4-FFF2-40B4-BE49-F238E27FC236}">
                <a16:creationId xmlns:a16="http://schemas.microsoft.com/office/drawing/2014/main" id="{5EE1F557-B055-4FCD-A7AB-9E6C1AA6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037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90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likely to be unreliable?</a:t>
            </a:r>
          </a:p>
        </p:txBody>
      </p:sp>
      <p:sp>
        <p:nvSpPr>
          <p:cNvPr id="6" name="The hypothesis">
            <a:extLst xmlns:a="http://schemas.openxmlformats.org/drawingml/2006/main">
              <a:ext uri="{FF2B5EF4-FFF2-40B4-BE49-F238E27FC236}">
                <a16:creationId xmlns:a16="http://schemas.microsoft.com/office/drawing/2014/main" id="{7758A7D0-344F-42DA-A4B2-A53DC0ED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The hypothesis</a:t>
            </a:r>
          </a:p>
        </p:txBody>
      </p:sp>
      <p:sp>
        <p:nvSpPr>
          <p:cNvPr id="7" name="Confidence history may help predict errors after a">
            <a:extLst xmlns:a="http://schemas.openxmlformats.org/drawingml/2006/main">
              <a:ext uri="{FF2B5EF4-FFF2-40B4-BE49-F238E27FC236}">
                <a16:creationId xmlns:a16="http://schemas.microsoft.com/office/drawing/2014/main" id="{847A2E34-1661-4841-9334-0A60C7F6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210050"/>
            <a:ext cx="7191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Confidence history may help predict errors after accounting for the current confidence value and corruption level.</a:t>
            </a:r>
          </a:p>
        </p:txBody>
      </p:sp>
      <p:sp>
        <p:nvSpPr>
          <p:cNvPr id="8" name="The A/B/C comparison isolates each additional sour">
            <a:extLst xmlns:a="http://schemas.openxmlformats.org/drawingml/2006/main">
              <a:ext uri="{FF2B5EF4-FFF2-40B4-BE49-F238E27FC236}">
                <a16:creationId xmlns:a16="http://schemas.microsoft.com/office/drawing/2014/main" id="{D3310955-0116-4DA0-8660-CBDEC3D0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638800"/>
            <a:ext cx="7191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A/B/C comparison isolates each additional source of information.</a:t>
            </a:r>
          </a:p>
        </p:txBody>
      </p:sp>
    </p:spTree>
    <p:extLst>
      <p:ext uri="{BB962C8B-B14F-4D97-AF65-F5344CB8AC3E}">
        <p14:creationId xmlns:p14="http://schemas.microsoft.com/office/powerpoint/2010/main" val="6170757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ask and dataset">
            <a:extLst xmlns:a="http://schemas.openxmlformats.org/drawingml/2006/main">
              <a:ext uri="{FF2B5EF4-FFF2-40B4-BE49-F238E27FC236}">
                <a16:creationId xmlns:a16="http://schemas.microsoft.com/office/drawing/2014/main" id="{78053C97-40DD-4E74-B358-7094B38E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Task and dataset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E8F147BB-0690-4A9B-A497-A7B8A32B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" name="1,754">
            <a:extLst xmlns:a="http://schemas.openxmlformats.org/drawingml/2006/main">
              <a:ext uri="{FF2B5EF4-FFF2-40B4-BE49-F238E27FC236}">
                <a16:creationId xmlns:a16="http://schemas.microsoft.com/office/drawing/2014/main" id="{3B23DDA3-29F4-40C7-B034-87ACB972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71625"/>
            <a:ext cx="5000625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7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1,754</a:t>
            </a:r>
          </a:p>
        </p:txBody>
      </p:sp>
      <p:sp>
        <p:nvSpPr>
          <p:cNvPr id="4" name="documents from 20 Newsgroups">
            <a:extLst xmlns:a="http://schemas.openxmlformats.org/drawingml/2006/main">
              <a:ext uri="{FF2B5EF4-FFF2-40B4-BE49-F238E27FC236}">
                <a16:creationId xmlns:a16="http://schemas.microsoft.com/office/drawing/2014/main" id="{FFB746EF-F497-4716-9907-458F4A9A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4905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documents from 20 Newsgroups</a:t>
            </a:r>
          </a:p>
        </p:txBody>
      </p:sp>
      <p:sp>
        <p:nvSpPr>
          <p:cNvPr id="5" name="1,315 training / 439 test">
            <a:extLst xmlns:a="http://schemas.openxmlformats.org/drawingml/2006/main">
              <a:ext uri="{FF2B5EF4-FFF2-40B4-BE49-F238E27FC236}">
                <a16:creationId xmlns:a16="http://schemas.microsoft.com/office/drawing/2014/main" id="{B121C03C-5BD6-4AF9-A75B-3FB28D43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76700"/>
            <a:ext cx="5095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1,315 training / 439 test</a:t>
            </a:r>
          </a:p>
        </p:txBody>
      </p:sp>
      <p:sp>
        <p:nvSpPr>
          <p:cNvPr id="6" name="Stratified split&#10;44.4% / 55.6% class balance">
            <a:extLst xmlns:a="http://schemas.openxmlformats.org/drawingml/2006/main">
              <a:ext uri="{FF2B5EF4-FFF2-40B4-BE49-F238E27FC236}">
                <a16:creationId xmlns:a16="http://schemas.microsoft.com/office/drawing/2014/main" id="{FB942BE4-D181-4505-BCFC-0C48BC98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4762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Stratified split</a:t>
            </a:r>
          </a:p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44.4% / 55.6% class balance</a:t>
            </a:r>
          </a:p>
        </p:txBody>
      </p:sp>
      <p:sp>
        <p:nvSpPr>
          <p:cNvPr id="7" name="Binary text classification">
            <a:extLst xmlns:a="http://schemas.openxmlformats.org/drawingml/2006/main">
              <a:ext uri="{FF2B5EF4-FFF2-40B4-BE49-F238E27FC236}">
                <a16:creationId xmlns:a16="http://schemas.microsoft.com/office/drawing/2014/main" id="{F01D5722-3D31-430B-A282-42D43F01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04975"/>
            <a:ext cx="5095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Binary text classification</a:t>
            </a:r>
          </a:p>
        </p:txBody>
      </p:sp>
      <p:sp>
        <p:nvSpPr>
          <p:cNvPr id="8" name="alt.atheism&#10;soc.religion.christian">
            <a:extLst xmlns:a="http://schemas.openxmlformats.org/drawingml/2006/main">
              <a:ext uri="{FF2B5EF4-FFF2-40B4-BE49-F238E27FC236}">
                <a16:creationId xmlns:a16="http://schemas.microsoft.com/office/drawing/2014/main" id="{935DE137-1184-4614-89B1-19ECBCFF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33625"/>
            <a:ext cx="5095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rPr>
              <a:t>alt.atheism</a:t>
            </a:r>
          </a:p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rPr>
              <a:t>soc.religion.christian</a:t>
            </a:r>
          </a:p>
        </p:txBody>
      </p:sp>
      <p:sp>
        <p:nvSpPr>
          <p:cNvPr id="9" name="Overlapping vocabulary makes the task less trivial">
            <a:extLst xmlns:a="http://schemas.openxmlformats.org/drawingml/2006/main">
              <a:ext uri="{FF2B5EF4-FFF2-40B4-BE49-F238E27FC236}">
                <a16:creationId xmlns:a16="http://schemas.microsoft.com/office/drawing/2014/main" id="{AB9A64F3-7CCC-480F-8B15-5E6740AE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476625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Overlapping vocabulary makes the task less trivial.</a:t>
            </a:r>
          </a:p>
        </p:txBody>
      </p:sp>
      <p:sp>
        <p:nvSpPr>
          <p:cNvPr id="10" name="Headers, footers and quoted text removed to reduce">
            <a:extLst xmlns:a="http://schemas.openxmlformats.org/drawingml/2006/main">
              <a:ext uri="{FF2B5EF4-FFF2-40B4-BE49-F238E27FC236}">
                <a16:creationId xmlns:a16="http://schemas.microsoft.com/office/drawing/2014/main" id="{00A255C1-9953-4622-93AD-77C10125B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38650"/>
            <a:ext cx="495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Headers, footers and quoted text removed to reduce metadata leakage.</a:t>
            </a:r>
          </a:p>
        </p:txBody>
      </p:sp>
      <p:sp>
        <p:nvSpPr>
          <p:cNvPr id="11" name="Ground truth: the newsgroup that published each po">
            <a:extLst xmlns:a="http://schemas.openxmlformats.org/drawingml/2006/main">
              <a:ext uri="{FF2B5EF4-FFF2-40B4-BE49-F238E27FC236}">
                <a16:creationId xmlns:a16="http://schemas.microsoft.com/office/drawing/2014/main" id="{7E05A0B1-ABE1-4899-A48F-B7859117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438775"/>
            <a:ext cx="495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Ground truth: the newsgroup that published each post.</a:t>
            </a:r>
          </a:p>
        </p:txBody>
      </p:sp>
      <p:sp>
        <p:nvSpPr>
          <p:cNvPr id="12" name="Source: scikit-learn’s official 20 Newsgroups mirr">
            <a:extLst xmlns:a="http://schemas.openxmlformats.org/drawingml/2006/main">
              <a:ext uri="{FF2B5EF4-FFF2-40B4-BE49-F238E27FC236}">
                <a16:creationId xmlns:a16="http://schemas.microsoft.com/office/drawing/2014/main" id="{1AA3A766-5BAD-44DC-A4D1-16388D85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2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Source: scikit-learn’s official 20 Newsgroups mirror (fetch_20newsgroups)</a:t>
            </a:r>
          </a:p>
        </p:txBody>
      </p:sp>
    </p:spTree>
    <p:extLst>
      <p:ext uri="{BB962C8B-B14F-4D97-AF65-F5344CB8AC3E}">
        <p14:creationId xmlns:p14="http://schemas.microsoft.com/office/powerpoint/2010/main" val="15400173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he research pipeline">
            <a:extLst xmlns:a="http://schemas.openxmlformats.org/drawingml/2006/main">
              <a:ext uri="{FF2B5EF4-FFF2-40B4-BE49-F238E27FC236}">
                <a16:creationId xmlns:a16="http://schemas.microsoft.com/office/drawing/2014/main" id="{22B4A6A4-B504-4249-B16D-9C3A1261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research pipeline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1C5A271E-18C3-48DC-A622-B1D1E0CC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A232D765-EE3A-413B-9A5E-440878244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4" name="Train the base classifier">
            <a:extLst xmlns:a="http://schemas.openxmlformats.org/drawingml/2006/main">
              <a:ext uri="{FF2B5EF4-FFF2-40B4-BE49-F238E27FC236}">
                <a16:creationId xmlns:a16="http://schemas.microsoft.com/office/drawing/2014/main" id="{0B3F0E1F-F4A3-4872-88DA-B138427F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16002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Train the base classifier</a:t>
            </a:r>
          </a:p>
        </p:txBody>
      </p:sp>
      <p:sp>
        <p:nvSpPr>
          <p:cNvPr id="5" name="TF-IDF + Logistic Regression for text classificati">
            <a:extLst xmlns:a="http://schemas.openxmlformats.org/drawingml/2006/main">
              <a:ext uri="{FF2B5EF4-FFF2-40B4-BE49-F238E27FC236}">
                <a16:creationId xmlns:a16="http://schemas.microsoft.com/office/drawing/2014/main" id="{12FEAD71-C409-4E15-8536-FDBA11F47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0002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TF-IDF + Logistic Regression for text classification.</a:t>
            </a:r>
          </a:p>
        </p:txBody>
      </p:sp>
      <p:sp>
        <p:nvSpPr>
          <p:cNvPr id="6" name="02">
            <a:extLst xmlns:a="http://schemas.openxmlformats.org/drawingml/2006/main">
              <a:ext uri="{FF2B5EF4-FFF2-40B4-BE49-F238E27FC236}">
                <a16:creationId xmlns:a16="http://schemas.microsoft.com/office/drawing/2014/main" id="{B6874D0B-F9C1-4CC8-B896-14CD48EB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1460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7" name="Generate confidence sequences">
            <a:extLst xmlns:a="http://schemas.openxmlformats.org/drawingml/2006/main">
              <a:ext uri="{FF2B5EF4-FFF2-40B4-BE49-F238E27FC236}">
                <a16:creationId xmlns:a16="http://schemas.microsoft.com/office/drawing/2014/main" id="{71DD21EB-3DD7-491C-8564-BB07907E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5336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Generate confidence sequences</a:t>
            </a:r>
          </a:p>
        </p:txBody>
      </p:sp>
      <p:sp>
        <p:nvSpPr>
          <p:cNvPr id="8" name="Re-classify each test document at six corruption l">
            <a:extLst xmlns:a="http://schemas.openxmlformats.org/drawingml/2006/main">
              <a:ext uri="{FF2B5EF4-FFF2-40B4-BE49-F238E27FC236}">
                <a16:creationId xmlns:a16="http://schemas.microsoft.com/office/drawing/2014/main" id="{264635BD-73F9-4B66-8DF2-A1950BDD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93370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Re-classify each test document at six corruption levels.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7131CB61-16C7-49B7-AFA8-D0ADE0533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0" name="Engineer drift features">
            <a:extLst xmlns:a="http://schemas.openxmlformats.org/drawingml/2006/main">
              <a:ext uri="{FF2B5EF4-FFF2-40B4-BE49-F238E27FC236}">
                <a16:creationId xmlns:a16="http://schemas.microsoft.com/office/drawing/2014/main" id="{6827626A-1A69-476E-887F-3D11C3CB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3467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Engineer drift features</a:t>
            </a:r>
          </a:p>
        </p:txBody>
      </p:sp>
      <p:sp>
        <p:nvSpPr>
          <p:cNvPr id="11" name="Moving statistics, deltas, consecutive drops and m">
            <a:extLst xmlns:a="http://schemas.openxmlformats.org/drawingml/2006/main">
              <a:ext uri="{FF2B5EF4-FFF2-40B4-BE49-F238E27FC236}">
                <a16:creationId xmlns:a16="http://schemas.microsoft.com/office/drawing/2014/main" id="{1ED59C98-AB32-4083-9C93-B9B1147B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38671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Moving statistics, deltas, consecutive drops and margin.</a:t>
            </a:r>
          </a:p>
        </p:txBody>
      </p:sp>
      <p:sp>
        <p:nvSpPr>
          <p:cNvPr id="12" name="04">
            <a:extLst xmlns:a="http://schemas.openxmlformats.org/drawingml/2006/main">
              <a:ext uri="{FF2B5EF4-FFF2-40B4-BE49-F238E27FC236}">
                <a16:creationId xmlns:a16="http://schemas.microsoft.com/office/drawing/2014/main" id="{A0992451-7C24-40C0-8CD8-52345904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3" name="Train a second model">
            <a:extLst xmlns:a="http://schemas.openxmlformats.org/drawingml/2006/main">
              <a:ext uri="{FF2B5EF4-FFF2-40B4-BE49-F238E27FC236}">
                <a16:creationId xmlns:a16="http://schemas.microsoft.com/office/drawing/2014/main" id="{402AD468-29EA-4606-96D0-CA1FDDE7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4005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Train a second model</a:t>
            </a:r>
          </a:p>
        </p:txBody>
      </p:sp>
      <p:sp>
        <p:nvSpPr>
          <p:cNvPr id="14" name="Predict whether a classification is unreliable.">
            <a:extLst xmlns:a="http://schemas.openxmlformats.org/drawingml/2006/main">
              <a:ext uri="{FF2B5EF4-FFF2-40B4-BE49-F238E27FC236}">
                <a16:creationId xmlns:a16="http://schemas.microsoft.com/office/drawing/2014/main" id="{F5D58237-867E-43FF-AD94-A32BE7E9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80060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Predict whether a classification is unreliable.</a:t>
            </a:r>
          </a:p>
        </p:txBody>
      </p:sp>
      <p:sp>
        <p:nvSpPr>
          <p:cNvPr id="15" name="05">
            <a:extLst xmlns:a="http://schemas.openxmlformats.org/drawingml/2006/main">
              <a:ext uri="{FF2B5EF4-FFF2-40B4-BE49-F238E27FC236}">
                <a16:creationId xmlns:a16="http://schemas.microsoft.com/office/drawing/2014/main" id="{F75E3820-5231-4421-8667-FB4FF91E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16" name="Evaluate the detector">
            <a:extLst xmlns:a="http://schemas.openxmlformats.org/drawingml/2006/main">
              <a:ext uri="{FF2B5EF4-FFF2-40B4-BE49-F238E27FC236}">
                <a16:creationId xmlns:a16="http://schemas.microsoft.com/office/drawing/2014/main" id="{9EAC8CEF-3AF3-4FD4-B887-C3BD2B7E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34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Evaluate the detector</a:t>
            </a:r>
          </a:p>
        </p:txBody>
      </p:sp>
      <p:sp>
        <p:nvSpPr>
          <p:cNvPr id="17" name="Calibration, high-confidence errors and an A/B/C c">
            <a:extLst xmlns:a="http://schemas.openxmlformats.org/drawingml/2006/main">
              <a:ext uri="{FF2B5EF4-FFF2-40B4-BE49-F238E27FC236}">
                <a16:creationId xmlns:a16="http://schemas.microsoft.com/office/drawing/2014/main" id="{D2852D5C-CBBF-4BE0-94D6-14D310C0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7340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Calibration, high-confidence errors and an A/B/C comparison.</a:t>
            </a:r>
          </a:p>
        </p:txBody>
      </p:sp>
    </p:spTree>
    <p:extLst>
      <p:ext uri="{BB962C8B-B14F-4D97-AF65-F5344CB8AC3E}">
        <p14:creationId xmlns:p14="http://schemas.microsoft.com/office/powerpoint/2010/main" val="5614442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w confidence changes">
            <a:extLst xmlns:a="http://schemas.openxmlformats.org/drawingml/2006/main">
              <a:ext uri="{FF2B5EF4-FFF2-40B4-BE49-F238E27FC236}">
                <a16:creationId xmlns:a16="http://schemas.microsoft.com/office/drawing/2014/main" id="{F4E6D642-45D2-4421-8243-36C60C4C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How confidence changes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21481AE8-0248-4DF1-A8A3-715AF45D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3" name="Six levels, from 0% to 50% of words removed and sh">
            <a:extLst xmlns:a="http://schemas.openxmlformats.org/drawingml/2006/main">
              <a:ext uri="{FF2B5EF4-FFF2-40B4-BE49-F238E27FC236}">
                <a16:creationId xmlns:a16="http://schemas.microsoft.com/office/drawing/2014/main" id="{7E46B2DB-8CEB-49C5-9679-C8926435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Six levels, from 0% to 50% of words removed and shuffled. Each confidence value is a real model output.</a:t>
            </a:r>
          </a:p>
        </p:txBody>
      </p:sp>
      <p:sp>
        <p:nvSpPr>
          <p:cNvPr id="4" name="Two contrasting examples">
            <a:extLst xmlns:a="http://schemas.openxmlformats.org/drawingml/2006/main">
              <a:ext uri="{FF2B5EF4-FFF2-40B4-BE49-F238E27FC236}">
                <a16:creationId xmlns:a16="http://schemas.microsoft.com/office/drawing/2014/main" id="{DFB0EBB2-67C9-414E-BBD6-57828FD2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476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Two contrasting examples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66750" y="3048000"/>
          <a:ext xmlns:a="http://schemas.openxmlformats.org/drawingml/2006/main" cx="4762500" cy="25146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800100"/>
                <a:gridCol w="1981200"/>
                <a:gridCol w="1981200"/>
              </a:tblGrid>
              <a:tr h="40005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Step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doc_00750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doc_01280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0.963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0.889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0.771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0.778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0.682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0.948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0.842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0.949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0.651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  <p:sp>
        <p:nvSpPr>
          <p:cNvPr id="6" name="Stayed wrong">
            <a:extLst xmlns:a="http://schemas.openxmlformats.org/drawingml/2006/main">
              <a:ext uri="{FF2B5EF4-FFF2-40B4-BE49-F238E27FC236}">
                <a16:creationId xmlns:a16="http://schemas.microsoft.com/office/drawing/2014/main" id="{B30CDB79-BC1E-4B20-9D4B-D0A3E379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2705100"/>
            <a:ext cx="1838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8B4C3B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8B4C3B"/>
                </a:solidFill>
                <a:latin typeface="Calibri"/>
                <a:ea typeface="Calibri"/>
                <a:cs typeface="Calibri"/>
              </a:rPr>
              <a:t>Stayed wrong</a:t>
            </a:r>
          </a:p>
        </p:txBody>
      </p:sp>
      <p:sp>
        <p:nvSpPr>
          <p:cNvPr id="7" name="Stayed correct">
            <a:extLst xmlns:a="http://schemas.openxmlformats.org/drawingml/2006/main">
              <a:ext uri="{FF2B5EF4-FFF2-40B4-BE49-F238E27FC236}">
                <a16:creationId xmlns:a16="http://schemas.microsoft.com/office/drawing/2014/main" id="{C91B0D20-4DDA-4D9A-A945-A9870A36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05100"/>
            <a:ext cx="18954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677B68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677B68"/>
                </a:solidFill>
                <a:latin typeface="Calibri"/>
                <a:ea typeface="Calibri"/>
                <a:cs typeface="Calibri"/>
              </a:rPr>
              <a:t>Stayed correct</a:t>
            </a:r>
          </a:p>
        </p:txBody>
      </p:sp>
      <p:sp>
        <p:nvSpPr>
          <p:cNvPr id="8" name="Confidence">
            <a:extLst xmlns:a="http://schemas.openxmlformats.org/drawingml/2006/main">
              <a:ext uri="{FF2B5EF4-FFF2-40B4-BE49-F238E27FC236}">
                <a16:creationId xmlns:a16="http://schemas.microsoft.com/office/drawing/2014/main" id="{34E592FB-7FB6-4619-869C-3DDE51D5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114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Confidence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905500" y="2419350"/>
          <a:ext xmlns:a="http://schemas.openxmlformats.org/drawingml/2006/main" cx="5667375" cy="3314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174d91d40f4cff"/>
          </a:graphicData>
        </a:graphic>
      </p:graphicFrame>
      <p:sp>
        <p:nvSpPr>
          <p:cNvPr id="10" name="12 test documents. Green: correct at the final ste">
            <a:extLst xmlns:a="http://schemas.openxmlformats.org/drawingml/2006/main">
              <a:ext uri="{FF2B5EF4-FFF2-40B4-BE49-F238E27FC236}">
                <a16:creationId xmlns:a16="http://schemas.microsoft.com/office/drawing/2014/main" id="{E05D33A0-99F7-4F50-A0AE-F4389E94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19775"/>
            <a:ext cx="528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12 test documents. Green: correct at the final step. Rust: incorrect.</a:t>
            </a:r>
          </a:p>
        </p:txBody>
      </p:sp>
      <p:sp>
        <p:nvSpPr>
          <p:cNvPr id="11" name="Sequences simulate repeated predictions through te">
            <a:extLst xmlns:a="http://schemas.openxmlformats.org/drawingml/2006/main">
              <a:ext uri="{FF2B5EF4-FFF2-40B4-BE49-F238E27FC236}">
                <a16:creationId xmlns:a16="http://schemas.microsoft.com/office/drawing/2014/main" id="{68BE24BB-E2DE-4683-8F36-B324CE44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191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Sequences simulate repeated predictions through text corruption.</a:t>
            </a:r>
          </a:p>
        </p:txBody>
      </p:sp>
    </p:spTree>
    <p:extLst>
      <p:ext uri="{BB962C8B-B14F-4D97-AF65-F5344CB8AC3E}">
        <p14:creationId xmlns:p14="http://schemas.microsoft.com/office/powerpoint/2010/main" val="9115595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natomy of a confidence sequence">
            <a:extLst xmlns:a="http://schemas.openxmlformats.org/drawingml/2006/main">
              <a:ext uri="{FF2B5EF4-FFF2-40B4-BE49-F238E27FC236}">
                <a16:creationId xmlns:a16="http://schemas.microsoft.com/office/drawing/2014/main" id="{0CBFBA50-3327-4D68-B41C-0F57D64E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Anatomy of a confidence sequence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DAAC50C9-9303-4181-8E1E-DD67BEEB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" name="13 features, compared with simpler baselines in th">
            <a:extLst xmlns:a="http://schemas.openxmlformats.org/drawingml/2006/main">
              <a:ext uri="{FF2B5EF4-FFF2-40B4-BE49-F238E27FC236}">
                <a16:creationId xmlns:a16="http://schemas.microsoft.com/office/drawing/2014/main" id="{52ADD828-CE07-485E-AB99-88271DCB8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668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13 features, compared with simpler baselines in the experiments.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66750" y="2190750"/>
          <a:ext xmlns:a="http://schemas.openxmlformats.org/drawingml/2006/main" cx="10810875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714625"/>
                <a:gridCol w="8096250"/>
              </a:tblGrid>
              <a:tr h="47625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Group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Features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Context (2)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step, corruption_level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Current (2)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confidence, prediction_margin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History: change (4)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prev_confidence, confidence_diff,</a:t>
                      </a:r>
                    </a:p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confidence_pct_change, rate_of_change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History: pattern (5)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moving_avg_confidence, moving_std_confidence,</a:t>
                      </a:r>
                    </a:p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rolling_std_confidence, confidence_range_so_far, consecutive_decreases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0855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nfidence carries signal">
            <a:extLst xmlns:a="http://schemas.openxmlformats.org/drawingml/2006/main">
              <a:ext uri="{FF2B5EF4-FFF2-40B4-BE49-F238E27FC236}">
                <a16:creationId xmlns:a16="http://schemas.microsoft.com/office/drawing/2014/main" id="{F401A666-5C94-4E34-BA1A-C576D335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Confidence carries signal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C148FB23-E38C-4C2F-9B67-DAE02979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" name="Accuracy across 439 uncorrupted test predictions">
            <a:extLst xmlns:a="http://schemas.openxmlformats.org/drawingml/2006/main">
              <a:ext uri="{FF2B5EF4-FFF2-40B4-BE49-F238E27FC236}">
                <a16:creationId xmlns:a16="http://schemas.microsoft.com/office/drawing/2014/main" id="{919E1A65-E436-4870-A82F-CADA5F2E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Accuracy across 439 uncorrupted test predictions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628650" y="2171700"/>
          <a:ext xmlns:a="http://schemas.openxmlformats.org/drawingml/2006/main" cx="6429375" cy="3638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64d363ba0546a6"/>
          </a:graphicData>
        </a:graphic>
      </p:graphicFrame>
      <p:graphicFrame>
        <p:nvGraphicFramePr>
          <p:cNvPr id="11" name=""/>
          <p:cNvGraphicFramePr/>
          <p:nvPr/>
        </p:nvGraphicFramePr>
        <p:xfrm>
          <a:off xmlns:a="http://schemas.openxmlformats.org/drawingml/2006/main" x="7639050" y="2238375"/>
          <a:ext xmlns:a="http://schemas.openxmlformats.org/drawingml/2006/main" cx="3867150" cy="22860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533525"/>
                <a:gridCol w="733425"/>
                <a:gridCol w="1600200"/>
              </a:tblGrid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Confidence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Accuracy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40–60%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156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63.5%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60–80%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223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90.1%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80–100%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60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93.3%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  <p:sp>
        <p:nvSpPr>
          <p:cNvPr id="6" name="Confidence carries signal, but calibration remains">
            <a:extLst xmlns:a="http://schemas.openxmlformats.org/drawingml/2006/main">
              <a:ext uri="{FF2B5EF4-FFF2-40B4-BE49-F238E27FC236}">
                <a16:creationId xmlns:a16="http://schemas.microsoft.com/office/drawing/2014/main" id="{BF22F8F7-736F-4BC6-94ED-9A884E57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4943475"/>
            <a:ext cx="37814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Confidence carries signal, but calibration remains imperfect.</a:t>
            </a:r>
          </a:p>
        </p:txBody>
      </p:sp>
    </p:spTree>
    <p:extLst>
      <p:ext uri="{BB962C8B-B14F-4D97-AF65-F5344CB8AC3E}">
        <p14:creationId xmlns:p14="http://schemas.microsoft.com/office/powerpoint/2010/main" val="15819224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he calibration gap">
            <a:extLst xmlns:a="http://schemas.openxmlformats.org/drawingml/2006/main">
              <a:ext uri="{FF2B5EF4-FFF2-40B4-BE49-F238E27FC236}">
                <a16:creationId xmlns:a16="http://schemas.microsoft.com/office/drawing/2014/main" id="{7CB028A5-A899-4C8F-A4F1-8AB0BFFC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calibration gap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3B38A593-F765-405F-80B9-1EBB88BB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09</a:t>
            </a:r>
          </a:p>
        </p:txBody>
      </p:sp>
      <p:sp>
        <p:nvSpPr>
          <p:cNvPr id="3" name="Reliability diagram for uncorrupted test predictio">
            <a:extLst xmlns:a="http://schemas.openxmlformats.org/drawingml/2006/main">
              <a:ext uri="{FF2B5EF4-FFF2-40B4-BE49-F238E27FC236}">
                <a16:creationId xmlns:a16="http://schemas.microsoft.com/office/drawing/2014/main" id="{9842E7BC-AA9F-49D3-8E24-9C34B49E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Reliability diagram for uncorrupted test predictions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19125" y="2095500"/>
          <a:ext xmlns:a="http://schemas.openxmlformats.org/drawingml/2006/main" cx="6000750" cy="3876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b7875ab74184ee2"/>
          </a:graphicData>
        </a:graphic>
      </p:graphicFrame>
      <p:sp>
        <p:nvSpPr>
          <p:cNvPr id="5" name="0.153">
            <a:extLst xmlns:a="http://schemas.openxmlformats.org/drawingml/2006/main">
              <a:ext uri="{FF2B5EF4-FFF2-40B4-BE49-F238E27FC236}">
                <a16:creationId xmlns:a16="http://schemas.microsoft.com/office/drawing/2014/main" id="{2600BF51-3B0E-4E05-AC24-85BC99CF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105025"/>
            <a:ext cx="2209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0.153</a:t>
            </a:r>
          </a:p>
        </p:txBody>
      </p:sp>
      <p:sp>
        <p:nvSpPr>
          <p:cNvPr id="6" name="0.160">
            <a:extLst xmlns:a="http://schemas.openxmlformats.org/drawingml/2006/main">
              <a:ext uri="{FF2B5EF4-FFF2-40B4-BE49-F238E27FC236}">
                <a16:creationId xmlns:a16="http://schemas.microsoft.com/office/drawing/2014/main" id="{9A183EF1-F70E-4369-8A39-2ACACE62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105025"/>
            <a:ext cx="19240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0.160</a:t>
            </a:r>
          </a:p>
        </p:txBody>
      </p:sp>
      <p:sp>
        <p:nvSpPr>
          <p:cNvPr id="7" name="Calibration error">
            <a:extLst xmlns:a="http://schemas.openxmlformats.org/drawingml/2006/main">
              <a:ext uri="{FF2B5EF4-FFF2-40B4-BE49-F238E27FC236}">
                <a16:creationId xmlns:a16="http://schemas.microsoft.com/office/drawing/2014/main" id="{18D7D8A2-119A-4E9F-99D1-008B9ED0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943225"/>
            <a:ext cx="23717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Calibration error</a:t>
            </a:r>
          </a:p>
        </p:txBody>
      </p:sp>
      <p:sp>
        <p:nvSpPr>
          <p:cNvPr id="8" name="Brier score">
            <a:extLst xmlns:a="http://schemas.openxmlformats.org/drawingml/2006/main">
              <a:ext uri="{FF2B5EF4-FFF2-40B4-BE49-F238E27FC236}">
                <a16:creationId xmlns:a16="http://schemas.microsoft.com/office/drawing/2014/main" id="{0AB3F69E-D520-462F-A1BC-3F9B6A2C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43225"/>
            <a:ext cx="1952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Brier score</a:t>
            </a:r>
          </a:p>
        </p:txBody>
      </p:sp>
      <p:sp>
        <p:nvSpPr>
          <p:cNvPr id="9" name="Under-confident at 0.6–0.9">
            <a:extLst xmlns:a="http://schemas.openxmlformats.org/drawingml/2006/main">
              <a:ext uri="{FF2B5EF4-FFF2-40B4-BE49-F238E27FC236}">
                <a16:creationId xmlns:a16="http://schemas.microsoft.com/office/drawing/2014/main" id="{60D4363A-E581-40E0-93BF-721309DC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657600"/>
            <a:ext cx="4429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Under-confident at 0.6–0.9</a:t>
            </a:r>
          </a:p>
        </p:txBody>
      </p:sp>
      <p:sp>
        <p:nvSpPr>
          <p:cNvPr id="10" name="Observed accuracy exceeds stated confidence in thi">
            <a:extLst xmlns:a="http://schemas.openxmlformats.org/drawingml/2006/main">
              <a:ext uri="{FF2B5EF4-FFF2-40B4-BE49-F238E27FC236}">
                <a16:creationId xmlns:a16="http://schemas.microsoft.com/office/drawing/2014/main" id="{19251612-A919-4A20-9E2A-B5CE47D3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62425"/>
            <a:ext cx="438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Observed accuracy exceeds stated confidence in this range.</a:t>
            </a:r>
          </a:p>
        </p:txBody>
      </p:sp>
      <p:sp>
        <p:nvSpPr>
          <p:cNvPr id="11" name="The top bin has only 10 samples: 80% accuracy, ver">
            <a:extLst xmlns:a="http://schemas.openxmlformats.org/drawingml/2006/main">
              <a:ext uri="{FF2B5EF4-FFF2-40B4-BE49-F238E27FC236}">
                <a16:creationId xmlns:a16="http://schemas.microsoft.com/office/drawing/2014/main" id="{621364E3-AE0E-430F-BF69-C666A24F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5172075"/>
            <a:ext cx="4381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top bin has only 10 samples: 80% accuracy, versus 96% in the bin below. Small-sample noise may explain the dip.</a:t>
            </a:r>
          </a:p>
        </p:txBody>
      </p:sp>
    </p:spTree>
    <p:extLst>
      <p:ext uri="{BB962C8B-B14F-4D97-AF65-F5344CB8AC3E}">
        <p14:creationId xmlns:p14="http://schemas.microsoft.com/office/powerpoint/2010/main" val="11473645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nfident errors">
            <a:extLst xmlns:a="http://schemas.openxmlformats.org/drawingml/2006/main">
              <a:ext uri="{FF2B5EF4-FFF2-40B4-BE49-F238E27FC236}">
                <a16:creationId xmlns:a16="http://schemas.microsoft.com/office/drawing/2014/main" id="{6B61BBFA-794F-417F-8A97-9C721621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Confident errors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940A5B27-CB6C-46AB-B59A-84729A41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sp>
        <p:nvSpPr>
          <p:cNvPr id="3" name="6 of 100">
            <a:extLst xmlns:a="http://schemas.openxmlformats.org/drawingml/2006/main">
              <a:ext uri="{FF2B5EF4-FFF2-40B4-BE49-F238E27FC236}">
                <a16:creationId xmlns:a16="http://schemas.microsoft.com/office/drawing/2014/main" id="{6AA2187C-7D71-42F6-8BBB-38E40523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70485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95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795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6 of 100</a:t>
            </a:r>
          </a:p>
        </p:txBody>
      </p:sp>
      <p:sp>
        <p:nvSpPr>
          <p:cNvPr id="4" name="high-confidence predictions were wrong">
            <a:extLst xmlns:a="http://schemas.openxmlformats.org/drawingml/2006/main">
              <a:ext uri="{FF2B5EF4-FFF2-40B4-BE49-F238E27FC236}">
                <a16:creationId xmlns:a16="http://schemas.microsoft.com/office/drawing/2014/main" id="{BA82D965-C791-4895-B7A9-A0E7A7F1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28975"/>
            <a:ext cx="10382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high-confidence predictions were wrong</a:t>
            </a:r>
          </a:p>
        </p:txBody>
      </p:sp>
      <p:sp>
        <p:nvSpPr>
          <p:cNvPr id="5" name="100 of 439 predictions reached at least 75% confid">
            <a:extLst xmlns:a="http://schemas.openxmlformats.org/drawingml/2006/main">
              <a:ext uri="{FF2B5EF4-FFF2-40B4-BE49-F238E27FC236}">
                <a16:creationId xmlns:a16="http://schemas.microsoft.com/office/drawing/2014/main" id="{C13C7CCF-F1E3-4EF3-B46E-B1919F3B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05727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100 of 439 predictions reached at least 75% confidence.</a:t>
            </a:r>
          </a:p>
          <a:p xmlns:a="http://schemas.openxmlformats.org/drawingml/2006/main">
            <a:pPr algn="l">
              <a:def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That is 22.8% of the test set, with a 6.0% error rate in this group.</a:t>
            </a:r>
          </a:p>
        </p:txBody>
      </p:sp>
      <p:sp>
        <p:nvSpPr>
          <p:cNvPr id="6" name="All six errors">
            <a:extLst xmlns:a="http://schemas.openxmlformats.org/drawingml/2006/main">
              <a:ext uri="{FF2B5EF4-FFF2-40B4-BE49-F238E27FC236}">
                <a16:creationId xmlns:a16="http://schemas.microsoft.com/office/drawing/2014/main" id="{3FE7DA8B-E13C-4BDA-B14C-DE467A91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2705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All six errors</a:t>
            </a:r>
          </a:p>
        </p:txBody>
      </p:sp>
      <p:sp>
        <p:nvSpPr>
          <p:cNvPr id="7" name="True label: alt.atheism&#10;Predicted: soc.religion.ch">
            <a:extLst xmlns:a="http://schemas.openxmlformats.org/drawingml/2006/main">
              <a:ext uri="{FF2B5EF4-FFF2-40B4-BE49-F238E27FC236}">
                <a16:creationId xmlns:a16="http://schemas.microsoft.com/office/drawing/2014/main" id="{F0E6F112-6803-43EC-8697-4EAEFC58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53100"/>
            <a:ext cx="50958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True label: alt.atheism</a:t>
            </a:r>
          </a:p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Predicted: soc.religion.christian</a:t>
            </a:r>
          </a:p>
        </p:txBody>
      </p:sp>
      <p:sp>
        <p:nvSpPr>
          <p:cNvPr id="8" name="Detector check">
            <a:extLst xmlns:a="http://schemas.openxmlformats.org/drawingml/2006/main">
              <a:ext uri="{FF2B5EF4-FFF2-40B4-BE49-F238E27FC236}">
                <a16:creationId xmlns:a16="http://schemas.microsoft.com/office/drawing/2014/main" id="{903AAD08-9F64-46E9-AB64-35E8DA53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295900"/>
            <a:ext cx="5219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Detector check</a:t>
            </a:r>
          </a:p>
        </p:txBody>
      </p:sp>
      <p:sp>
        <p:nvSpPr>
          <p:cNvPr id="9" name="It caught 0 of these 6 errors in five-fold,&#10;docume">
            <a:extLst xmlns:a="http://schemas.openxmlformats.org/drawingml/2006/main">
              <a:ext uri="{FF2B5EF4-FFF2-40B4-BE49-F238E27FC236}">
                <a16:creationId xmlns:a16="http://schemas.microsoft.com/office/drawing/2014/main" id="{F7C7C4DF-AB2D-4619-B6A3-A028DFEF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753100"/>
            <a:ext cx="521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It caught 0 of these 6 errors in five-fold,</a:t>
            </a:r>
          </a:p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document-grouped out-of-fold testing.</a:t>
            </a:r>
          </a:p>
        </p:txBody>
      </p:sp>
    </p:spTree>
    <p:extLst>
      <p:ext uri="{BB962C8B-B14F-4D97-AF65-F5344CB8AC3E}">
        <p14:creationId xmlns:p14="http://schemas.microsoft.com/office/powerpoint/2010/main" val="4939525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What drift features add">
            <a:extLst xmlns:a="http://schemas.openxmlformats.org/drawingml/2006/main">
              <a:ext uri="{FF2B5EF4-FFF2-40B4-BE49-F238E27FC236}">
                <a16:creationId xmlns:a16="http://schemas.microsoft.com/office/drawing/2014/main" id="{D8D349D9-E637-4496-BED5-CB4E7AF5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What drift features add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9B33622D-6443-4734-A70D-06297767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11</a:t>
            </a:r>
          </a:p>
        </p:txBody>
      </p:sp>
      <p:sp>
        <p:nvSpPr>
          <p:cNvPr id="3" name="Pooled out-of-fold results · five document-grouped">
            <a:extLst xmlns:a="http://schemas.openxmlformats.org/drawingml/2006/main">
              <a:ext uri="{FF2B5EF4-FFF2-40B4-BE49-F238E27FC236}">
                <a16:creationId xmlns:a16="http://schemas.microsoft.com/office/drawing/2014/main" id="{C38E96F8-5420-4071-9833-7E22FA80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38275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Pooled out-of-fold results · five document-grouped folds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66750" y="2114550"/>
          <a:ext xmlns:a="http://schemas.openxmlformats.org/drawingml/2006/main" cx="10810875" cy="24003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619250"/>
                <a:gridCol w="5667375"/>
                <a:gridCol w="1619250"/>
                <a:gridCol w="1905000"/>
              </a:tblGrid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Experiment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Features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F1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ROC-AUC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Corruption context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0.296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0.509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B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A + current confidence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0.468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0.729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B + nine history features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0.508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0.763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</a:tr>
            </a:tbl>
          </a:graphicData>
        </a:graphic>
      </p:graphicFrame>
      <p:sp>
        <p:nvSpPr>
          <p:cNvPr id="5" name="+0.040">
            <a:extLst xmlns:a="http://schemas.openxmlformats.org/drawingml/2006/main">
              <a:ext uri="{FF2B5EF4-FFF2-40B4-BE49-F238E27FC236}">
                <a16:creationId xmlns:a16="http://schemas.microsoft.com/office/drawing/2014/main" id="{9CD04769-D772-4079-AA2C-537EFFFD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9175"/>
            <a:ext cx="28765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+0.040</a:t>
            </a:r>
          </a:p>
        </p:txBody>
      </p:sp>
      <p:sp>
        <p:nvSpPr>
          <p:cNvPr id="6" name="F1 improvement, B to C">
            <a:extLst xmlns:a="http://schemas.openxmlformats.org/drawingml/2006/main">
              <a:ext uri="{FF2B5EF4-FFF2-40B4-BE49-F238E27FC236}">
                <a16:creationId xmlns:a16="http://schemas.microsoft.com/office/drawing/2014/main" id="{CA69062F-BF06-48F0-95EA-A64179EB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95950"/>
            <a:ext cx="34861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F1 improvement, B to C</a:t>
            </a:r>
          </a:p>
        </p:txBody>
      </p:sp>
      <p:sp>
        <p:nvSpPr>
          <p:cNvPr id="7" name="+0.034">
            <a:extLst xmlns:a="http://schemas.openxmlformats.org/drawingml/2006/main">
              <a:ext uri="{FF2B5EF4-FFF2-40B4-BE49-F238E27FC236}">
                <a16:creationId xmlns:a16="http://schemas.microsoft.com/office/drawing/2014/main" id="{B584DB53-3574-4FA7-8A2A-34DFBE44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9175"/>
            <a:ext cx="30670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+0.034</a:t>
            </a:r>
          </a:p>
        </p:txBody>
      </p:sp>
      <p:sp>
        <p:nvSpPr>
          <p:cNvPr id="8" name="ROC-AUC improvement, B to C">
            <a:extLst xmlns:a="http://schemas.openxmlformats.org/drawingml/2006/main">
              <a:ext uri="{FF2B5EF4-FFF2-40B4-BE49-F238E27FC236}">
                <a16:creationId xmlns:a16="http://schemas.microsoft.com/office/drawing/2014/main" id="{9B8ACBC2-B0CD-44B1-AF9F-513307B6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5695950"/>
            <a:ext cx="41529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ROC-AUC improvement, B to C</a:t>
            </a:r>
          </a:p>
        </p:txBody>
      </p:sp>
      <p:sp>
        <p:nvSpPr>
          <p:cNvPr id="9" name="History adds a&#10;modest gain.">
            <a:extLst xmlns:a="http://schemas.openxmlformats.org/drawingml/2006/main">
              <a:ext uri="{FF2B5EF4-FFF2-40B4-BE49-F238E27FC236}">
                <a16:creationId xmlns:a16="http://schemas.microsoft.com/office/drawing/2014/main" id="{237E0698-56E7-4550-BAF5-9502C5AB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029200"/>
            <a:ext cx="26003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History adds a</a:t>
            </a:r>
          </a:p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modest gain.</a:t>
            </a:r>
          </a:p>
        </p:txBody>
      </p:sp>
      <p:sp>
        <p:nvSpPr>
          <p:cNvPr id="10" name="The separate 110-document holdout showed a smaller">
            <a:extLst xmlns:a="http://schemas.openxmlformats.org/drawingml/2006/main">
              <a:ext uri="{FF2B5EF4-FFF2-40B4-BE49-F238E27FC236}">
                <a16:creationId xmlns:a16="http://schemas.microsoft.com/office/drawing/2014/main" id="{3E80B188-BB73-419B-9A94-93FDFC61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29350"/>
            <a:ext cx="10306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separate 110-document holdout showed a smaller B-to-C F1 gain: 0.447 to 0.457.</a:t>
            </a:r>
          </a:p>
        </p:txBody>
      </p:sp>
    </p:spTree>
    <p:extLst>
      <p:ext uri="{BB962C8B-B14F-4D97-AF65-F5344CB8AC3E}">
        <p14:creationId xmlns:p14="http://schemas.microsoft.com/office/powerpoint/2010/main" val="20632400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our findings">
            <a:extLst xmlns:a="http://schemas.openxmlformats.org/drawingml/2006/main">
              <a:ext uri="{FF2B5EF4-FFF2-40B4-BE49-F238E27FC236}">
                <a16:creationId xmlns:a16="http://schemas.microsoft.com/office/drawing/2014/main" id="{69A84393-AB2F-416C-833C-74A2A916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Four findings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9B75AC04-6739-44A2-9A71-7BF6CB7A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3" name="63.5–93.3%">
            <a:extLst xmlns:a="http://schemas.openxmlformats.org/drawingml/2006/main">
              <a:ext uri="{FF2B5EF4-FFF2-40B4-BE49-F238E27FC236}">
                <a16:creationId xmlns:a16="http://schemas.microsoft.com/office/drawing/2014/main" id="{77F29170-0B37-49AC-A314-58F98B41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76400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1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63.5–93.3%</a:t>
            </a:r>
          </a:p>
        </p:txBody>
      </p:sp>
      <p:sp>
        <p:nvSpPr>
          <p:cNvPr id="4" name="Confidence carries useful signal">
            <a:extLst xmlns:a="http://schemas.openxmlformats.org/drawingml/2006/main">
              <a:ext uri="{FF2B5EF4-FFF2-40B4-BE49-F238E27FC236}">
                <a16:creationId xmlns:a16="http://schemas.microsoft.com/office/drawing/2014/main" id="{ED88334E-18B4-452F-A438-D55CCEFD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685925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Confidence carries useful signal</a:t>
            </a:r>
          </a:p>
        </p:txBody>
      </p:sp>
      <p:sp>
        <p:nvSpPr>
          <p:cNvPr id="5" name="Accuracy rises across the confidence bins.">
            <a:extLst xmlns:a="http://schemas.openxmlformats.org/drawingml/2006/main">
              <a:ext uri="{FF2B5EF4-FFF2-40B4-BE49-F238E27FC236}">
                <a16:creationId xmlns:a16="http://schemas.microsoft.com/office/drawing/2014/main" id="{2FC3AE8D-9AB6-409B-AAAD-20B65478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152650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Accuracy rises across the confidence bins.</a:t>
            </a:r>
          </a:p>
        </p:txBody>
      </p:sp>
      <p:sp>
        <p:nvSpPr>
          <p:cNvPr id="6" name="6%">
            <a:extLst xmlns:a="http://schemas.openxmlformats.org/drawingml/2006/main">
              <a:ext uri="{FF2B5EF4-FFF2-40B4-BE49-F238E27FC236}">
                <a16:creationId xmlns:a16="http://schemas.microsoft.com/office/drawing/2014/main" id="{F643B2AB-B18A-432A-B588-21B005A0B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809875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6%</a:t>
            </a:r>
          </a:p>
        </p:txBody>
      </p:sp>
      <p:sp>
        <p:nvSpPr>
          <p:cNvPr id="7" name="High confidence can still be wrong">
            <a:extLst xmlns:a="http://schemas.openxmlformats.org/drawingml/2006/main">
              <a:ext uri="{FF2B5EF4-FFF2-40B4-BE49-F238E27FC236}">
                <a16:creationId xmlns:a16="http://schemas.microsoft.com/office/drawing/2014/main" id="{9CF76A06-C382-44BE-B4AA-218878DC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8194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High confidence can still be wrong</a:t>
            </a:r>
          </a:p>
        </p:txBody>
      </p:sp>
      <p:sp>
        <p:nvSpPr>
          <p:cNvPr id="8" name="Six of 100 predictions at 75%+ confidence were wro">
            <a:extLst xmlns:a="http://schemas.openxmlformats.org/drawingml/2006/main">
              <a:ext uri="{FF2B5EF4-FFF2-40B4-BE49-F238E27FC236}">
                <a16:creationId xmlns:a16="http://schemas.microsoft.com/office/drawing/2014/main" id="{E950F613-2F76-4495-AAC7-644504AD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286125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Six of 100 predictions at 75%+ confidence were wrong.</a:t>
            </a:r>
          </a:p>
        </p:txBody>
      </p:sp>
      <p:sp>
        <p:nvSpPr>
          <p:cNvPr id="9" name="r = 0.09">
            <a:extLst xmlns:a="http://schemas.openxmlformats.org/drawingml/2006/main">
              <a:ext uri="{FF2B5EF4-FFF2-40B4-BE49-F238E27FC236}">
                <a16:creationId xmlns:a16="http://schemas.microsoft.com/office/drawing/2014/main" id="{B658530E-F54F-483F-BE73-5AF53A43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943350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r = 0.09</a:t>
            </a:r>
          </a:p>
        </p:txBody>
      </p:sp>
      <p:sp>
        <p:nvSpPr>
          <p:cNvPr id="10" name="Net drift is a weak predictor">
            <a:extLst xmlns:a="http://schemas.openxmlformats.org/drawingml/2006/main">
              <a:ext uri="{FF2B5EF4-FFF2-40B4-BE49-F238E27FC236}">
                <a16:creationId xmlns:a16="http://schemas.microsoft.com/office/drawing/2014/main" id="{D3EBD776-1D5F-410C-B7DB-6956B8FC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Net drift is a weak predictor</a:t>
            </a:r>
          </a:p>
        </p:txBody>
      </p:sp>
      <p:sp>
        <p:nvSpPr>
          <p:cNvPr id="11" name="Correlation with becoming incorrect is small.">
            <a:extLst xmlns:a="http://schemas.openxmlformats.org/drawingml/2006/main">
              <a:ext uri="{FF2B5EF4-FFF2-40B4-BE49-F238E27FC236}">
                <a16:creationId xmlns:a16="http://schemas.microsoft.com/office/drawing/2014/main" id="{5AF479A2-3F12-4CDF-857B-E9AEE9FD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419600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Correlation with becoming incorrect is small.</a:t>
            </a:r>
          </a:p>
        </p:txBody>
      </p:sp>
      <p:sp>
        <p:nvSpPr>
          <p:cNvPr id="12" name="+0.040 F1">
            <a:extLst xmlns:a="http://schemas.openxmlformats.org/drawingml/2006/main">
              <a:ext uri="{FF2B5EF4-FFF2-40B4-BE49-F238E27FC236}">
                <a16:creationId xmlns:a16="http://schemas.microsoft.com/office/drawing/2014/main" id="{F6EB8811-124E-40FC-B5CC-ACFC54B2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076825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+0.040 F1</a:t>
            </a:r>
          </a:p>
        </p:txBody>
      </p:sp>
      <p:sp>
        <p:nvSpPr>
          <p:cNvPr id="13" name="History adds a modest gain">
            <a:extLst xmlns:a="http://schemas.openxmlformats.org/drawingml/2006/main">
              <a:ext uri="{FF2B5EF4-FFF2-40B4-BE49-F238E27FC236}">
                <a16:creationId xmlns:a16="http://schemas.microsoft.com/office/drawing/2014/main" id="{210E52E9-2553-4193-8D14-BC4B59AB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08635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History adds a modest gain</a:t>
            </a:r>
          </a:p>
        </p:txBody>
      </p:sp>
      <p:sp>
        <p:nvSpPr>
          <p:cNvPr id="14" name="F1 rises from 0.468 to 0.508 after current confide">
            <a:extLst xmlns:a="http://schemas.openxmlformats.org/drawingml/2006/main">
              <a:ext uri="{FF2B5EF4-FFF2-40B4-BE49-F238E27FC236}">
                <a16:creationId xmlns:a16="http://schemas.microsoft.com/office/drawing/2014/main" id="{EEA93DE7-118E-454A-A7E6-FBD6FFD6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553075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F1 rises from 0.468 to 0.508 after current confidence.</a:t>
            </a:r>
          </a:p>
        </p:txBody>
      </p:sp>
    </p:spTree>
    <p:extLst>
      <p:ext uri="{BB962C8B-B14F-4D97-AF65-F5344CB8AC3E}">
        <p14:creationId xmlns:p14="http://schemas.microsoft.com/office/powerpoint/2010/main" val="139596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imitations and next steps">
            <a:extLst xmlns:a="http://schemas.openxmlformats.org/drawingml/2006/main">
              <a:ext uri="{FF2B5EF4-FFF2-40B4-BE49-F238E27FC236}">
                <a16:creationId xmlns:a16="http://schemas.microsoft.com/office/drawing/2014/main" id="{E6524154-0498-4CD5-BF81-C69EB002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Limitations and next steps</a:t>
            </a:r>
          </a:p>
        </p:txBody>
      </p:sp>
      <p:sp>
        <p:nvSpPr>
          <p:cNvPr id="2" name="13">
            <a:extLst xmlns:a="http://schemas.openxmlformats.org/drawingml/2006/main">
              <a:ext uri="{FF2B5EF4-FFF2-40B4-BE49-F238E27FC236}">
                <a16:creationId xmlns:a16="http://schemas.microsoft.com/office/drawing/2014/main" id="{7B32C710-1802-4762-BF81-46F29F2C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13</a:t>
            </a:r>
          </a:p>
        </p:txBody>
      </p:sp>
      <p:sp>
        <p:nvSpPr>
          <p:cNvPr id="3" name="Limits of this study">
            <a:extLst xmlns:a="http://schemas.openxmlformats.org/drawingml/2006/main">
              <a:ext uri="{FF2B5EF4-FFF2-40B4-BE49-F238E27FC236}">
                <a16:creationId xmlns:a16="http://schemas.microsoft.com/office/drawing/2014/main" id="{553F5ABE-B03B-4748-A62F-58CBE398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5010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2325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Limits of this study</a:t>
            </a:r>
          </a:p>
        </p:txBody>
      </p:sp>
      <p:sp>
        <p:nvSpPr>
          <p:cNvPr id="4" name="What I would test next">
            <a:extLst xmlns:a="http://schemas.openxmlformats.org/drawingml/2006/main">
              <a:ext uri="{FF2B5EF4-FFF2-40B4-BE49-F238E27FC236}">
                <a16:creationId xmlns:a16="http://schemas.microsoft.com/office/drawing/2014/main" id="{CEEE6AF2-7B7B-47F9-8203-4A7518BE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57350"/>
            <a:ext cx="49625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1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325" b="0" i="1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What I would test next</a:t>
            </a:r>
          </a:p>
        </p:txBody>
      </p:sp>
      <p:sp>
        <p:nvSpPr>
          <p:cNvPr id="5" name="Text corruption simulates repeated predictions. Re">
            <a:extLst xmlns:a="http://schemas.openxmlformats.org/drawingml/2006/main">
              <a:ext uri="{FF2B5EF4-FFF2-40B4-BE49-F238E27FC236}">
                <a16:creationId xmlns:a16="http://schemas.microsoft.com/office/drawing/2014/main" id="{A38D171C-636B-43D3-9412-06F014F4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Text corruption simulates repeated predictions. Real usage may behave differently.</a:t>
            </a:r>
          </a:p>
        </p:txBody>
      </p:sp>
      <p:sp>
        <p:nvSpPr>
          <p:cNvPr id="6" name="Only 439 test documents. The top calibration bin h">
            <a:extLst xmlns:a="http://schemas.openxmlformats.org/drawingml/2006/main">
              <a:ext uri="{FF2B5EF4-FFF2-40B4-BE49-F238E27FC236}">
                <a16:creationId xmlns:a16="http://schemas.microsoft.com/office/drawing/2014/main" id="{2972B4F4-9777-4C84-BAEE-F8A7782D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Only 439 test documents. The top calibration bin has 10 predictions.</a:t>
            </a:r>
          </a:p>
        </p:txBody>
      </p:sp>
      <p:sp>
        <p:nvSpPr>
          <p:cNvPr id="7" name="Two classes and one base model architecture.">
            <a:extLst xmlns:a="http://schemas.openxmlformats.org/drawingml/2006/main">
              <a:ext uri="{FF2B5EF4-FFF2-40B4-BE49-F238E27FC236}">
                <a16:creationId xmlns:a16="http://schemas.microsoft.com/office/drawing/2014/main" id="{8EB236B7-6054-4E45-BD65-4797E2A3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Two classes and one base model architecture.</a:t>
            </a:r>
          </a:p>
        </p:txBody>
      </p:sp>
      <p:sp>
        <p:nvSpPr>
          <p:cNvPr id="8" name="The detector missed all six high-confidence errors">
            <a:extLst xmlns:a="http://schemas.openxmlformats.org/drawingml/2006/main">
              <a:ext uri="{FF2B5EF4-FFF2-40B4-BE49-F238E27FC236}">
                <a16:creationId xmlns:a16="http://schemas.microsoft.com/office/drawing/2014/main" id="{B215E46C-D8D4-45E8-9CAC-C18A5BE6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2922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The detector missed all six high-confidence errors on uncorrupted text.</a:t>
            </a:r>
          </a:p>
        </p:txBody>
      </p:sp>
      <p:sp>
        <p:nvSpPr>
          <p:cNvPr id="9" name="Test a method designed for high-confidence errors ">
            <a:extLst xmlns:a="http://schemas.openxmlformats.org/drawingml/2006/main">
              <a:ext uri="{FF2B5EF4-FFF2-40B4-BE49-F238E27FC236}">
                <a16:creationId xmlns:a16="http://schemas.microsoft.com/office/drawing/2014/main" id="{20FF5979-F674-45C9-AD9C-19DED937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0030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Test a method designed for high-confidence errors at the uncorrupted step.</a:t>
            </a:r>
          </a:p>
        </p:txBody>
      </p:sp>
      <p:sp>
        <p:nvSpPr>
          <p:cNvPr id="10" name="Collect naturally repeated real-world queries when">
            <a:extLst xmlns:a="http://schemas.openxmlformats.org/drawingml/2006/main">
              <a:ext uri="{FF2B5EF4-FFF2-40B4-BE49-F238E27FC236}">
                <a16:creationId xmlns:a16="http://schemas.microsoft.com/office/drawing/2014/main" id="{F06125FD-7E2A-45B6-9488-43FCB83B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4327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Collect naturally repeated real-world queries when data becomes available.</a:t>
            </a:r>
          </a:p>
        </p:txBody>
      </p:sp>
      <p:sp>
        <p:nvSpPr>
          <p:cNvPr id="11" name="Apply temperature scaling and retest whether histo">
            <a:extLst xmlns:a="http://schemas.openxmlformats.org/drawingml/2006/main">
              <a:ext uri="{FF2B5EF4-FFF2-40B4-BE49-F238E27FC236}">
                <a16:creationId xmlns:a16="http://schemas.microsoft.com/office/drawing/2014/main" id="{A3B6B378-296C-4E21-9EF4-EC3FD278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28625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Apply temperature scaling and retest whether history adds value.</a:t>
            </a:r>
          </a:p>
        </p:txBody>
      </p:sp>
      <p:sp>
        <p:nvSpPr>
          <p:cNvPr id="12" name="Extend to multiple classes and another base model.">
            <a:extLst xmlns:a="http://schemas.openxmlformats.org/drawingml/2006/main">
              <a:ext uri="{FF2B5EF4-FFF2-40B4-BE49-F238E27FC236}">
                <a16:creationId xmlns:a16="http://schemas.microsoft.com/office/drawing/2014/main" id="{13DF28F6-B380-4534-9486-A85436EF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2922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Extend to multiple classes and another base model.</a:t>
            </a:r>
          </a:p>
        </p:txBody>
      </p:sp>
    </p:spTree>
    <p:extLst>
      <p:ext uri="{BB962C8B-B14F-4D97-AF65-F5344CB8AC3E}">
        <p14:creationId xmlns:p14="http://schemas.microsoft.com/office/powerpoint/2010/main" val="207360256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14">
            <a:extLst xmlns:a="http://schemas.openxmlformats.org/drawingml/2006/main">
              <a:ext uri="{FF2B5EF4-FFF2-40B4-BE49-F238E27FC236}">
                <a16:creationId xmlns:a16="http://schemas.microsoft.com/office/drawing/2014/main" id="{66C7AE21-7BF9-4803-8677-9AF55F0E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2" name="CONCLUSION">
            <a:extLst xmlns:a="http://schemas.openxmlformats.org/drawingml/2006/main">
              <a:ext uri="{FF2B5EF4-FFF2-40B4-BE49-F238E27FC236}">
                <a16:creationId xmlns:a16="http://schemas.microsoft.com/office/drawing/2014/main" id="{C730E0AE-7E65-4FDB-8F2C-38891A42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CONCLUSION</a:t>
            </a:r>
          </a:p>
        </p:txBody>
      </p:sp>
      <p:sp>
        <p:nvSpPr>
          <p:cNvPr id="3" name="Confidence history adds">
            <a:extLst xmlns:a="http://schemas.openxmlformats.org/drawingml/2006/main">
              <a:ext uri="{FF2B5EF4-FFF2-40B4-BE49-F238E27FC236}">
                <a16:creationId xmlns:a16="http://schemas.microsoft.com/office/drawing/2014/main" id="{72919D20-9B99-49B0-A8E5-D227E147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562100"/>
            <a:ext cx="108585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50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Confidence history adds</a:t>
            </a:r>
          </a:p>
        </p:txBody>
      </p:sp>
      <p:sp>
        <p:nvSpPr>
          <p:cNvPr id="4" name="a modest signal.">
            <a:extLst xmlns:a="http://schemas.openxmlformats.org/drawingml/2006/main">
              <a:ext uri="{FF2B5EF4-FFF2-40B4-BE49-F238E27FC236}">
                <a16:creationId xmlns:a16="http://schemas.microsoft.com/office/drawing/2014/main" id="{019B75D6-E0A0-44E5-881A-9DCFCC65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409825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5025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a modest signal.</a:t>
            </a:r>
          </a:p>
        </p:txBody>
      </p:sp>
      <p:sp>
        <p:nvSpPr>
          <p:cNvPr id="5" name="The hardest errors remain.">
            <a:extLst xmlns:a="http://schemas.openxmlformats.org/drawingml/2006/main">
              <a:ext uri="{FF2B5EF4-FFF2-40B4-BE49-F238E27FC236}">
                <a16:creationId xmlns:a16="http://schemas.microsoft.com/office/drawing/2014/main" id="{7BD7430D-DBC7-4E81-960F-9CF5F7A7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2575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950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4950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hardest errors remain.</a:t>
            </a:r>
          </a:p>
        </p:txBody>
      </p:sp>
      <p:sp>
        <p:nvSpPr>
          <p:cNvPr id="6" name="Nine sequence features improve grouped evaluation ">
            <a:extLst xmlns:a="http://schemas.openxmlformats.org/drawingml/2006/main">
              <a:ext uri="{FF2B5EF4-FFF2-40B4-BE49-F238E27FC236}">
                <a16:creationId xmlns:a16="http://schemas.microsoft.com/office/drawing/2014/main" id="{648E94DC-EF98-4C00-82E7-B9524F2E7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676775"/>
            <a:ext cx="10763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Nine sequence features improve grouped evaluation over current confidence.</a:t>
            </a:r>
          </a:p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detector caught none of six high-confidence errors.</a:t>
            </a:r>
          </a:p>
        </p:txBody>
      </p:sp>
      <p:sp>
        <p:nvSpPr>
          <p:cNvPr id="7" name="F1  0.468 to 0.508">
            <a:extLst xmlns:a="http://schemas.openxmlformats.org/drawingml/2006/main">
              <a:ext uri="{FF2B5EF4-FFF2-40B4-BE49-F238E27FC236}">
                <a16:creationId xmlns:a16="http://schemas.microsoft.com/office/drawing/2014/main" id="{A41A6F8C-1A65-4326-B2A8-48AC52A4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7245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F1  0.468 to 0.508</a:t>
            </a:r>
          </a:p>
        </p:txBody>
      </p:sp>
      <p:sp>
        <p:nvSpPr>
          <p:cNvPr id="8" name="ROC-AUC  0.729 to 0.763">
            <a:extLst xmlns:a="http://schemas.openxmlformats.org/drawingml/2006/main">
              <a:ext uri="{FF2B5EF4-FFF2-40B4-BE49-F238E27FC236}">
                <a16:creationId xmlns:a16="http://schemas.microsoft.com/office/drawing/2014/main" id="{D75EA3E1-8909-4056-80F0-612E7CD77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724525"/>
            <a:ext cx="5076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ROC-AUC  0.729 to 0.763</a:t>
            </a:r>
          </a:p>
        </p:txBody>
      </p:sp>
      <p:sp>
        <p:nvSpPr>
          <p:cNvPr id="9" name="Code, data, models and research report: github.com">
            <a:extLst xmlns:a="http://schemas.openxmlformats.org/drawingml/2006/main">
              <a:ext uri="{FF2B5EF4-FFF2-40B4-BE49-F238E27FC236}">
                <a16:creationId xmlns:a16="http://schemas.microsoft.com/office/drawing/2014/main" id="{55A9E2C2-39E9-4D77-B072-BD6602BD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362700"/>
            <a:ext cx="1040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Code, data, models and research report: </a:t>
            </a: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7b11a05fda04708"/>
              </a:rPr>
              <a:t>github.com/ahansardar/ai-confidence-drift</a:t>
            </a:r>
          </a:p>
        </p:txBody>
      </p:sp>
    </p:spTree>
    <p:extLst>
      <p:ext uri="{BB962C8B-B14F-4D97-AF65-F5344CB8AC3E}">
        <p14:creationId xmlns:p14="http://schemas.microsoft.com/office/powerpoint/2010/main" val="10552618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2026-09-21T12:46:57.5630000Z</dcterms:created>
  <dcterms:modified xsi:type="dcterms:W3CDTF">2026-09-21T12:46:57.5630000Z</dcterms:modified>
</coreProperties>
</file>