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2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3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d229cb050743f1" /><Relationship Type="http://schemas.openxmlformats.org/officeDocument/2006/relationships/extended-properties" Target="/docProps/app.xml" Id="R3e4a6fbb41ec4444" /><Relationship Type="http://schemas.openxmlformats.org/officeDocument/2006/relationships/officeDocument" Target="/ppt/presentation.xml" Id="R14f9e5eeb7db40e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523f2e52c84414c"/>
  </p:sldMasterIdLst>
  <p:notesMasterIdLst>
    <p:notesMasterId xmlns:r="http://schemas.openxmlformats.org/officeDocument/2006/relationships" r:id="R7c5e36c103054589"/>
  </p:notesMasterIdLst>
  <p:sldIdLst>
    <p:sldId xmlns:r="http://schemas.openxmlformats.org/officeDocument/2006/relationships" id="256" r:id="R6eb25d2ed83a4f11"/>
    <p:sldId xmlns:r="http://schemas.openxmlformats.org/officeDocument/2006/relationships" id="257" r:id="R3ddb7d41a15c44d4"/>
    <p:sldId xmlns:r="http://schemas.openxmlformats.org/officeDocument/2006/relationships" id="258" r:id="R553d9894ffef4e55"/>
    <p:sldId xmlns:r="http://schemas.openxmlformats.org/officeDocument/2006/relationships" id="259" r:id="R90b7df28322a4219"/>
    <p:sldId xmlns:r="http://schemas.openxmlformats.org/officeDocument/2006/relationships" id="260" r:id="Rc2dae8ce7c9643da"/>
    <p:sldId xmlns:r="http://schemas.openxmlformats.org/officeDocument/2006/relationships" id="261" r:id="R30b4e1cd62d64853"/>
    <p:sldId xmlns:r="http://schemas.openxmlformats.org/officeDocument/2006/relationships" id="262" r:id="Ree8c5f48861046fa"/>
    <p:sldId xmlns:r="http://schemas.openxmlformats.org/officeDocument/2006/relationships" id="263" r:id="R0d3c62aaf4044973"/>
    <p:sldId xmlns:r="http://schemas.openxmlformats.org/officeDocument/2006/relationships" id="264" r:id="R9aece14b28fd44f6"/>
    <p:sldId xmlns:r="http://schemas.openxmlformats.org/officeDocument/2006/relationships" id="265" r:id="R4eba29c6b8984b04"/>
    <p:sldId xmlns:r="http://schemas.openxmlformats.org/officeDocument/2006/relationships" id="266" r:id="R3d026f4e38174c9c"/>
    <p:sldId xmlns:r="http://schemas.openxmlformats.org/officeDocument/2006/relationships" id="267" r:id="Rd20a0bffd0b445c3"/>
    <p:sldId xmlns:r="http://schemas.openxmlformats.org/officeDocument/2006/relationships" id="268" r:id="R0b5fba8de551464f"/>
    <p:sldId xmlns:r="http://schemas.openxmlformats.org/officeDocument/2006/relationships" id="269" r:id="R92f88d2f0cce4ff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9e6a85c5b743b7" /><Relationship Type="http://schemas.openxmlformats.org/officeDocument/2006/relationships/slideMaster" Target="/ppt/slideMasters/slideMaster1.xml" Id="R0523f2e52c84414c" /><Relationship Type="http://schemas.openxmlformats.org/officeDocument/2006/relationships/notesMaster" Target="/ppt/notesMasters/notesMaster1.xml" Id="R7c5e36c103054589" /><Relationship Type="http://schemas.openxmlformats.org/officeDocument/2006/relationships/presProps" Target="/ppt/presProps.xml" Id="Rbbf7b1db17064ea1" /><Relationship Type="http://schemas.openxmlformats.org/officeDocument/2006/relationships/tableStyles" Target="/ppt/tableStyles.xml" Id="Red2cf2b04655440b" /><Relationship Type="http://schemas.openxmlformats.org/officeDocument/2006/relationships/slide" Target="/ppt/slides/slide1.xml" Id="R6eb25d2ed83a4f11" /><Relationship Type="http://schemas.openxmlformats.org/officeDocument/2006/relationships/slide" Target="/ppt/slides/slide2.xml" Id="R3ddb7d41a15c44d4" /><Relationship Type="http://schemas.openxmlformats.org/officeDocument/2006/relationships/slide" Target="/ppt/slides/slide3.xml" Id="R553d9894ffef4e55" /><Relationship Type="http://schemas.openxmlformats.org/officeDocument/2006/relationships/slide" Target="/ppt/slides/slide4.xml" Id="R90b7df28322a4219" /><Relationship Type="http://schemas.openxmlformats.org/officeDocument/2006/relationships/slide" Target="/ppt/slides/slide5.xml" Id="Rc2dae8ce7c9643da" /><Relationship Type="http://schemas.openxmlformats.org/officeDocument/2006/relationships/slide" Target="/ppt/slides/slide6.xml" Id="R30b4e1cd62d64853" /><Relationship Type="http://schemas.openxmlformats.org/officeDocument/2006/relationships/slide" Target="/ppt/slides/slide7.xml" Id="Ree8c5f48861046fa" /><Relationship Type="http://schemas.openxmlformats.org/officeDocument/2006/relationships/slide" Target="/ppt/slides/slide8.xml" Id="R0d3c62aaf4044973" /><Relationship Type="http://schemas.openxmlformats.org/officeDocument/2006/relationships/slide" Target="/ppt/slides/slide9.xml" Id="R9aece14b28fd44f6" /><Relationship Type="http://schemas.openxmlformats.org/officeDocument/2006/relationships/slide" Target="/ppt/slides/slide10.xml" Id="R4eba29c6b8984b04" /><Relationship Type="http://schemas.openxmlformats.org/officeDocument/2006/relationships/slide" Target="/ppt/slides/slide11.xml" Id="R3d026f4e38174c9c" /><Relationship Type="http://schemas.openxmlformats.org/officeDocument/2006/relationships/slide" Target="/ppt/slides/slide12.xml" Id="Rd20a0bffd0b445c3" /><Relationship Type="http://schemas.openxmlformats.org/officeDocument/2006/relationships/slide" Target="/ppt/slides/slide13.xml" Id="R0b5fba8de551464f" /><Relationship Type="http://schemas.openxmlformats.org/officeDocument/2006/relationships/slide" Target="/ppt/slides/slide14.xml" Id="R92f88d2f0cce4f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70314d115d46e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2f4a49f1c942e2" /><Relationship Type="http://schemas.openxmlformats.org/officeDocument/2006/relationships/notesMaster" Target="/ppt/notesMasters/notesMaster1.xml" Id="Ra143e2779955493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24f677948a848c6" /><Relationship Type="http://schemas.openxmlformats.org/officeDocument/2006/relationships/notesMaster" Target="/ppt/notesMasters/notesMaster1.xml" Id="R4d60eb3c18d74fa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cd539ae360242e2" /><Relationship Type="http://schemas.openxmlformats.org/officeDocument/2006/relationships/notesMaster" Target="/ppt/notesMasters/notesMaster1.xml" Id="Re8656f493d224a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7cddff70a404e9c" /><Relationship Type="http://schemas.openxmlformats.org/officeDocument/2006/relationships/notesMaster" Target="/ppt/notesMasters/notesMaster1.xml" Id="R74fb739eb99c46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09c21befcc4933" /><Relationship Type="http://schemas.openxmlformats.org/officeDocument/2006/relationships/notesMaster" Target="/ppt/notesMasters/notesMaster1.xml" Id="Re01474e9d70e423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383cfed2484903" /><Relationship Type="http://schemas.openxmlformats.org/officeDocument/2006/relationships/notesMaster" Target="/ppt/notesMasters/notesMaster1.xml" Id="Rac0139bdce324c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ba0c1814df4aae" /><Relationship Type="http://schemas.openxmlformats.org/officeDocument/2006/relationships/notesMaster" Target="/ppt/notesMasters/notesMaster1.xml" Id="R0241c1a1322d488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ce1024617414b56" /><Relationship Type="http://schemas.openxmlformats.org/officeDocument/2006/relationships/notesMaster" Target="/ppt/notesMasters/notesMaster1.xml" Id="R9d436d1c8a25462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58174c5f3694822" /><Relationship Type="http://schemas.openxmlformats.org/officeDocument/2006/relationships/notesMaster" Target="/ppt/notesMasters/notesMaster1.xml" Id="Rfb77ee7a434244b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6ef665484a54c25" /><Relationship Type="http://schemas.openxmlformats.org/officeDocument/2006/relationships/notesMaster" Target="/ppt/notesMasters/notesMaster1.xml" Id="Rf8d71677ae424df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e58949cb35341c0" /><Relationship Type="http://schemas.openxmlformats.org/officeDocument/2006/relationships/notesMaster" Target="/ppt/notesMasters/notesMaster1.xml" Id="Red6a908bd1fb449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dfb1260c8be4305" /><Relationship Type="http://schemas.openxmlformats.org/officeDocument/2006/relationships/notesMaster" Target="/ppt/notesMasters/notesMaster1.xml" Id="R653c5b116b3a4af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b27bfc2a9bc4bcb" /><Relationship Type="http://schemas.openxmlformats.org/officeDocument/2006/relationships/notesMaster" Target="/ppt/notesMasters/notesMaster1.xml" Id="Re9f5368a45e941b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f79b6e14bc6412e" /><Relationship Type="http://schemas.openxmlformats.org/officeDocument/2006/relationships/notesMaster" Target="/ppt/notesMasters/notesMaster1.xml" Id="R334467d6d1884a7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AI_Confidence_Drift_Presentation.pptx, slide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PranavX Labs  |  AI/ML Internship  |  15-Day Research Project</a:t>
            </a:r>
          </a:p>
          <a:p xmlns:a="http://schemas.openxmlformats.org/drawingml/2006/main">
            <a:r>
              <a:t>AI Confidence Drift Detection</a:t>
            </a:r>
          </a:p>
          <a:p xmlns:a="http://schemas.openxmlformats.org/drawingml/2006/main">
            <a:r>
              <a:t>Using Machine Learning</a:t>
            </a:r>
          </a:p>
          <a:p xmlns:a="http://schemas.openxmlformats.org/drawingml/2006/main">
            <a:r>
              <a:t>A study of whether changes in a model’s confidence, tracked across repeated predictions, can help identify unreliable predictions.</a:t>
            </a:r>
          </a:p>
          <a:p xmlns:a="http://schemas.openxmlformats.org/drawingml/2006/main">
            <a:r>
              <a:t>Prepared </a:t>
            </a:r>
          </a:p>
          <a:p xmlns:a="http://schemas.openxmlformats.org/drawingml/2006/main">
            <a:r>
              <a:t>by Ahan</a:t>
            </a:r>
          </a:p>
          <a:p xmlns:a="http://schemas.openxmlformats.org/drawingml/2006/main">
            <a:r>
              <a:t>github.com/ahansardar/ai-confidence-drift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AI_Confidence_Drift_Presentation.pptx, slide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PROJECT OVERVIEW</a:t>
            </a:r>
          </a:p>
          <a:p xmlns:a="http://schemas.openxmlformats.org/drawingml/2006/main">
            <a:r>
              <a:t>Confidence is not the same as correctness</a:t>
            </a:r>
          </a:p>
          <a:p xmlns:a="http://schemas.openxmlformats.org/drawingml/2006/main">
            <a:r>
              <a:t>A model that reports 96% confidence can still be wrong. This project treats confidence as something to test, not something to trust automatically. In practice I saw three recurring issues:</a:t>
            </a:r>
          </a:p>
          <a:p xmlns:a="http://schemas.openxmlformats.org/drawingml/2006/main">
            <a:r>
              <a:t>1. Confident, and wrong</a:t>
            </a:r>
          </a:p>
          <a:p xmlns:a="http://schemas.openxmlformats.org/drawingml/2006/main">
            <a:r>
              <a:t>A model can stay highly confident while producing an incorrect prediction, with no internal warning sign.</a:t>
            </a:r>
          </a:p>
          <a:p xmlns:a="http://schemas.openxmlformats.org/drawingml/2006/main">
            <a:r>
              <a:t>2. Unstable across inputs</a:t>
            </a:r>
          </a:p>
          <a:p xmlns:a="http://schemas.openxmlformats.org/drawingml/2006/main">
            <a:r>
              <a:t>Confidence can swing across similar or repeated predictions, for reasons unrelated to correctness.</a:t>
            </a:r>
          </a:p>
          <a:p xmlns:a="http://schemas.openxmlformats.org/drawingml/2006/main">
            <a:r>
              <a:t>3. Drift with difficulty</a:t>
            </a:r>
          </a:p>
          <a:p xmlns:a="http://schemas.openxmlformats.org/drawingml/2006/main">
            <a:r>
              <a:t>As a problem gets harder, confidence usually drops. Does that always mean accuracy drops too? I tested this instead of assuming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AI_Confidence_Drift_Presentation.pptx, slide 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QUESTION</a:t>
            </a:r>
          </a:p>
          <a:p xmlns:a="http://schemas.openxmlformats.org/drawingml/2006/main">
            <a:r>
              <a:t>Research question and hypothesis</a:t>
            </a:r>
          </a:p>
          <a:p xmlns:a="http://schemas.openxmlformats.org/drawingml/2006/main">
            <a:r>
              <a:t>“Can machine learning detect meaningful changes in an AI model’s confidence, and can those changes be used to identify predictions that are likely unreliable?”</a:t>
            </a:r>
          </a:p>
          <a:p xmlns:a="http://schemas.openxmlformats.org/drawingml/2006/main">
            <a:r>
              <a:t>Hypothesis</a:t>
            </a:r>
          </a:p>
          <a:p xmlns:a="http://schemas.openxmlformats.org/drawingml/2006/main">
            <a:r>
              <a:t>Statistical features built from a confidence sequence (moving average, volatility, consecutive drops) predict unreliable predictions better than raw confidence alone, and far better than no confidence signal at all.</a:t>
            </a:r>
          </a:p>
          <a:p xmlns:a="http://schemas.openxmlformats.org/drawingml/2006/main">
            <a:r>
              <a:t>Tested experimentally, not assumed. Part of it held up, part of it did not (see slides 9 and 11).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AI_Confidence_Drift_Presentation.pptx, slide 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DATASET</a:t>
            </a:r>
          </a:p>
          <a:p xmlns:a="http://schemas.openxmlformats.org/drawingml/2006/main">
            <a:r>
              <a:t>Task and dataset</a:t>
            </a:r>
          </a:p>
          <a:p xmlns:a="http://schemas.openxmlformats.org/drawingml/2006/main">
            <a:r>
              <a:t>Binary text classification: alt.atheism vs. soc.religion.christian</a:t>
            </a:r>
          </a:p>
          <a:p xmlns:a="http://schemas.openxmlformats.org/drawingml/2006/main">
            <a:r>
              <a:t>Source: scikit-learn’s official 20 Newsgroups mirror (fetch_20newsgroups), public and documented</a:t>
            </a:r>
          </a:p>
          <a:p xmlns:a="http://schemas.openxmlformats.org/drawingml/2006/main">
            <a:r>
              <a:t>Chosen because the two categories share overlapping vocabulary, so predictions are not trivially easy</a:t>
            </a:r>
          </a:p>
          <a:p xmlns:a="http://schemas.openxmlformats.org/drawingml/2006/main">
            <a:r>
              <a:t>Headers, footers and quoted text stripped from every post to avoid metadata leakage</a:t>
            </a:r>
          </a:p>
          <a:p xmlns:a="http://schemas.openxmlformats.org/drawingml/2006/main">
            <a:r>
              <a:t>Ground truth is the newsgroup each post was actually published to</a:t>
            </a:r>
          </a:p>
          <a:p xmlns:a="http://schemas.openxmlformats.org/drawingml/2006/main">
            <a:r>
              <a:t>Total documents</a:t>
            </a:r>
          </a:p>
          <a:p xmlns:a="http://schemas.openxmlformats.org/drawingml/2006/main">
            <a:r>
              <a:t>1,754</a:t>
            </a:r>
          </a:p>
          <a:p xmlns:a="http://schemas.openxmlformats.org/drawingml/2006/main">
            <a:r>
              <a:t>Train / test split</a:t>
            </a:r>
          </a:p>
          <a:p xmlns:a="http://schemas.openxmlformats.org/drawingml/2006/main">
            <a:r>
              <a:t>1,315 / 439 (stratified)</a:t>
            </a:r>
          </a:p>
          <a:p xmlns:a="http://schemas.openxmlformats.org/drawingml/2006/main">
            <a:r>
              <a:t>Class balance</a:t>
            </a:r>
          </a:p>
          <a:p xmlns:a="http://schemas.openxmlformats.org/drawingml/2006/main">
            <a:r>
              <a:t>44.4% / 55.6%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AI_Confidence_Drift_Presentation.pptx, slide 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METHODOLOGY</a:t>
            </a:r>
          </a:p>
          <a:p xmlns:a="http://schemas.openxmlformats.org/drawingml/2006/main">
            <a:r>
              <a:t>How the pipeline works</a:t>
            </a:r>
          </a:p>
          <a:p xmlns:a="http://schemas.openxmlformats.org/drawingml/2006/main">
            <a:r>
              <a:t>1.</a:t>
            </a:r>
          </a:p>
          <a:p xmlns:a="http://schemas.openxmlformats.org/drawingml/2006/main">
            <a:r>
              <a:t>Train the base classifier</a:t>
            </a:r>
          </a:p>
          <a:p xmlns:a="http://schemas.openxmlformats.org/drawingml/2006/main">
            <a:r>
              <a:t>TF-IDF + Logistic Regression on the text classification task</a:t>
            </a:r>
          </a:p>
          <a:p xmlns:a="http://schemas.openxmlformats.org/drawingml/2006/main">
            <a:r>
              <a:t>2.</a:t>
            </a:r>
          </a:p>
          <a:p xmlns:a="http://schemas.openxmlformats.org/drawingml/2006/main">
            <a:r>
              <a:t>Generate confidence sequences</a:t>
            </a:r>
          </a:p>
          <a:p xmlns:a="http://schemas.openxmlformats.org/drawingml/2006/main">
            <a:r>
              <a:t>Re-classify each test document at 6 increasing corruption levels</a:t>
            </a:r>
          </a:p>
          <a:p xmlns:a="http://schemas.openxmlformats.org/drawingml/2006/main">
            <a:r>
              <a:t>3.</a:t>
            </a:r>
          </a:p>
          <a:p xmlns:a="http://schemas.openxmlformats.org/drawingml/2006/main">
            <a:r>
              <a:t>Engineer drift features</a:t>
            </a:r>
          </a:p>
          <a:p xmlns:a="http://schemas.openxmlformats.org/drawingml/2006/main">
            <a:r>
              <a:t>Moving average, volatility, deltas, consecutive drops, margin</a:t>
            </a:r>
          </a:p>
          <a:p xmlns:a="http://schemas.openxmlformats.org/drawingml/2006/main">
            <a:r>
              <a:t>4.</a:t>
            </a:r>
          </a:p>
          <a:p xmlns:a="http://schemas.openxmlformats.org/drawingml/2006/main">
            <a:r>
              <a:t>Train the confidence drift detector</a:t>
            </a:r>
          </a:p>
          <a:p xmlns:a="http://schemas.openxmlformats.org/drawingml/2006/main">
            <a:r>
              <a:t>A second model predicting whether a prediction is unreliable</a:t>
            </a:r>
          </a:p>
          <a:p xmlns:a="http://schemas.openxmlformats.org/drawingml/2006/main">
            <a:r>
              <a:t>5.</a:t>
            </a:r>
          </a:p>
          <a:p xmlns:a="http://schemas.openxmlformats.org/drawingml/2006/main">
            <a:r>
              <a:t>Evaluate</a:t>
            </a:r>
          </a:p>
          <a:p xmlns:a="http://schemas.openxmlformats.org/drawingml/2006/main">
            <a:r>
              <a:t>Calibration, high-confidence errors, and a controlled A/B/C comparison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CONFIDENCE-DRIFT SIMULATION</a:t>
            </a:r>
          </a:p>
          <a:p xmlns:a="http://schemas.openxmlformats.org/drawingml/2006/main">
            <a:r>
              <a:t>Where the confidence sequences come from</a:t>
            </a:r>
          </a:p>
          <a:p xmlns:a="http://schemas.openxmlformats.org/drawingml/2006/main">
            <a:r>
              <a:t>The dataset has no naturally repeated predictions, so I corrupt each test document at 6 levels </a:t>
            </a:r>
          </a:p>
          <a:p xmlns:a="http://schemas.openxmlformats.org/drawingml/2006/main">
            <a:r>
              <a:t>(0% up to 50% of words removed and shuffled)</a:t>
            </a:r>
          </a:p>
          <a:p xmlns:a="http://schemas.openxmlformats.org/drawingml/2006/main">
            <a:r>
              <a:t> and re-classify it each time. Every confidence value is a real model output, none are fabricated.</a:t>
            </a:r>
          </a:p>
          <a:p xmlns:a="http://schemas.openxmlformats.org/drawingml/2006/main">
            <a:r>
              <a:t>Step</a:t>
            </a:r>
          </a:p>
          <a:p xmlns:a="http://schemas.openxmlformats.org/drawingml/2006/main">
            <a:r>
              <a:t>doc_00750</a:t>
            </a:r>
          </a:p>
          <a:p xmlns:a="http://schemas.openxmlformats.org/drawingml/2006/main">
            <a:r>
              <a:t>(stayed confident, stayed wrong)</a:t>
            </a:r>
          </a:p>
          <a:p xmlns:a="http://schemas.openxmlformats.org/drawingml/2006/main">
            <a:r>
              <a:t>doc_01280</a:t>
            </a:r>
          </a:p>
          <a:p xmlns:a="http://schemas.openxmlformats.org/drawingml/2006/main">
            <a:r>
              <a:t>(dropped sharply, stayed correct)</a:t>
            </a:r>
          </a:p>
          <a:p xmlns:a="http://schemas.openxmlformats.org/drawingml/2006/main">
            <a:r>
              <a:t>0</a:t>
            </a:r>
          </a:p>
          <a:p xmlns:a="http://schemas.openxmlformats.org/drawingml/2006/main">
            <a:r>
              <a:t>0.963</a:t>
            </a:r>
          </a:p>
          <a:p xmlns:a="http://schemas.openxmlformats.org/drawingml/2006/main">
            <a:r>
              <a:t>0.889</a:t>
            </a:r>
          </a:p>
          <a:p xmlns:a="http://schemas.openxmlformats.org/drawingml/2006/main">
            <a:r>
              <a:t>1</a:t>
            </a:r>
          </a:p>
          <a:p xmlns:a="http://schemas.openxmlformats.org/drawingml/2006/main">
            <a:r>
              <a:t>0.952</a:t>
            </a:r>
          </a:p>
          <a:p xmlns:a="http://schemas.openxmlformats.org/drawingml/2006/main">
            <a:r>
              <a:t>0.771</a:t>
            </a:r>
          </a:p>
          <a:p xmlns:a="http://schemas.openxmlformats.org/drawingml/2006/main">
            <a:r>
              <a:t>2</a:t>
            </a:r>
          </a:p>
          <a:p xmlns:a="http://schemas.openxmlformats.org/drawingml/2006/main">
            <a:r>
              <a:t>0.951</a:t>
            </a:r>
          </a:p>
          <a:p xmlns:a="http://schemas.openxmlformats.org/drawingml/2006/main">
            <a:r>
              <a:t>0.778</a:t>
            </a:r>
          </a:p>
          <a:p xmlns:a="http://schemas.openxmlformats.org/drawingml/2006/main">
            <a:r>
              <a:t>3</a:t>
            </a:r>
          </a:p>
          <a:p xmlns:a="http://schemas.openxmlformats.org/drawingml/2006/main">
            <a:r>
              <a:t>0.951</a:t>
            </a:r>
          </a:p>
          <a:p xmlns:a="http://schemas.openxmlformats.org/drawingml/2006/main">
            <a:r>
              <a:t>0.682</a:t>
            </a:r>
          </a:p>
          <a:p xmlns:a="http://schemas.openxmlformats.org/drawingml/2006/main">
            <a:r>
              <a:t>4</a:t>
            </a:r>
          </a:p>
          <a:p xmlns:a="http://schemas.openxmlformats.org/drawingml/2006/main">
            <a:r>
              <a:t>0.948</a:t>
            </a:r>
          </a:p>
          <a:p xmlns:a="http://schemas.openxmlformats.org/drawingml/2006/main">
            <a:r>
              <a:t>0.842</a:t>
            </a:r>
          </a:p>
          <a:p xmlns:a="http://schemas.openxmlformats.org/drawingml/2006/main">
            <a:r>
              <a:t>5</a:t>
            </a:r>
          </a:p>
          <a:p xmlns:a="http://schemas.openxmlformats.org/drawingml/2006/main">
            <a:r>
              <a:t>0.949</a:t>
            </a:r>
          </a:p>
          <a:p xmlns:a="http://schemas.openxmlformats.org/drawingml/2006/main">
            <a:r>
              <a:t>0.651</a:t>
            </a:r>
          </a:p>
          <a:p xmlns:a="http://schemas.openxmlformats.org/drawingml/2006/main">
            <a:r>
              <a:t>Net drift alone turned out to be a weak signal for error, see slide 9.</a:t>
            </a:r>
          </a:p>
          <a:p xmlns:a="http://schemas.openxmlformats.org/drawingml/2006/main">
            <a:r>
              <a:t>Figure 1. Confidence trajectories for 12 test documents under increasing corruption. Green ends correct, red ends incorrect.</a:t>
            </a:r>
          </a:p>
          <a:p xmlns:a="http://schemas.openxmlformats.org/drawingml/2006/main">
            <a:r>
              <a:t>AI Confidence Drift Detection  ·  Pranav  ·  PranavX Labs AI/ML Internship</a:t>
            </a:r>
          </a:p>
          <a:p xmlns:a="http://schemas.openxmlformats.org/drawingml/2006/main">
            <a:r>
              <a:t>6 / 14</a:t>
            </a:r>
          </a:p>
          <a:p xmlns:a="http://schemas.openxmlformats.org/drawingml/2006/main">
            <a:r>
              <a:t>Trajectory data: data/processed/confidence_sequences.csv, first 12 unique document IDs, matching src/visualize.py. Net drift alone is a weak error signal. See the results summary.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AI_Confidence_Drift_Presentation.pptx, slide 7.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FEATURE ENGINEERING</a:t>
            </a:r>
          </a:p>
          <a:p xmlns:a="http://schemas.openxmlformats.org/drawingml/2006/main">
            <a:r>
              <a:t>Features I engineered</a:t>
            </a:r>
          </a:p>
          <a:p xmlns:a="http://schemas.openxmlformats.org/drawingml/2006/main">
            <a:r>
              <a:t>13 features in total. I did not assume they would all be useful, that is what the experiments on slide 11 test.</a:t>
            </a:r>
          </a:p>
          <a:p xmlns:a="http://schemas.openxmlformats.org/drawingml/2006/main">
            <a:r>
              <a:t>Group</a:t>
            </a:r>
          </a:p>
          <a:p xmlns:a="http://schemas.openxmlformats.org/drawingml/2006/main">
            <a:r>
              <a:t>Features</a:t>
            </a:r>
          </a:p>
          <a:p xmlns:a="http://schemas.openxmlformats.org/drawingml/2006/main">
            <a:r>
              <a:t>Point in time</a:t>
            </a:r>
          </a:p>
          <a:p xmlns:a="http://schemas.openxmlformats.org/drawingml/2006/main">
            <a:r>
              <a:t>confidence, prediction_margin, historical_accuracy_for_class</a:t>
            </a:r>
          </a:p>
          <a:p xmlns:a="http://schemas.openxmlformats.org/drawingml/2006/main">
            <a:r>
              <a:t>Change</a:t>
            </a:r>
          </a:p>
          <a:p xmlns:a="http://schemas.openxmlformats.org/drawingml/2006/main">
            <a:r>
              <a:t>confidence_diff, confidence_pct_change, rate_of_change</a:t>
            </a:r>
          </a:p>
          <a:p xmlns:a="http://schemas.openxmlformats.org/drawingml/2006/main">
            <a:r>
              <a:t>Trend / history</a:t>
            </a:r>
          </a:p>
          <a:p xmlns:a="http://schemas.openxmlformats.org/drawingml/2006/main">
            <a:r>
              <a:t>moving_avg_confidence, moving_std_confidence, rolling_std_confidence,</a:t>
            </a:r>
          </a:p>
          <a:p xmlns:a="http://schemas.openxmlformats.org/drawingml/2006/main">
            <a:r>
              <a:t>confidence_range_so_far</a:t>
            </a:r>
          </a:p>
          <a:p xmlns:a="http://schemas.openxmlformats.org/drawingml/2006/main">
            <a:r>
              <a:t>Pattern</a:t>
            </a:r>
          </a:p>
          <a:p xmlns:a="http://schemas.openxmlformats.org/drawingml/2006/main">
            <a:r>
              <a:t>consecutive_decreases, step, corruption_level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AI_Confidence_Drift_Presentation.pptx, slide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CONFIDENCE VS. ACTUAL CORRECTNESS</a:t>
            </a:r>
          </a:p>
          <a:p xmlns:a="http://schemas.openxmlformats.org/drawingml/2006/main">
            <a:r>
              <a:t>Does higher confidence mean higher accuracy?</a:t>
            </a:r>
          </a:p>
          <a:p xmlns:a="http://schemas.openxmlformats.org/drawingml/2006/main">
            <a:r>
              <a:t>Figure 2. Accuracy by confidence bin, step-0 test predictions.</a:t>
            </a:r>
          </a:p>
          <a:p xmlns:a="http://schemas.openxmlformats.org/drawingml/2006/main">
            <a:r>
              <a:t>Confidence range</a:t>
            </a:r>
          </a:p>
          <a:p xmlns:a="http://schemas.openxmlformats.org/drawingml/2006/main">
            <a:r>
              <a:t>n</a:t>
            </a:r>
          </a:p>
          <a:p xmlns:a="http://schemas.openxmlformats.org/drawingml/2006/main">
            <a:r>
              <a:t>Accuracy</a:t>
            </a:r>
          </a:p>
          <a:p xmlns:a="http://schemas.openxmlformats.org/drawingml/2006/main">
            <a:r>
              <a:t>40-60%</a:t>
            </a:r>
          </a:p>
          <a:p xmlns:a="http://schemas.openxmlformats.org/drawingml/2006/main">
            <a:r>
              <a:t>156</a:t>
            </a:r>
          </a:p>
          <a:p xmlns:a="http://schemas.openxmlformats.org/drawingml/2006/main">
            <a:r>
              <a:t>63.5%</a:t>
            </a:r>
          </a:p>
          <a:p xmlns:a="http://schemas.openxmlformats.org/drawingml/2006/main">
            <a:r>
              <a:t>60-80%</a:t>
            </a:r>
          </a:p>
          <a:p xmlns:a="http://schemas.openxmlformats.org/drawingml/2006/main">
            <a:r>
              <a:t>223</a:t>
            </a:r>
          </a:p>
          <a:p xmlns:a="http://schemas.openxmlformats.org/drawingml/2006/main">
            <a:r>
              <a:t>90.1%</a:t>
            </a:r>
          </a:p>
          <a:p xmlns:a="http://schemas.openxmlformats.org/drawingml/2006/main">
            <a:r>
              <a:t>80-100%</a:t>
            </a:r>
          </a:p>
          <a:p xmlns:a="http://schemas.openxmlformats.org/drawingml/2006/main">
            <a:r>
              <a:t>60</a:t>
            </a:r>
          </a:p>
          <a:p xmlns:a="http://schemas.openxmlformats.org/drawingml/2006/main">
            <a:r>
              <a:t>93.3%</a:t>
            </a:r>
          </a:p>
          <a:p xmlns:a="http://schemas.openxmlformats.org/drawingml/2006/main">
            <a:r>
              <a:t>Accuracy rises with confidence, so confidence carries real signal. But the relationship is not perfectly clean, see calibration next.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CALIBRATION ANALYSIS</a:t>
            </a:r>
          </a:p>
          <a:p xmlns:a="http://schemas.openxmlformats.org/drawingml/2006/main">
            <a:r>
              <a:t>Confidence is not perfectly calibrated</a:t>
            </a:r>
          </a:p>
          <a:p xmlns:a="http://schemas.openxmlformats.org/drawingml/2006/main">
            <a:r>
              <a:t>Figure 3. Reliability diagram, step-0 test predictions.</a:t>
            </a:r>
          </a:p>
          <a:p xmlns:a="http://schemas.openxmlformats.org/drawingml/2006/main">
            <a:r>
              <a:t>Expected Calibration Error: 0.153</a:t>
            </a:r>
          </a:p>
          <a:p xmlns:a="http://schemas.openxmlformats.org/drawingml/2006/main">
            <a:r>
              <a:t>Brier score: 0.125</a:t>
            </a:r>
          </a:p>
          <a:p xmlns:a="http://schemas.openxmlformats.org/drawingml/2006/main">
            <a:r>
              <a:t>The model is a bit under-confident in the 0.6-0.9 range, its accuracy there is higher than its stated confidence.</a:t>
            </a:r>
          </a:p>
          <a:p xmlns:a="http://schemas.openxmlformats.org/drawingml/2006/main">
            <a:r>
              <a:t>The top bin (0.9-1.0, only 10 samples) has lower accuracy (80%) than the bin below it (96%). Likely small-sample noise, but a fair reminder that very high confidence is not a guarantee.</a:t>
            </a:r>
          </a:p>
          <a:p xmlns:a="http://schemas.openxmlformats.org/drawingml/2006/main">
            <a:r>
              <a:t>This is exactly why I built a separate detector rather than trusting raw confidence on its own (slide 11).</a:t>
            </a:r>
          </a:p>
          <a:p xmlns:a="http://schemas.openxmlformats.org/drawingml/2006/main">
            <a:r>
              <a:t>AI Confidence Drift Detection  ·  Pranav  ·  PranavX Labs AI/ML Internship</a:t>
            </a:r>
          </a:p>
          <a:p xmlns:a="http://schemas.openxmlformats.org/drawingml/2006/main">
            <a:r>
              <a:t>9 / 14</a:t>
            </a:r>
          </a:p>
          <a:p xmlns:a="http://schemas.openxmlformats.org/drawingml/2006/main">
            <a:r>
              <a:t>Exact calibration values: results/metrics/calibration_analysis.json.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AI_Confidence_Drift_Presentation.pptx, slide 10.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HIGH-CONFIDENCE ERROR ANALYSIS</a:t>
            </a:r>
          </a:p>
          <a:p xmlns:a="http://schemas.openxmlformats.org/drawingml/2006/main">
            <a:r>
              <a:t>When the model is confident, and wrong</a:t>
            </a:r>
          </a:p>
          <a:p xmlns:a="http://schemas.openxmlformats.org/drawingml/2006/main">
            <a:r>
              <a:t>100 of 439 step-0 predictions (22.8%) were high confidence, 75% or above.</a:t>
            </a:r>
          </a:p>
          <a:p xmlns:a="http://schemas.openxmlformats.org/drawingml/2006/main">
            <a:r>
              <a:t>6 of those 100 (6.0%) were still wrong.</a:t>
            </a:r>
          </a:p>
          <a:p xmlns:a="http://schemas.openxmlformats.org/drawingml/2006/main">
            <a:r>
              <a:t>One case: the model was 96.3% confident and completely wrong (doc_00750).</a:t>
            </a:r>
          </a:p>
          <a:p xmlns:a="http://schemas.openxmlformats.org/drawingml/2006/main">
            <a:r>
              <a:t>All 6 high-confidence errors went the same direction: true label alt.atheism, predicted soc.religion.christian. My guess is that these posts quote Christian scripture while arguing against it, and a TF-IDF/bigram model cannot tell that apart from someone writing as a believer. A reasonable explanation from what I can see, not something I have proven.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AI_Confidence_Drift_Presentation.pptx, slide 11.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EXPERIMENTS A / B / C</a:t>
            </a:r>
          </a:p>
          <a:p xmlns:a="http://schemas.openxmlformats.org/drawingml/2006/main">
            <a:r>
              <a:t>Does confidence drift actually help?</a:t>
            </a:r>
          </a:p>
          <a:p xmlns:a="http://schemas.openxmlformats.org/drawingml/2006/main">
            <a:r>
              <a:t>Same document-level train/test split throughout. Task: predict whether a prediction is unreliable.</a:t>
            </a:r>
          </a:p>
          <a:p xmlns:a="http://schemas.openxmlformats.org/drawingml/2006/main">
            <a:r>
              <a:t>Experiment</a:t>
            </a:r>
          </a:p>
          <a:p xmlns:a="http://schemas.openxmlformats.org/drawingml/2006/main">
            <a:r>
              <a:t>Features</a:t>
            </a:r>
          </a:p>
          <a:p xmlns:a="http://schemas.openxmlformats.org/drawingml/2006/main">
            <a:r>
              <a:t>F1</a:t>
            </a:r>
          </a:p>
          <a:p xmlns:a="http://schemas.openxmlformats.org/drawingml/2006/main">
            <a:r>
              <a:t>ROC-AUC</a:t>
            </a:r>
          </a:p>
          <a:p xmlns:a="http://schemas.openxmlformats.org/drawingml/2006/main">
            <a:r>
              <a:t>A</a:t>
            </a:r>
          </a:p>
          <a:p xmlns:a="http://schemas.openxmlformats.org/drawingml/2006/main">
            <a:r>
              <a:t>none (step, corruption level only)</a:t>
            </a:r>
          </a:p>
          <a:p xmlns:a="http://schemas.openxmlformats.org/drawingml/2006/main">
            <a:r>
              <a:t>0.253</a:t>
            </a:r>
          </a:p>
          <a:p xmlns:a="http://schemas.openxmlformats.org/drawingml/2006/main">
            <a:r>
              <a:t>0.508</a:t>
            </a:r>
          </a:p>
          <a:p xmlns:a="http://schemas.openxmlformats.org/drawingml/2006/main">
            <a:r>
              <a:t>B</a:t>
            </a:r>
          </a:p>
          <a:p xmlns:a="http://schemas.openxmlformats.org/drawingml/2006/main">
            <a:r>
              <a:t>single-point confidence</a:t>
            </a:r>
          </a:p>
          <a:p xmlns:a="http://schemas.openxmlformats.org/drawingml/2006/main">
            <a:r>
              <a:t>0.443</a:t>
            </a:r>
          </a:p>
          <a:p xmlns:a="http://schemas.openxmlformats.org/drawingml/2006/main">
            <a:r>
              <a:t>0.741</a:t>
            </a:r>
          </a:p>
          <a:p xmlns:a="http://schemas.openxmlformats.org/drawingml/2006/main">
            <a:r>
              <a:t>C</a:t>
            </a:r>
          </a:p>
          <a:p xmlns:a="http://schemas.openxmlformats.org/drawingml/2006/main">
            <a:r>
              <a:t>full confidence-drift features</a:t>
            </a:r>
          </a:p>
          <a:p xmlns:a="http://schemas.openxmlformats.org/drawingml/2006/main">
            <a:r>
              <a:t>0.483</a:t>
            </a:r>
          </a:p>
          <a:p xmlns:a="http://schemas.openxmlformats.org/drawingml/2006/main">
            <a:r>
              <a:t>0.787</a:t>
            </a:r>
          </a:p>
          <a:p xmlns:a="http://schemas.openxmlformats.org/drawingml/2006/main">
            <a:r>
              <a:t>+0.230</a:t>
            </a:r>
          </a:p>
          <a:p xmlns:a="http://schemas.openxmlformats.org/drawingml/2006/main">
            <a:r>
              <a:t>F1 improvement, A to C</a:t>
            </a:r>
          </a:p>
          <a:p xmlns:a="http://schemas.openxmlformats.org/drawingml/2006/main">
            <a:r>
              <a:t>+0.279</a:t>
            </a:r>
          </a:p>
          <a:p xmlns:a="http://schemas.openxmlformats.org/drawingml/2006/main">
            <a:r>
              <a:t>ROC-AUC improvement, A to C</a:t>
            </a:r>
          </a:p>
          <a:p xmlns:a="http://schemas.openxmlformats.org/drawingml/2006/main">
            <a:r>
              <a:t>Real, measured improvement. F1 of 0.48 still is not great in absolute terms though, this is a meaningful step, not a solved problem.</a:t>
            </a:r>
          </a:p>
          <a:p xmlns:a="http://schemas.openxmlformats.org/drawingml/2006/main">
            <a:r>
              <a:t>Logistic Regression results shown; Random Forest and Gradient Boosting gave comparable F1 (0.47-0.49) on the C feature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AI_Confidence_Drift_Presentation.pptx, slide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RESULTS SUMMARY</a:t>
            </a:r>
          </a:p>
          <a:p xmlns:a="http://schemas.openxmlformats.org/drawingml/2006/main">
            <a:r>
              <a:t>What I found</a:t>
            </a:r>
          </a:p>
          <a:p xmlns:a="http://schemas.openxmlformats.org/drawingml/2006/main">
            <a:r>
              <a:t>Confidence carries real signal on average: accuracy rises from 63.5% to 93.3% across confidence bins.</a:t>
            </a:r>
          </a:p>
          <a:p xmlns:a="http://schemas.openxmlformats.org/drawingml/2006/main">
            <a:r>
              <a:t>But it is not perfectly calibrated: ECE of 0.153, and 6% of high-confidence predictions are still wrong.</a:t>
            </a:r>
          </a:p>
          <a:p xmlns:a="http://schemas.openxmlformats.org/drawingml/2006/main">
            <a:r>
              <a:t>Net confidence drift alone is a weak predictor of error (correlation of about 0.04). I tested this assumption instead of taking it for granted, and it did not hold.</a:t>
            </a:r>
          </a:p>
          <a:p xmlns:a="http://schemas.openxmlformats.org/drawingml/2006/main">
            <a:r>
              <a:t>The shape of the drift sequence does help: volatility, moving stats and consecutive drops lifted unreliable-prediction detection from F1 0.25 to 0.48, and ROC-AUC 0.51 to 0.79.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AI_Confidence_Drift_Presentation.pptx, slide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LIMITATIONS &amp; FUTURE SCOPE</a:t>
            </a:r>
          </a:p>
          <a:p xmlns:a="http://schemas.openxmlformats.org/drawingml/2006/main">
            <a:r>
              <a:t>Limitations and what I would try next</a:t>
            </a:r>
          </a:p>
          <a:p xmlns:a="http://schemas.openxmlformats.org/drawingml/2006/main">
            <a:r>
              <a:t>Limitations</a:t>
            </a:r>
          </a:p>
          <a:p xmlns:a="http://schemas.openxmlformats.org/drawingml/2006/main">
            <a:r>
              <a:t>Sequences are simulated through text corruption, not naturally repeated real-world queries.</a:t>
            </a:r>
          </a:p>
          <a:p xmlns:a="http://schemas.openxmlformats.org/drawingml/2006/main">
            <a:r>
              <a:t>Dataset is modest in size (439 test documents), some bins have very few samples.</a:t>
            </a:r>
          </a:p>
          <a:p xmlns:a="http://schemas.openxmlformats.org/drawingml/2006/main">
            <a:r>
              <a:t>Only two classes were studied, and only one base model architecture.</a:t>
            </a:r>
          </a:p>
          <a:p xmlns:a="http://schemas.openxmlformats.org/drawingml/2006/main">
            <a:r>
              <a:t>Detector F1 of about 0.48 means it still misses or mislabels a fair number of predictions.</a:t>
            </a:r>
          </a:p>
          <a:p xmlns:a="http://schemas.openxmlformats.org/drawingml/2006/main">
            <a:r>
              <a:t>What I would try next</a:t>
            </a:r>
          </a:p>
          <a:p xmlns:a="http://schemas.openxmlformats.org/drawingml/2006/main">
            <a:r>
              <a:t>Try a different base model, like a neural text classifier, and see if drift features still help.</a:t>
            </a:r>
          </a:p>
          <a:p xmlns:a="http://schemas.openxmlformats.org/drawingml/2006/main">
            <a:r>
              <a:t>Use genuinely repeated real-world queries instead of synthetic corruption, if such data becomes available.</a:t>
            </a:r>
          </a:p>
          <a:p xmlns:a="http://schemas.openxmlformats.org/drawingml/2006/main">
            <a:r>
              <a:t>Try calibration techniques like temperature scaling and check whether that changes what the drift features add.</a:t>
            </a:r>
          </a:p>
          <a:p xmlns:a="http://schemas.openxmlformats.org/drawingml/2006/main">
            <a:r>
              <a:t>Extend to multi-class classification with richer margin and entropy features.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AI_Confidence_Drift_Presentation.pptx, slide 14.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CONCLUSION</a:t>
            </a:r>
          </a:p>
          <a:p xmlns:a="http://schemas.openxmlformats.org/drawingml/2006/main">
            <a:r>
              <a:t>Confidence drift is useful, if you look at its shape</a:t>
            </a:r>
          </a:p>
          <a:p xmlns:a="http://schemas.openxmlformats.org/drawingml/2006/main">
            <a:r>
              <a:t>Confidence lines up with correctness on average, but it is not something to trust blindly. 6% of high-confidence predictions were still wrong, and net drift barely predicted error on its own (correlation of about 0.04). A detector trained on the </a:t>
            </a:r>
          </a:p>
          <a:p xmlns:a="http://schemas.openxmlformats.org/drawingml/2006/main">
            <a:r>
              <a:t>shape</a:t>
            </a:r>
          </a:p>
          <a:p xmlns:a="http://schemas.openxmlformats.org/drawingml/2006/main">
            <a:r>
              <a:t> of the confidence sequence, its volatility, moving statistics, and consecutive drops, gave a real, measured improvement: F1 went from 0.25 to 0.48, ROC-AUC from 0.51 to 0.79.</a:t>
            </a:r>
          </a:p>
          <a:p xmlns:a="http://schemas.openxmlformats.org/drawingml/2006/main">
            <a:r>
              <a:t>So my answer to the research question is yes, with a condition I tested rather than assumed: confidence drift is useful when you look at its statistical shape, not just whether it went up or down. There is still real room to improve the detector, which I think is an honest place to end this project.</a:t>
            </a:r>
          </a:p>
          <a:p xmlns:a="http://schemas.openxmlformats.org/drawingml/2006/main">
            <a:r>
              <a:t>Code, data, models, figures and the full research report:</a:t>
            </a:r>
          </a:p>
          <a:p xmlns:a="http://schemas.openxmlformats.org/drawingml/2006/main">
            <a:r>
              <a:t>github.com/ahansardar/ai-confidence-drift</a:t>
            </a:r>
          </a:p>
          <a:p xmlns:a="http://schemas.openxmlformats.org/drawingml/2006/main">
            <a:r>
              <a:t>Thank you.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921e7cb68f40e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992299630d4d89" /><Relationship Type="http://schemas.openxmlformats.org/officeDocument/2006/relationships/slideLayout" Target="/ppt/slideLayouts/slideLayout1.xml" Id="R50577aa09c0f422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0577aa09c0f422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5d8b0347664402" /><Relationship Type="http://schemas.openxmlformats.org/officeDocument/2006/relationships/hyperlink" Target="https://github.com/ahansardar/ai-confidence-drift" TargetMode="External" Id="Ra4d4a3a31ad84d70" /><Relationship Type="http://schemas.openxmlformats.org/officeDocument/2006/relationships/notesSlide" Target="/ppt/notesSlides/notesSlide1.xml" Id="R1d9ac42bacac4a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31753120fa4247" /><Relationship Type="http://schemas.openxmlformats.org/officeDocument/2006/relationships/notesSlide" Target="/ppt/notesSlides/notesSlide2.xml" Id="Rb7822a8cc56f400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93be9dc85f4e80" /><Relationship Type="http://schemas.openxmlformats.org/officeDocument/2006/relationships/notesSlide" Target="/ppt/notesSlides/notesSlide3.xml" Id="R4775f11c3c9f466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7529d464a74914" /><Relationship Type="http://schemas.openxmlformats.org/officeDocument/2006/relationships/notesSlide" Target="/ppt/notesSlides/notesSlide4.xml" Id="R0c179ebdc04c4b5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eeaf8820c74482" /><Relationship Type="http://schemas.openxmlformats.org/officeDocument/2006/relationships/notesSlide" Target="/ppt/notesSlides/notesSlide5.xml" Id="Rd8f84fe0424c425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06407e48924af9" /><Relationship Type="http://schemas.openxmlformats.org/officeDocument/2006/relationships/chart" Target="/ppt/slides/charts/chart1.xml" Id="R387cf53480b243fa" /><Relationship Type="http://schemas.openxmlformats.org/officeDocument/2006/relationships/notesSlide" Target="/ppt/notesSlides/notesSlide6.xml" Id="R31d00dc5b8ef46c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4e4d357f2247d4" /><Relationship Type="http://schemas.openxmlformats.org/officeDocument/2006/relationships/notesSlide" Target="/ppt/notesSlides/notesSlide7.xml" Id="R75d8ab585272476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8b36451a35492b" /><Relationship Type="http://schemas.openxmlformats.org/officeDocument/2006/relationships/chart" Target="/ppt/slides/charts/chart2.xml" Id="R6a4f13825d5d4215" /><Relationship Type="http://schemas.openxmlformats.org/officeDocument/2006/relationships/notesSlide" Target="/ppt/notesSlides/notesSlide8.xml" Id="Rb80d9d3a14f0467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ea7e22fe30440d" /><Relationship Type="http://schemas.openxmlformats.org/officeDocument/2006/relationships/chart" Target="/ppt/slides/charts/chart3.xml" Id="R5a3bc2a13a3047a0" /><Relationship Type="http://schemas.openxmlformats.org/officeDocument/2006/relationships/notesSlide" Target="/ppt/notesSlides/notesSlide9.xml" Id="R4ddbf5c9762342d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fd110a4a8f4d33" /><Relationship Type="http://schemas.openxmlformats.org/officeDocument/2006/relationships/notesSlide" Target="/ppt/notesSlides/notesSlide10.xml" Id="Rf0ad4b5279034fe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1747ee38254e24" /><Relationship Type="http://schemas.openxmlformats.org/officeDocument/2006/relationships/notesSlide" Target="/ppt/notesSlides/notesSlide11.xml" Id="Rc83d1871d902497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800401f44e4219" /><Relationship Type="http://schemas.openxmlformats.org/officeDocument/2006/relationships/notesSlide" Target="/ppt/notesSlides/notesSlide12.xml" Id="R5d5eba25b71d432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20b2ad17cf4235" /><Relationship Type="http://schemas.openxmlformats.org/officeDocument/2006/relationships/notesSlide" Target="/ppt/notesSlides/notesSlide13.xml" Id="Rf75186b2b7de488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3f8e87541242fc" /><Relationship Type="http://schemas.openxmlformats.org/officeDocument/2006/relationships/hyperlink" Target="https://github.com/ahansardar/ai-confidence-drift" TargetMode="External" Id="R1e50029c3963453f" /><Relationship Type="http://schemas.openxmlformats.org/officeDocument/2006/relationships/notesSlide" Target="/ppt/notesSlides/notesSlide14.xml" Id="Rcb10f99121bc46c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doc_00947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Data'!$A$2:$A$7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Data'!$B$2:$B$7</c:f>
              <c:numCache>
                <c:formatCode>0.0</c:formatCode>
                <c:ptCount val="6"/>
                <c:pt idx="0">
                  <c:v>0.719348323778</c:v>
                </c:pt>
                <c:pt idx="1">
                  <c:v>0.759857742655</c:v>
                </c:pt>
                <c:pt idx="2">
                  <c:v>0.715960064383</c:v>
                </c:pt>
                <c:pt idx="3">
                  <c:v>0.779436106036</c:v>
                </c:pt>
                <c:pt idx="4">
                  <c:v>0.734494194224</c:v>
                </c:pt>
                <c:pt idx="5">
                  <c:v>0.65024637782</c:v>
                </c:pt>
              </c:numCache>
            </c:numRef>
          </c:val>
          <c:smooth val="0"/>
        </c:ser>
        <c:ser>
          <c:idx val="1"/>
          <c:order val="1"/>
          <c:tx>
            <c:v>doc_00379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Data'!$C$2:$C$7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Data'!$D$2:$D$7</c:f>
              <c:numCache>
                <c:formatCode>0.0</c:formatCode>
                <c:ptCount val="6"/>
                <c:pt idx="0">
                  <c:v>0.651263024184</c:v>
                </c:pt>
                <c:pt idx="1">
                  <c:v>0.622375661344</c:v>
                </c:pt>
                <c:pt idx="2">
                  <c:v>0.639477690662</c:v>
                </c:pt>
                <c:pt idx="3">
                  <c:v>0.554223020774</c:v>
                </c:pt>
                <c:pt idx="4">
                  <c:v>0.660040219646</c:v>
                </c:pt>
                <c:pt idx="5">
                  <c:v>0.61338156255</c:v>
                </c:pt>
              </c:numCache>
            </c:numRef>
          </c:val>
          <c:smooth val="0"/>
        </c:ser>
        <c:ser>
          <c:idx val="2"/>
          <c:order val="2"/>
          <c:tx>
            <c:v>doc_00862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Data'!$E$2:$E$7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Data'!$F$2:$F$7</c:f>
              <c:numCache>
                <c:formatCode>0.0</c:formatCode>
                <c:ptCount val="6"/>
                <c:pt idx="0">
                  <c:v>0.654961951257</c:v>
                </c:pt>
                <c:pt idx="1">
                  <c:v>0.634114026368</c:v>
                </c:pt>
                <c:pt idx="2">
                  <c:v>0.6025647027</c:v>
                </c:pt>
                <c:pt idx="3">
                  <c:v>0.651328412914</c:v>
                </c:pt>
                <c:pt idx="4">
                  <c:v>0.605972114083</c:v>
                </c:pt>
                <c:pt idx="5">
                  <c:v>0.594695141483</c:v>
                </c:pt>
              </c:numCache>
            </c:numRef>
          </c:val>
          <c:smooth val="0"/>
        </c:ser>
        <c:ser>
          <c:idx val="3"/>
          <c:order val="3"/>
          <c:tx>
            <c:v>doc_00666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Data'!$G$2:$G$7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Data'!$H$2:$H$7</c:f>
              <c:numCache>
                <c:formatCode>0.0</c:formatCode>
                <c:ptCount val="6"/>
                <c:pt idx="0">
                  <c:v>0.573958284012</c:v>
                </c:pt>
                <c:pt idx="1">
                  <c:v>0.587214607883</c:v>
                </c:pt>
                <c:pt idx="2">
                  <c:v>0.603181527254</c:v>
                </c:pt>
                <c:pt idx="3">
                  <c:v>0.575965645126</c:v>
                </c:pt>
                <c:pt idx="4">
                  <c:v>0.532733701042</c:v>
                </c:pt>
                <c:pt idx="5">
                  <c:v>0.600116323688</c:v>
                </c:pt>
              </c:numCache>
            </c:numRef>
          </c:val>
          <c:smooth val="0"/>
        </c:ser>
        <c:ser>
          <c:idx val="4"/>
          <c:order val="4"/>
          <c:tx>
            <c:v>doc_00906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Data'!$I$2:$I$7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Data'!$J$2:$J$7</c:f>
              <c:numCache>
                <c:formatCode>0.0</c:formatCode>
                <c:ptCount val="6"/>
                <c:pt idx="0">
                  <c:v>0.803287623609</c:v>
                </c:pt>
                <c:pt idx="1">
                  <c:v>0.782247690794</c:v>
                </c:pt>
                <c:pt idx="2">
                  <c:v>0.752273990641</c:v>
                </c:pt>
                <c:pt idx="3">
                  <c:v>0.700765789377</c:v>
                </c:pt>
                <c:pt idx="4">
                  <c:v>0.749902716815</c:v>
                </c:pt>
                <c:pt idx="5">
                  <c:v>0.7218809687</c:v>
                </c:pt>
              </c:numCache>
            </c:numRef>
          </c:val>
          <c:smooth val="0"/>
        </c:ser>
        <c:ser>
          <c:idx val="5"/>
          <c:order val="5"/>
          <c:tx>
            <c:v>doc_00682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Data'!$K$2:$K$7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Data'!$L$2:$L$7</c:f>
              <c:numCache>
                <c:formatCode>0.0</c:formatCode>
                <c:ptCount val="6"/>
                <c:pt idx="0">
                  <c:v>0.547705670064</c:v>
                </c:pt>
                <c:pt idx="1">
                  <c:v>0.529057843546</c:v>
                </c:pt>
                <c:pt idx="2">
                  <c:v>0.520742630581</c:v>
                </c:pt>
                <c:pt idx="3">
                  <c:v>0.519210703769</c:v>
                </c:pt>
                <c:pt idx="4">
                  <c:v>0.525511695583</c:v>
                </c:pt>
                <c:pt idx="5">
                  <c:v>0.535102525295</c:v>
                </c:pt>
              </c:numCache>
            </c:numRef>
          </c:val>
          <c:smooth val="0"/>
        </c:ser>
        <c:ser>
          <c:idx val="6"/>
          <c:order val="6"/>
          <c:tx>
            <c:v>doc_00653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Data'!$M$2:$M$7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Data'!$N$2:$N$7</c:f>
              <c:numCache>
                <c:formatCode>0.0</c:formatCode>
                <c:ptCount val="6"/>
                <c:pt idx="0">
                  <c:v>0.599758428292</c:v>
                </c:pt>
                <c:pt idx="1">
                  <c:v>0.550448651466</c:v>
                </c:pt>
                <c:pt idx="2">
                  <c:v>0.557847904289</c:v>
                </c:pt>
                <c:pt idx="3">
                  <c:v>0.651255992277</c:v>
                </c:pt>
                <c:pt idx="4">
                  <c:v>0.614750156933</c:v>
                </c:pt>
                <c:pt idx="5">
                  <c:v>0.538446294376</c:v>
                </c:pt>
              </c:numCache>
            </c:numRef>
          </c:val>
          <c:smooth val="0"/>
        </c:ser>
        <c:ser>
          <c:idx val="7"/>
          <c:order val="7"/>
          <c:tx>
            <c:v>doc_00750</c:v>
          </c:tx>
          <c:spPr>
            <a:ln xmlns:a="http://schemas.openxmlformats.org/drawingml/2006/main" w="28575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Data'!$O$2:$O$7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Data'!$P$2:$P$7</c:f>
              <c:numCache>
                <c:formatCode>0.0</c:formatCode>
                <c:ptCount val="6"/>
                <c:pt idx="0">
                  <c:v>0.963198276368</c:v>
                </c:pt>
                <c:pt idx="1">
                  <c:v>0.951794704782</c:v>
                </c:pt>
                <c:pt idx="2">
                  <c:v>0.950893635072</c:v>
                </c:pt>
                <c:pt idx="3">
                  <c:v>0.950536433004</c:v>
                </c:pt>
                <c:pt idx="4">
                  <c:v>0.947528281923</c:v>
                </c:pt>
                <c:pt idx="5">
                  <c:v>0.949225523566</c:v>
                </c:pt>
              </c:numCache>
            </c:numRef>
          </c:val>
          <c:smooth val="0"/>
        </c:ser>
        <c:ser>
          <c:idx val="8"/>
          <c:order val="8"/>
          <c:tx>
            <c:v>doc_00949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Data'!$Q$2:$Q$7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Data'!$R$2:$R$7</c:f>
              <c:numCache>
                <c:formatCode>0.0</c:formatCode>
                <c:ptCount val="6"/>
                <c:pt idx="0">
                  <c:v>0.708532227862</c:v>
                </c:pt>
                <c:pt idx="1">
                  <c:v>0.7334973885</c:v>
                </c:pt>
                <c:pt idx="2">
                  <c:v>0.698768398381</c:v>
                </c:pt>
                <c:pt idx="3">
                  <c:v>0.674598700135</c:v>
                </c:pt>
                <c:pt idx="4">
                  <c:v>0.650643222049</c:v>
                </c:pt>
                <c:pt idx="5">
                  <c:v>0.714768716563</c:v>
                </c:pt>
              </c:numCache>
            </c:numRef>
          </c:val>
          <c:smooth val="0"/>
        </c:ser>
        <c:ser>
          <c:idx val="9"/>
          <c:order val="9"/>
          <c:tx>
            <c:v>doc_01749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Data'!$S$2:$S$7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Data'!$T$2:$T$7</c:f>
              <c:numCache>
                <c:formatCode>0.0</c:formatCode>
                <c:ptCount val="6"/>
                <c:pt idx="0">
                  <c:v>0.728667954938</c:v>
                </c:pt>
                <c:pt idx="1">
                  <c:v>0.762369273157</c:v>
                </c:pt>
                <c:pt idx="2">
                  <c:v>0.753212408906</c:v>
                </c:pt>
                <c:pt idx="3">
                  <c:v>0.731961285524</c:v>
                </c:pt>
                <c:pt idx="4">
                  <c:v>0.751639954251</c:v>
                </c:pt>
                <c:pt idx="5">
                  <c:v>0.735266212207</c:v>
                </c:pt>
              </c:numCache>
            </c:numRef>
          </c:val>
          <c:smooth val="0"/>
        </c:ser>
        <c:ser>
          <c:idx val="10"/>
          <c:order val="10"/>
          <c:tx>
            <c:v>doc_01258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Data'!$U$2:$U$7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Data'!$V$2:$V$7</c:f>
              <c:numCache>
                <c:formatCode>0.0</c:formatCode>
                <c:ptCount val="6"/>
                <c:pt idx="0">
                  <c:v>0.591846293039</c:v>
                </c:pt>
                <c:pt idx="1">
                  <c:v>0.545772336168</c:v>
                </c:pt>
                <c:pt idx="2">
                  <c:v>0.621892145394</c:v>
                </c:pt>
                <c:pt idx="3">
                  <c:v>0.638648588279</c:v>
                </c:pt>
                <c:pt idx="4">
                  <c:v>0.511166197593</c:v>
                </c:pt>
                <c:pt idx="5">
                  <c:v>0.5432283627</c:v>
                </c:pt>
              </c:numCache>
            </c:numRef>
          </c:val>
          <c:smooth val="0"/>
        </c:ser>
        <c:ser>
          <c:idx val="11"/>
          <c:order val="11"/>
          <c:tx>
            <c:v>doc_01065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Data'!$W$2:$W$7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Data'!$X$2:$X$7</c:f>
              <c:numCache>
                <c:formatCode>0.0</c:formatCode>
                <c:ptCount val="6"/>
                <c:pt idx="0">
                  <c:v>0.562596053114</c:v>
                </c:pt>
                <c:pt idx="1">
                  <c:v>0.60434583868</c:v>
                </c:pt>
                <c:pt idx="2">
                  <c:v>0.573350875561</c:v>
                </c:pt>
                <c:pt idx="3">
                  <c:v>0.516305034727</c:v>
                </c:pt>
                <c:pt idx="4">
                  <c:v>0.536507176618</c:v>
                </c:pt>
                <c:pt idx="5">
                  <c:v>0.559754662177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636761"/>
                    </a:solidFill>
                    <a:latin typeface="Calibri"/>
                    <a:ea typeface="Calibri"/>
                    <a:cs typeface="Calibri"/>
                  </a:rPr>
                  <a:t>Corruption level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636761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3C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.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3C9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8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8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Accuracy</c:v>
          </c:tx>
          <c:spPr>
            <a:solidFill xmlns:a="http://schemas.openxmlformats.org/drawingml/2006/main">
              <a:srgbClr val="53695F"/>
            </a:solidFill>
          </c:spPr>
          <c:cat>
            <c:strRef>
              <c:f>'Chart Data'!$A$2:$A$4</c:f>
              <c:strCache>
                <c:ptCount val="3"/>
                <c:pt idx="0">
                  <c:v>40–60%</c:v>
                </c:pt>
                <c:pt idx="1">
                  <c:v>60–80%</c:v>
                </c:pt>
                <c:pt idx="2">
                  <c:v>80–100%</c:v>
                </c:pt>
              </c:strCache>
            </c:strRef>
          </c:cat>
          <c:val>
            <c:numRef>
              <c:f>'Chart Data'!$B$2:$B$4</c:f>
              <c:numCache>
                <c:formatCode>0.0%</c:formatCode>
                <c:ptCount val="3"/>
                <c:pt idx="0">
                  <c:v>0.634615384615</c:v>
                </c:pt>
                <c:pt idx="1">
                  <c:v>0.90134529148</c:v>
                </c:pt>
                <c:pt idx="2">
                  <c:v>0.933333333333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025" b="1">
                  <a:solidFill>
                    <a:srgbClr val="292B28"/>
                  </a:solidFill>
                  <a:latin typeface="Calibri"/>
                  <a:ea typeface="Calibri"/>
                  <a:cs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636761"/>
                    </a:solidFill>
                    <a:latin typeface="Calibri"/>
                    <a:ea typeface="Calibri"/>
                    <a:cs typeface="Calibri"/>
                  </a:rPr>
                  <a:t>Confidence range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636761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3C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3C9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8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8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Perfect calibration</c:v>
          </c:tx>
          <c:spPr>
            <a:ln xmlns:a="http://schemas.openxmlformats.org/drawingml/2006/main" w="14288">
              <a:solidFill>
                <a:srgbClr val="A9ADA7"/>
              </a:solidFill>
              <a:prstDash val="dash"/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'Chart Data'!$B$2:$B$3</c:f>
              <c:numCache>
                <c:formatCode>0.0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</c:ser>
        <c:ser>
          <c:idx val="1"/>
          <c:order val="1"/>
          <c:tx>
            <c:v>Observed accuracy</c:v>
          </c:tx>
          <c:spPr>
            <a:ln xmlns:a="http://schemas.openxmlformats.org/drawingml/2006/main" w="28575">
              <a:solidFill>
                <a:srgbClr val="53695F"/>
              </a:solidFill>
            </a:ln>
          </c:spPr>
          <c:marker>
            <c:symbol val="circle"/>
            <c:size val="8"/>
            <c:spPr>
              <a:solidFill xmlns:a="http://schemas.openxmlformats.org/drawingml/2006/main">
                <a:srgbClr val="53695F"/>
              </a:solidFill>
            </c:spPr>
          </c:marker>
          <c:xVal>
            <c:numRef>
              <c:f>'Chart Data'!$C$2:$C$6</c:f>
              <c:numCache>
                <c:formatCode>General</c:formatCode>
                <c:ptCount val="5"/>
                <c:pt idx="0">
                  <c:v>0.554576604908</c:v>
                </c:pt>
                <c:pt idx="1">
                  <c:v>0.648322988615</c:v>
                </c:pt>
                <c:pt idx="2">
                  <c:v>0.744525584625</c:v>
                </c:pt>
                <c:pt idx="3">
                  <c:v>0.850104991077</c:v>
                </c:pt>
                <c:pt idx="4">
                  <c:v>0.919791378033</c:v>
                </c:pt>
              </c:numCache>
            </c:numRef>
          </c:xVal>
          <c:yVal>
            <c:numRef>
              <c:f>'Chart Data'!$D$2:$D$6</c:f>
              <c:numCache>
                <c:formatCode>0.0</c:formatCode>
                <c:ptCount val="5"/>
                <c:pt idx="0">
                  <c:v>0.634615384615</c:v>
                </c:pt>
                <c:pt idx="1">
                  <c:v>0.866666666667</c:v>
                </c:pt>
                <c:pt idx="2">
                  <c:v>0.954545454545</c:v>
                </c:pt>
                <c:pt idx="3">
                  <c:v>0.96</c:v>
                </c:pt>
                <c:pt idx="4">
                  <c:v>0.8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3C9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636761"/>
                    </a:solidFill>
                    <a:latin typeface="Calibri"/>
                    <a:ea typeface="Calibri"/>
                    <a:cs typeface="Calibri"/>
                  </a:rPr>
                  <a:t>Observed 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636761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7D3C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1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636761"/>
                    </a:solidFill>
                    <a:latin typeface="Calibri"/>
                    <a:ea typeface="Calibri"/>
                    <a:cs typeface="Calibri"/>
                  </a:rPr>
                  <a:t>Mean predicted confidence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636761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7D3C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0.2"/>
      </c:valAx>
      <c:spPr>
        <a:solidFill xmlns:a="http://schemas.openxmlformats.org/drawingml/2006/main">
          <a:srgbClr val="F8F5EF"/>
        </a:solidFill>
        <a:ln xmlns:a="http://schemas.openxmlformats.org/drawingml/2006/main" w="0">
          <a:noFill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solidFill>
                <a:srgbClr val="636761"/>
              </a:solidFill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8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01">
            <a:extLst xmlns:a="http://schemas.openxmlformats.org/drawingml/2006/main">
              <a:ext uri="{FF2B5EF4-FFF2-40B4-BE49-F238E27FC236}">
                <a16:creationId xmlns:a16="http://schemas.microsoft.com/office/drawing/2014/main" id="{95E7888E-1768-46AC-96CB-AA0D55528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2" name="PRANAVX LABS">
            <a:extLst xmlns:a="http://schemas.openxmlformats.org/drawingml/2006/main">
              <a:ext uri="{FF2B5EF4-FFF2-40B4-BE49-F238E27FC236}">
                <a16:creationId xmlns:a16="http://schemas.microsoft.com/office/drawing/2014/main" id="{CFA961AB-9851-4D13-B5D5-6B85410EB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PRANAVX LABS</a:t>
            </a:r>
          </a:p>
        </p:txBody>
      </p:sp>
      <p:sp>
        <p:nvSpPr>
          <p:cNvPr id="3" name="AI/ML Internship">
            <a:extLst xmlns:a="http://schemas.openxmlformats.org/drawingml/2006/main">
              <a:ext uri="{FF2B5EF4-FFF2-40B4-BE49-F238E27FC236}">
                <a16:creationId xmlns:a16="http://schemas.microsoft.com/office/drawing/2014/main" id="{AE3788EC-B524-443E-966A-6D8BE90E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4292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AI/ML Internship</a:t>
            </a:r>
          </a:p>
        </p:txBody>
      </p:sp>
      <p:sp>
        <p:nvSpPr>
          <p:cNvPr id="4" name="AI Confidence">
            <a:extLst xmlns:a="http://schemas.openxmlformats.org/drawingml/2006/main">
              <a:ext uri="{FF2B5EF4-FFF2-40B4-BE49-F238E27FC236}">
                <a16:creationId xmlns:a16="http://schemas.microsoft.com/office/drawing/2014/main" id="{E1C57EC8-0032-43C2-9DCC-1091DB21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1082992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0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7500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AI Confidence</a:t>
            </a:r>
          </a:p>
        </p:txBody>
      </p:sp>
      <p:sp>
        <p:nvSpPr>
          <p:cNvPr id="5" name="Drift Detection">
            <a:extLst xmlns:a="http://schemas.openxmlformats.org/drawingml/2006/main">
              <a:ext uri="{FF2B5EF4-FFF2-40B4-BE49-F238E27FC236}">
                <a16:creationId xmlns:a16="http://schemas.microsoft.com/office/drawing/2014/main" id="{FEBE8F4E-3E70-4D15-AD86-4EE79B91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71775"/>
            <a:ext cx="10829925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10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810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Drift Detection</a:t>
            </a:r>
          </a:p>
        </p:txBody>
      </p:sp>
      <p:sp>
        <p:nvSpPr>
          <p:cNvPr id="6" name="Using machine learning">
            <a:extLst xmlns:a="http://schemas.openxmlformats.org/drawingml/2006/main">
              <a:ext uri="{FF2B5EF4-FFF2-40B4-BE49-F238E27FC236}">
                <a16:creationId xmlns:a16="http://schemas.microsoft.com/office/drawing/2014/main" id="{C6977E4A-4906-4FBF-BB6D-54299080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6381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4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Using machine learning</a:t>
            </a:r>
          </a:p>
        </p:txBody>
      </p:sp>
      <p:sp>
        <p:nvSpPr>
          <p:cNvPr id="7" name="Can changes in confidence help identify&#10;unreliable">
            <a:extLst xmlns:a="http://schemas.openxmlformats.org/drawingml/2006/main">
              <a:ext uri="{FF2B5EF4-FFF2-40B4-BE49-F238E27FC236}">
                <a16:creationId xmlns:a16="http://schemas.microsoft.com/office/drawing/2014/main" id="{99B63AF8-C21D-4500-9DEF-AAD7FC8EA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05400"/>
            <a:ext cx="72199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1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Can changes in confidence help identify</a:t>
            </a:r>
          </a:p>
          <a:p xmlns:a="http://schemas.openxmlformats.org/drawingml/2006/main">
            <a:pPr algn="l">
              <a:defRPr sz="21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1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unreliable predictions?</a:t>
            </a:r>
          </a:p>
        </p:txBody>
      </p:sp>
      <p:sp>
        <p:nvSpPr>
          <p:cNvPr id="8" name="15-day research project">
            <a:extLst xmlns:a="http://schemas.openxmlformats.org/drawingml/2006/main">
              <a:ext uri="{FF2B5EF4-FFF2-40B4-BE49-F238E27FC236}">
                <a16:creationId xmlns:a16="http://schemas.microsoft.com/office/drawing/2014/main" id="{3CE90A15-3F47-4DF0-9218-B034736A3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63867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15-day research project</a:t>
            </a:r>
          </a:p>
        </p:txBody>
      </p:sp>
      <p:sp>
        <p:nvSpPr>
          <p:cNvPr id="9" name="Prepared by Ahan">
            <a:extLst xmlns:a="http://schemas.openxmlformats.org/drawingml/2006/main">
              <a:ext uri="{FF2B5EF4-FFF2-40B4-BE49-F238E27FC236}">
                <a16:creationId xmlns:a16="http://schemas.microsoft.com/office/drawing/2014/main" id="{F8C8B697-71D0-4A12-82E5-D6CE1540F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511492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7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Prepared by Ahan</a:t>
            </a:r>
          </a:p>
        </p:txBody>
      </p:sp>
      <p:sp>
        <p:nvSpPr>
          <p:cNvPr id="10" name="github.com/ahansardar/ai-confidence-drift">
            <a:extLst xmlns:a="http://schemas.openxmlformats.org/drawingml/2006/main">
              <a:ext uri="{FF2B5EF4-FFF2-40B4-BE49-F238E27FC236}">
                <a16:creationId xmlns:a16="http://schemas.microsoft.com/office/drawing/2014/main" id="{06812810-AF62-42F9-A837-CA5C76875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296025"/>
            <a:ext cx="1004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4d4a3a31ad84d70"/>
              </a:rPr>
              <a:t>github.com/ahansardar/ai-confidence-drift</a:t>
            </a:r>
          </a:p>
        </p:txBody>
      </p:sp>
    </p:spTree>
    <p:extLst>
      <p:ext uri="{BB962C8B-B14F-4D97-AF65-F5344CB8AC3E}">
        <p14:creationId xmlns:p14="http://schemas.microsoft.com/office/powerpoint/2010/main" val="11777936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he confidence problem">
            <a:extLst xmlns:a="http://schemas.openxmlformats.org/drawingml/2006/main">
              <a:ext uri="{FF2B5EF4-FFF2-40B4-BE49-F238E27FC236}">
                <a16:creationId xmlns:a16="http://schemas.microsoft.com/office/drawing/2014/main" id="{4BA36DDD-D6A8-4414-81F6-3F086D45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The confidence problem</a:t>
            </a:r>
          </a:p>
        </p:txBody>
      </p:sp>
      <p:sp>
        <p:nvSpPr>
          <p:cNvPr id="2" name="02">
            <a:extLst xmlns:a="http://schemas.openxmlformats.org/drawingml/2006/main">
              <a:ext uri="{FF2B5EF4-FFF2-40B4-BE49-F238E27FC236}">
                <a16:creationId xmlns:a16="http://schemas.microsoft.com/office/drawing/2014/main" id="{E07B2B3F-E25F-4DD9-9307-AA45DF59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3" name="96.3%">
            <a:extLst xmlns:a="http://schemas.openxmlformats.org/drawingml/2006/main">
              <a:ext uri="{FF2B5EF4-FFF2-40B4-BE49-F238E27FC236}">
                <a16:creationId xmlns:a16="http://schemas.microsoft.com/office/drawing/2014/main" id="{A082C642-0751-4FBB-A245-95C074C9F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04975"/>
            <a:ext cx="5429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87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96.3%</a:t>
            </a:r>
          </a:p>
        </p:txBody>
      </p:sp>
      <p:sp>
        <p:nvSpPr>
          <p:cNvPr id="4" name="confident. Still wrong.">
            <a:extLst xmlns:a="http://schemas.openxmlformats.org/drawingml/2006/main">
              <a:ext uri="{FF2B5EF4-FFF2-40B4-BE49-F238E27FC236}">
                <a16:creationId xmlns:a16="http://schemas.microsoft.com/office/drawing/2014/main" id="{24D2DF99-C036-481B-AFE6-BD5538909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05175"/>
            <a:ext cx="5191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0" i="1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2700" b="0" i="1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confident. Still wrong.</a:t>
            </a:r>
          </a:p>
        </p:txBody>
      </p:sp>
      <p:sp>
        <p:nvSpPr>
          <p:cNvPr id="5" name="One observed prediction&#10;Document doc_00750">
            <a:extLst xmlns:a="http://schemas.openxmlformats.org/drawingml/2006/main">
              <a:ext uri="{FF2B5EF4-FFF2-40B4-BE49-F238E27FC236}">
                <a16:creationId xmlns:a16="http://schemas.microsoft.com/office/drawing/2014/main" id="{1B1E25F1-94ED-430D-9A2B-B685BCBB0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48125"/>
            <a:ext cx="4667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One observed prediction</a:t>
            </a:r>
          </a:p>
          <a:p xmlns:a="http://schemas.openxmlformats.org/drawingml/2006/main">
            <a:pPr algn="l">
              <a:def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Document doc_00750</a:t>
            </a:r>
          </a:p>
        </p:txBody>
      </p:sp>
      <p:sp>
        <p:nvSpPr>
          <p:cNvPr id="6" name="Confident errors">
            <a:extLst xmlns:a="http://schemas.openxmlformats.org/drawingml/2006/main">
              <a:ext uri="{FF2B5EF4-FFF2-40B4-BE49-F238E27FC236}">
                <a16:creationId xmlns:a16="http://schemas.microsoft.com/office/drawing/2014/main" id="{C768EDEC-530A-4A8F-A5F2-B401862A2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5260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Confident errors</a:t>
            </a:r>
          </a:p>
        </p:txBody>
      </p:sp>
      <p:sp>
        <p:nvSpPr>
          <p:cNvPr id="7" name="A model can be highly confident about an incorrect">
            <a:extLst xmlns:a="http://schemas.openxmlformats.org/drawingml/2006/main">
              <a:ext uri="{FF2B5EF4-FFF2-40B4-BE49-F238E27FC236}">
                <a16:creationId xmlns:a16="http://schemas.microsoft.com/office/drawing/2014/main" id="{14C27E07-9907-44DF-91A1-C2D58E62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00275"/>
            <a:ext cx="51054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 model can be highly confident about an incorrect prediction.</a:t>
            </a:r>
          </a:p>
        </p:txBody>
      </p:sp>
      <p:sp>
        <p:nvSpPr>
          <p:cNvPr id="8" name="Unstable confidence">
            <a:extLst xmlns:a="http://schemas.openxmlformats.org/drawingml/2006/main">
              <a:ext uri="{FF2B5EF4-FFF2-40B4-BE49-F238E27FC236}">
                <a16:creationId xmlns:a16="http://schemas.microsoft.com/office/drawing/2014/main" id="{F72BB235-99E7-4643-AD09-6784CC8D2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90875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Unstable confidence</a:t>
            </a:r>
          </a:p>
        </p:txBody>
      </p:sp>
      <p:sp>
        <p:nvSpPr>
          <p:cNvPr id="9" name="Confidence can change across similar inputs withou">
            <a:extLst xmlns:a="http://schemas.openxmlformats.org/drawingml/2006/main">
              <a:ext uri="{FF2B5EF4-FFF2-40B4-BE49-F238E27FC236}">
                <a16:creationId xmlns:a16="http://schemas.microsoft.com/office/drawing/2014/main" id="{4BA9E779-8E29-4F52-9188-3EF7336F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38550"/>
            <a:ext cx="51054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Confidence can change across similar inputs without tracking correctness.</a:t>
            </a:r>
          </a:p>
        </p:txBody>
      </p:sp>
      <p:sp>
        <p:nvSpPr>
          <p:cNvPr id="10" name="Increasing difficulty">
            <a:extLst xmlns:a="http://schemas.openxmlformats.org/drawingml/2006/main">
              <a:ext uri="{FF2B5EF4-FFF2-40B4-BE49-F238E27FC236}">
                <a16:creationId xmlns:a16="http://schemas.microsoft.com/office/drawing/2014/main" id="{09C8BDCB-1B14-48A1-BD54-E4C278A1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2915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Increasing difficulty</a:t>
            </a:r>
          </a:p>
        </p:txBody>
      </p:sp>
      <p:sp>
        <p:nvSpPr>
          <p:cNvPr id="11" name="Lower confidence may accompany harder inputs. The ">
            <a:extLst xmlns:a="http://schemas.openxmlformats.org/drawingml/2006/main">
              <a:ext uri="{FF2B5EF4-FFF2-40B4-BE49-F238E27FC236}">
                <a16:creationId xmlns:a16="http://schemas.microsoft.com/office/drawing/2014/main" id="{E9E1C8FE-2306-4FC3-AE06-91727C46E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76825"/>
            <a:ext cx="51054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Lower confidence may accompany harder inputs. The link to accuracy needs testing.</a:t>
            </a:r>
          </a:p>
        </p:txBody>
      </p:sp>
    </p:spTree>
    <p:extLst>
      <p:ext uri="{BB962C8B-B14F-4D97-AF65-F5344CB8AC3E}">
        <p14:creationId xmlns:p14="http://schemas.microsoft.com/office/powerpoint/2010/main" val="14890148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search question">
            <a:extLst xmlns:a="http://schemas.openxmlformats.org/drawingml/2006/main">
              <a:ext uri="{FF2B5EF4-FFF2-40B4-BE49-F238E27FC236}">
                <a16:creationId xmlns:a16="http://schemas.microsoft.com/office/drawing/2014/main" id="{AB0DC329-EDD5-4B49-85B8-5330D191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Research question</a:t>
            </a:r>
          </a:p>
        </p:txBody>
      </p:sp>
      <p:sp>
        <p:nvSpPr>
          <p:cNvPr id="2" name="03">
            <a:extLst xmlns:a="http://schemas.openxmlformats.org/drawingml/2006/main">
              <a:ext uri="{FF2B5EF4-FFF2-40B4-BE49-F238E27FC236}">
                <a16:creationId xmlns:a16="http://schemas.microsoft.com/office/drawing/2014/main" id="{D1F039A3-D075-427E-859E-9FF7EBB8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3" name="Can changes in a model’s confidence">
            <a:extLst xmlns:a="http://schemas.openxmlformats.org/drawingml/2006/main">
              <a:ext uri="{FF2B5EF4-FFF2-40B4-BE49-F238E27FC236}">
                <a16:creationId xmlns:a16="http://schemas.microsoft.com/office/drawing/2014/main" id="{B951DCF4-9C82-4EF2-B948-1F7C73D2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2402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5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Can changes in a model’s confidence</a:t>
            </a:r>
          </a:p>
        </p:txBody>
      </p:sp>
      <p:sp>
        <p:nvSpPr>
          <p:cNvPr id="4" name="help identify predictions that are">
            <a:extLst xmlns:a="http://schemas.openxmlformats.org/drawingml/2006/main">
              <a:ext uri="{FF2B5EF4-FFF2-40B4-BE49-F238E27FC236}">
                <a16:creationId xmlns:a16="http://schemas.microsoft.com/office/drawing/2014/main" id="{3CC8DCFE-4E28-48E0-BE27-3461CD26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6220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5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help identify predictions that are</a:t>
            </a:r>
          </a:p>
        </p:txBody>
      </p:sp>
      <p:sp>
        <p:nvSpPr>
          <p:cNvPr id="5" name="likely to be unreliable?">
            <a:extLst xmlns:a="http://schemas.openxmlformats.org/drawingml/2006/main">
              <a:ext uri="{FF2B5EF4-FFF2-40B4-BE49-F238E27FC236}">
                <a16:creationId xmlns:a16="http://schemas.microsoft.com/office/drawing/2014/main" id="{E0687E92-F0D7-4987-8268-F01299F7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0037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90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likely to be unreliable?</a:t>
            </a:r>
          </a:p>
        </p:txBody>
      </p:sp>
      <p:sp>
        <p:nvSpPr>
          <p:cNvPr id="6" name="The hypothesis">
            <a:extLst xmlns:a="http://schemas.openxmlformats.org/drawingml/2006/main">
              <a:ext uri="{FF2B5EF4-FFF2-40B4-BE49-F238E27FC236}">
                <a16:creationId xmlns:a16="http://schemas.microsoft.com/office/drawing/2014/main" id="{0F1AA530-75E8-44C8-B06C-1006379A1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005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The hypothesis</a:t>
            </a:r>
          </a:p>
        </p:txBody>
      </p:sp>
      <p:sp>
        <p:nvSpPr>
          <p:cNvPr id="7" name="Moving averages, volatility and consecutive drops ">
            <a:extLst xmlns:a="http://schemas.openxmlformats.org/drawingml/2006/main">
              <a:ext uri="{FF2B5EF4-FFF2-40B4-BE49-F238E27FC236}">
                <a16:creationId xmlns:a16="http://schemas.microsoft.com/office/drawing/2014/main" id="{E3042C40-18BC-4765-8C93-A4A45F22C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210050"/>
            <a:ext cx="71913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Moving averages, volatility and consecutive drops should outperform a single confidence value and a baseline with no confidence signal.</a:t>
            </a:r>
          </a:p>
        </p:txBody>
      </p:sp>
      <p:sp>
        <p:nvSpPr>
          <p:cNvPr id="8" name="The experiments test this claim. Net drift and seq">
            <a:extLst xmlns:a="http://schemas.openxmlformats.org/drawingml/2006/main">
              <a:ext uri="{FF2B5EF4-FFF2-40B4-BE49-F238E27FC236}">
                <a16:creationId xmlns:a16="http://schemas.microsoft.com/office/drawing/2014/main" id="{6151E42B-7F62-4EBC-A3B2-A430584B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638800"/>
            <a:ext cx="7191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experiments test this claim. Net drift and sequence shape give different answers.</a:t>
            </a:r>
          </a:p>
        </p:txBody>
      </p:sp>
    </p:spTree>
    <p:extLst>
      <p:ext uri="{BB962C8B-B14F-4D97-AF65-F5344CB8AC3E}">
        <p14:creationId xmlns:p14="http://schemas.microsoft.com/office/powerpoint/2010/main" val="11604438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ask and dataset">
            <a:extLst xmlns:a="http://schemas.openxmlformats.org/drawingml/2006/main">
              <a:ext uri="{FF2B5EF4-FFF2-40B4-BE49-F238E27FC236}">
                <a16:creationId xmlns:a16="http://schemas.microsoft.com/office/drawing/2014/main" id="{10835DB9-2F53-47F6-8056-890CEA36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Task and dataset</a:t>
            </a:r>
          </a:p>
        </p:txBody>
      </p:sp>
      <p:sp>
        <p:nvSpPr>
          <p:cNvPr id="2" name="04">
            <a:extLst xmlns:a="http://schemas.openxmlformats.org/drawingml/2006/main">
              <a:ext uri="{FF2B5EF4-FFF2-40B4-BE49-F238E27FC236}">
                <a16:creationId xmlns:a16="http://schemas.microsoft.com/office/drawing/2014/main" id="{F44AD48C-6746-4DE1-96C3-28DD87562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3" name="1,754">
            <a:extLst xmlns:a="http://schemas.openxmlformats.org/drawingml/2006/main">
              <a:ext uri="{FF2B5EF4-FFF2-40B4-BE49-F238E27FC236}">
                <a16:creationId xmlns:a16="http://schemas.microsoft.com/office/drawing/2014/main" id="{EB8F8A5F-7B2F-458E-A261-A4618A96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571625"/>
            <a:ext cx="5000625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7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1,754</a:t>
            </a:r>
          </a:p>
        </p:txBody>
      </p:sp>
      <p:sp>
        <p:nvSpPr>
          <p:cNvPr id="4" name="documents from 20 Newsgroups">
            <a:extLst xmlns:a="http://schemas.openxmlformats.org/drawingml/2006/main">
              <a:ext uri="{FF2B5EF4-FFF2-40B4-BE49-F238E27FC236}">
                <a16:creationId xmlns:a16="http://schemas.microsoft.com/office/drawing/2014/main" id="{5054450C-2803-4881-90AB-B2D6353F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4905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documents from 20 Newsgroups</a:t>
            </a:r>
          </a:p>
        </p:txBody>
      </p:sp>
      <p:sp>
        <p:nvSpPr>
          <p:cNvPr id="5" name="1,315 training / 439 test">
            <a:extLst xmlns:a="http://schemas.openxmlformats.org/drawingml/2006/main">
              <a:ext uri="{FF2B5EF4-FFF2-40B4-BE49-F238E27FC236}">
                <a16:creationId xmlns:a16="http://schemas.microsoft.com/office/drawing/2014/main" id="{9B8E8353-6995-40FF-BFEC-38ACB8FF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76700"/>
            <a:ext cx="5095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1,315 training / 439 test</a:t>
            </a:r>
          </a:p>
        </p:txBody>
      </p:sp>
      <p:sp>
        <p:nvSpPr>
          <p:cNvPr id="6" name="Stratified split&#10;44.4% / 55.6% class balance">
            <a:extLst xmlns:a="http://schemas.openxmlformats.org/drawingml/2006/main">
              <a:ext uri="{FF2B5EF4-FFF2-40B4-BE49-F238E27FC236}">
                <a16:creationId xmlns:a16="http://schemas.microsoft.com/office/drawing/2014/main" id="{9BD638A2-9443-46C7-9CAF-EA3FBBC23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48200"/>
            <a:ext cx="4762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Stratified split</a:t>
            </a:r>
          </a:p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44.4% / 55.6% class balance</a:t>
            </a:r>
          </a:p>
        </p:txBody>
      </p:sp>
      <p:sp>
        <p:nvSpPr>
          <p:cNvPr id="7" name="Binary text classification">
            <a:extLst xmlns:a="http://schemas.openxmlformats.org/drawingml/2006/main">
              <a:ext uri="{FF2B5EF4-FFF2-40B4-BE49-F238E27FC236}">
                <a16:creationId xmlns:a16="http://schemas.microsoft.com/office/drawing/2014/main" id="{335BDE31-63CB-4606-AD3D-2CC9B61B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04975"/>
            <a:ext cx="5095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Binary text classification</a:t>
            </a:r>
          </a:p>
        </p:txBody>
      </p:sp>
      <p:sp>
        <p:nvSpPr>
          <p:cNvPr id="8" name="alt.atheism&#10;soc.religion.christian">
            <a:extLst xmlns:a="http://schemas.openxmlformats.org/drawingml/2006/main">
              <a:ext uri="{FF2B5EF4-FFF2-40B4-BE49-F238E27FC236}">
                <a16:creationId xmlns:a16="http://schemas.microsoft.com/office/drawing/2014/main" id="{1E656C05-825A-4BE2-A753-0B7C1BC6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333625"/>
            <a:ext cx="5095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53695F"/>
                </a:solidFill>
                <a:latin typeface="Calibri"/>
                <a:ea typeface="Calibri"/>
                <a:cs typeface="Calibri"/>
              </a:defRPr>
            </a:pPr>
            <a:r>
              <a:rPr sz="2250" b="0" i="0">
                <a:solidFill>
                  <a:srgbClr val="53695F"/>
                </a:solidFill>
                <a:latin typeface="Calibri"/>
                <a:ea typeface="Calibri"/>
                <a:cs typeface="Calibri"/>
              </a:rPr>
              <a:t>alt.atheism</a:t>
            </a:r>
          </a:p>
          <a:p xmlns:a="http://schemas.openxmlformats.org/drawingml/2006/main">
            <a:pPr algn="l">
              <a:defRPr sz="2250" b="0" i="0">
                <a:solidFill>
                  <a:srgbClr val="53695F"/>
                </a:solidFill>
                <a:latin typeface="Calibri"/>
                <a:ea typeface="Calibri"/>
                <a:cs typeface="Calibri"/>
              </a:defRPr>
            </a:pPr>
            <a:r>
              <a:rPr sz="2250" b="0" i="0">
                <a:solidFill>
                  <a:srgbClr val="53695F"/>
                </a:solidFill>
                <a:latin typeface="Calibri"/>
                <a:ea typeface="Calibri"/>
                <a:cs typeface="Calibri"/>
              </a:rPr>
              <a:t>soc.religion.christian</a:t>
            </a:r>
          </a:p>
        </p:txBody>
      </p:sp>
      <p:sp>
        <p:nvSpPr>
          <p:cNvPr id="9" name="Overlapping vocabulary makes the task less trivial">
            <a:extLst xmlns:a="http://schemas.openxmlformats.org/drawingml/2006/main">
              <a:ext uri="{FF2B5EF4-FFF2-40B4-BE49-F238E27FC236}">
                <a16:creationId xmlns:a16="http://schemas.microsoft.com/office/drawing/2014/main" id="{94AFBDC7-F79C-497D-A72F-6DA2B21D4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476625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Overlapping vocabulary makes the task less trivial.</a:t>
            </a:r>
          </a:p>
        </p:txBody>
      </p:sp>
      <p:sp>
        <p:nvSpPr>
          <p:cNvPr id="10" name="Headers, footers and quoted text removed to reduce">
            <a:extLst xmlns:a="http://schemas.openxmlformats.org/drawingml/2006/main">
              <a:ext uri="{FF2B5EF4-FFF2-40B4-BE49-F238E27FC236}">
                <a16:creationId xmlns:a16="http://schemas.microsoft.com/office/drawing/2014/main" id="{5688CA65-D206-46F9-8ED7-6972F20F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38650"/>
            <a:ext cx="495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Headers, footers and quoted text removed to reduce metadata leakage.</a:t>
            </a:r>
          </a:p>
        </p:txBody>
      </p:sp>
      <p:sp>
        <p:nvSpPr>
          <p:cNvPr id="11" name="Ground truth: the newsgroup that published each po">
            <a:extLst xmlns:a="http://schemas.openxmlformats.org/drawingml/2006/main">
              <a:ext uri="{FF2B5EF4-FFF2-40B4-BE49-F238E27FC236}">
                <a16:creationId xmlns:a16="http://schemas.microsoft.com/office/drawing/2014/main" id="{326AEBE7-4D11-4735-9B7C-AA7E5315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438775"/>
            <a:ext cx="4953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Ground truth: the newsgroup that published each post.</a:t>
            </a:r>
          </a:p>
        </p:txBody>
      </p:sp>
      <p:sp>
        <p:nvSpPr>
          <p:cNvPr id="12" name="Source: scikit-learn’s official 20 Newsgroups mirr">
            <a:extLst xmlns:a="http://schemas.openxmlformats.org/drawingml/2006/main">
              <a:ext uri="{FF2B5EF4-FFF2-40B4-BE49-F238E27FC236}">
                <a16:creationId xmlns:a16="http://schemas.microsoft.com/office/drawing/2014/main" id="{F47E6505-3D56-4636-811C-ABDC7C2FB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2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Source: scikit-learn’s official 20 Newsgroups mirror (fetch_20newsgroups)</a:t>
            </a:r>
          </a:p>
        </p:txBody>
      </p:sp>
    </p:spTree>
    <p:extLst>
      <p:ext uri="{BB962C8B-B14F-4D97-AF65-F5344CB8AC3E}">
        <p14:creationId xmlns:p14="http://schemas.microsoft.com/office/powerpoint/2010/main" val="11356246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he research pipeline">
            <a:extLst xmlns:a="http://schemas.openxmlformats.org/drawingml/2006/main">
              <a:ext uri="{FF2B5EF4-FFF2-40B4-BE49-F238E27FC236}">
                <a16:creationId xmlns:a16="http://schemas.microsoft.com/office/drawing/2014/main" id="{43B6839B-0564-4F8C-967E-D295EAD3C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The research pipeline</a:t>
            </a:r>
          </a:p>
        </p:txBody>
      </p:sp>
      <p:sp>
        <p:nvSpPr>
          <p:cNvPr id="2" name="05">
            <a:extLst xmlns:a="http://schemas.openxmlformats.org/drawingml/2006/main">
              <a:ext uri="{FF2B5EF4-FFF2-40B4-BE49-F238E27FC236}">
                <a16:creationId xmlns:a16="http://schemas.microsoft.com/office/drawing/2014/main" id="{97FA119E-4E23-4247-9796-253D701F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D6C709F4-6532-4817-9B6C-D72A17AF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8115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4" name="Train the base classifier">
            <a:extLst xmlns:a="http://schemas.openxmlformats.org/drawingml/2006/main">
              <a:ext uri="{FF2B5EF4-FFF2-40B4-BE49-F238E27FC236}">
                <a16:creationId xmlns:a16="http://schemas.microsoft.com/office/drawing/2014/main" id="{20D7E5DD-529C-4996-AA7F-527260AA7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16002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Train the base classifier</a:t>
            </a:r>
          </a:p>
        </p:txBody>
      </p:sp>
      <p:sp>
        <p:nvSpPr>
          <p:cNvPr id="5" name="TF-IDF + Logistic Regression for text classificati">
            <a:extLst xmlns:a="http://schemas.openxmlformats.org/drawingml/2006/main">
              <a:ext uri="{FF2B5EF4-FFF2-40B4-BE49-F238E27FC236}">
                <a16:creationId xmlns:a16="http://schemas.microsoft.com/office/drawing/2014/main" id="{449E58F6-C77B-4D57-959A-DA54EBFC2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00025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TF-IDF + Logistic Regression for text classification.</a:t>
            </a:r>
          </a:p>
        </p:txBody>
      </p:sp>
      <p:sp>
        <p:nvSpPr>
          <p:cNvPr id="6" name="02">
            <a:extLst xmlns:a="http://schemas.openxmlformats.org/drawingml/2006/main">
              <a:ext uri="{FF2B5EF4-FFF2-40B4-BE49-F238E27FC236}">
                <a16:creationId xmlns:a16="http://schemas.microsoft.com/office/drawing/2014/main" id="{BC2B5562-1983-46D3-96AB-DC1C0C1D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1460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7" name="Generate confidence sequences">
            <a:extLst xmlns:a="http://schemas.openxmlformats.org/drawingml/2006/main">
              <a:ext uri="{FF2B5EF4-FFF2-40B4-BE49-F238E27FC236}">
                <a16:creationId xmlns:a16="http://schemas.microsoft.com/office/drawing/2014/main" id="{A3DCB61B-C5F3-4372-B30A-14DB4DC8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5336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Generate confidence sequences</a:t>
            </a:r>
          </a:p>
        </p:txBody>
      </p:sp>
      <p:sp>
        <p:nvSpPr>
          <p:cNvPr id="8" name="Re-classify each test document at six corruption l">
            <a:extLst xmlns:a="http://schemas.openxmlformats.org/drawingml/2006/main">
              <a:ext uri="{FF2B5EF4-FFF2-40B4-BE49-F238E27FC236}">
                <a16:creationId xmlns:a16="http://schemas.microsoft.com/office/drawing/2014/main" id="{415615E3-132A-432B-9C9E-0F1B8F24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93370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Re-classify each test document at six corruption levels.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857D702B-A571-4CB7-B1B2-5A4DF49E8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4805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0" name="Engineer drift features">
            <a:extLst xmlns:a="http://schemas.openxmlformats.org/drawingml/2006/main">
              <a:ext uri="{FF2B5EF4-FFF2-40B4-BE49-F238E27FC236}">
                <a16:creationId xmlns:a16="http://schemas.microsoft.com/office/drawing/2014/main" id="{3A498911-B0AA-4B9A-909D-D39ABC02F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34671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Engineer drift features</a:t>
            </a:r>
          </a:p>
        </p:txBody>
      </p:sp>
      <p:sp>
        <p:nvSpPr>
          <p:cNvPr id="11" name="Moving statistics, deltas, consecutive drops and m">
            <a:extLst xmlns:a="http://schemas.openxmlformats.org/drawingml/2006/main">
              <a:ext uri="{FF2B5EF4-FFF2-40B4-BE49-F238E27FC236}">
                <a16:creationId xmlns:a16="http://schemas.microsoft.com/office/drawing/2014/main" id="{AD7290B0-ADFE-4235-9669-5DB0AD450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386715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Moving statistics, deltas, consecutive drops and margin.</a:t>
            </a:r>
          </a:p>
        </p:txBody>
      </p:sp>
      <p:sp>
        <p:nvSpPr>
          <p:cNvPr id="12" name="04">
            <a:extLst xmlns:a="http://schemas.openxmlformats.org/drawingml/2006/main">
              <a:ext uri="{FF2B5EF4-FFF2-40B4-BE49-F238E27FC236}">
                <a16:creationId xmlns:a16="http://schemas.microsoft.com/office/drawing/2014/main" id="{1ECA1E91-65AF-466B-9643-3152D091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3" name="Train a second model">
            <a:extLst xmlns:a="http://schemas.openxmlformats.org/drawingml/2006/main">
              <a:ext uri="{FF2B5EF4-FFF2-40B4-BE49-F238E27FC236}">
                <a16:creationId xmlns:a16="http://schemas.microsoft.com/office/drawing/2014/main" id="{ECAA4A6E-C3F1-4BEF-BEB8-40DA5FC4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4005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Train a second model</a:t>
            </a:r>
          </a:p>
        </p:txBody>
      </p:sp>
      <p:sp>
        <p:nvSpPr>
          <p:cNvPr id="14" name="Predict whether a classification is unreliable.">
            <a:extLst xmlns:a="http://schemas.openxmlformats.org/drawingml/2006/main">
              <a:ext uri="{FF2B5EF4-FFF2-40B4-BE49-F238E27FC236}">
                <a16:creationId xmlns:a16="http://schemas.microsoft.com/office/drawing/2014/main" id="{F231E2E8-6591-40E5-9161-EB81293C8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80060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Predict whether a classification is unreliable.</a:t>
            </a:r>
          </a:p>
        </p:txBody>
      </p:sp>
      <p:sp>
        <p:nvSpPr>
          <p:cNvPr id="15" name="05">
            <a:extLst xmlns:a="http://schemas.openxmlformats.org/drawingml/2006/main">
              <a:ext uri="{FF2B5EF4-FFF2-40B4-BE49-F238E27FC236}">
                <a16:creationId xmlns:a16="http://schemas.microsoft.com/office/drawing/2014/main" id="{11E8FEAD-7A17-424E-82B9-8833C8DF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16" name="Evaluate the detector">
            <a:extLst xmlns:a="http://schemas.openxmlformats.org/drawingml/2006/main">
              <a:ext uri="{FF2B5EF4-FFF2-40B4-BE49-F238E27FC236}">
                <a16:creationId xmlns:a16="http://schemas.microsoft.com/office/drawing/2014/main" id="{E2170DE3-9DA9-4B97-A8EF-6306CF923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334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Evaluate the detector</a:t>
            </a:r>
          </a:p>
        </p:txBody>
      </p:sp>
      <p:sp>
        <p:nvSpPr>
          <p:cNvPr id="17" name="Calibration, high-confidence errors and an A/B/C c">
            <a:extLst xmlns:a="http://schemas.openxmlformats.org/drawingml/2006/main">
              <a:ext uri="{FF2B5EF4-FFF2-40B4-BE49-F238E27FC236}">
                <a16:creationId xmlns:a16="http://schemas.microsoft.com/office/drawing/2014/main" id="{B8658900-5A4D-4392-9BDC-2461F5C0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73405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Calibration, high-confidence errors and an A/B/C comparison.</a:t>
            </a:r>
          </a:p>
        </p:txBody>
      </p:sp>
    </p:spTree>
    <p:extLst>
      <p:ext uri="{BB962C8B-B14F-4D97-AF65-F5344CB8AC3E}">
        <p14:creationId xmlns:p14="http://schemas.microsoft.com/office/powerpoint/2010/main" val="10870037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ow confidence changes">
            <a:extLst xmlns:a="http://schemas.openxmlformats.org/drawingml/2006/main">
              <a:ext uri="{FF2B5EF4-FFF2-40B4-BE49-F238E27FC236}">
                <a16:creationId xmlns:a16="http://schemas.microsoft.com/office/drawing/2014/main" id="{B5888B21-3A40-40C2-9943-A528AA06B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How confidence changes</a:t>
            </a:r>
          </a:p>
        </p:txBody>
      </p:sp>
      <p:sp>
        <p:nvSpPr>
          <p:cNvPr id="2" name="06">
            <a:extLst xmlns:a="http://schemas.openxmlformats.org/drawingml/2006/main">
              <a:ext uri="{FF2B5EF4-FFF2-40B4-BE49-F238E27FC236}">
                <a16:creationId xmlns:a16="http://schemas.microsoft.com/office/drawing/2014/main" id="{6AB0ABCB-74EA-450E-9C63-278F17B4D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3" name="Six levels, from 0% to 50% of words removed and sh">
            <a:extLst xmlns:a="http://schemas.openxmlformats.org/drawingml/2006/main">
              <a:ext uri="{FF2B5EF4-FFF2-40B4-BE49-F238E27FC236}">
                <a16:creationId xmlns:a16="http://schemas.microsoft.com/office/drawing/2014/main" id="{A64104DB-009D-4959-BD4F-365B681A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Six levels, from 0% to 50% of words removed and shuffled. Each confidence value is a real model output.</a:t>
            </a:r>
          </a:p>
        </p:txBody>
      </p:sp>
      <p:sp>
        <p:nvSpPr>
          <p:cNvPr id="4" name="Two contrasting examples">
            <a:extLst xmlns:a="http://schemas.openxmlformats.org/drawingml/2006/main">
              <a:ext uri="{FF2B5EF4-FFF2-40B4-BE49-F238E27FC236}">
                <a16:creationId xmlns:a16="http://schemas.microsoft.com/office/drawing/2014/main" id="{4E40EE8C-7998-42D4-BAD1-99746EC1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4762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Two contrasting examples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66750" y="3048000"/>
          <a:ext xmlns:a="http://schemas.openxmlformats.org/drawingml/2006/main" cx="4762500" cy="25146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800100"/>
                <a:gridCol w="1981200"/>
                <a:gridCol w="1981200"/>
              </a:tblGrid>
              <a:tr h="40005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Step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doc_00750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doc_01280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0.963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0.889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0.952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0.771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0.951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0.778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0.951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0.682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0.948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0.842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0.949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0.651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</a:tbl>
          </a:graphicData>
        </a:graphic>
      </p:graphicFrame>
      <p:sp>
        <p:nvSpPr>
          <p:cNvPr id="6" name="Stayed wrong">
            <a:extLst xmlns:a="http://schemas.openxmlformats.org/drawingml/2006/main">
              <a:ext uri="{FF2B5EF4-FFF2-40B4-BE49-F238E27FC236}">
                <a16:creationId xmlns:a16="http://schemas.microsoft.com/office/drawing/2014/main" id="{D15F8E13-6447-40E0-BA6A-BC5EEA9D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2705100"/>
            <a:ext cx="1838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8B4C3B"/>
                </a:solidFill>
                <a:latin typeface="Calibri"/>
                <a:ea typeface="Calibri"/>
                <a:cs typeface="Calibri"/>
              </a:defRPr>
            </a:pPr>
            <a:r>
              <a:rPr sz="1500" b="1" i="0">
                <a:solidFill>
                  <a:srgbClr val="8B4C3B"/>
                </a:solidFill>
                <a:latin typeface="Calibri"/>
                <a:ea typeface="Calibri"/>
                <a:cs typeface="Calibri"/>
              </a:rPr>
              <a:t>Stayed wrong</a:t>
            </a:r>
          </a:p>
        </p:txBody>
      </p:sp>
      <p:sp>
        <p:nvSpPr>
          <p:cNvPr id="7" name="Stayed correct">
            <a:extLst xmlns:a="http://schemas.openxmlformats.org/drawingml/2006/main">
              <a:ext uri="{FF2B5EF4-FFF2-40B4-BE49-F238E27FC236}">
                <a16:creationId xmlns:a16="http://schemas.microsoft.com/office/drawing/2014/main" id="{5EC58096-148A-40AA-A92C-9D570B43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05100"/>
            <a:ext cx="18954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677B68"/>
                </a:solidFill>
                <a:latin typeface="Calibri"/>
                <a:ea typeface="Calibri"/>
                <a:cs typeface="Calibri"/>
              </a:defRPr>
            </a:pPr>
            <a:r>
              <a:rPr sz="1500" b="1" i="0">
                <a:solidFill>
                  <a:srgbClr val="677B68"/>
                </a:solidFill>
                <a:latin typeface="Calibri"/>
                <a:ea typeface="Calibri"/>
                <a:cs typeface="Calibri"/>
              </a:rPr>
              <a:t>Stayed correct</a:t>
            </a:r>
          </a:p>
        </p:txBody>
      </p:sp>
      <p:sp>
        <p:nvSpPr>
          <p:cNvPr id="8" name="Confidence">
            <a:extLst xmlns:a="http://schemas.openxmlformats.org/drawingml/2006/main">
              <a:ext uri="{FF2B5EF4-FFF2-40B4-BE49-F238E27FC236}">
                <a16:creationId xmlns:a16="http://schemas.microsoft.com/office/drawing/2014/main" id="{00CAB51C-104D-40BF-85FB-E8D5FBB66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114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Confidence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5905500" y="2419350"/>
          <a:ext xmlns:a="http://schemas.openxmlformats.org/drawingml/2006/main" cx="5667375" cy="3314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87cf53480b243fa"/>
          </a:graphicData>
        </a:graphic>
      </p:graphicFrame>
      <p:sp>
        <p:nvSpPr>
          <p:cNvPr id="10" name="12 test documents. Green: correct at the final ste">
            <a:extLst xmlns:a="http://schemas.openxmlformats.org/drawingml/2006/main">
              <a:ext uri="{FF2B5EF4-FFF2-40B4-BE49-F238E27FC236}">
                <a16:creationId xmlns:a16="http://schemas.microsoft.com/office/drawing/2014/main" id="{939D565E-B7AE-4BCB-9651-83A1A4F2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19775"/>
            <a:ext cx="5286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12 test documents. Green: correct at the final step. Rust: incorrect.</a:t>
            </a:r>
          </a:p>
        </p:txBody>
      </p:sp>
      <p:sp>
        <p:nvSpPr>
          <p:cNvPr id="11" name="Sequences simulate repeated predictions through te">
            <a:extLst xmlns:a="http://schemas.openxmlformats.org/drawingml/2006/main">
              <a:ext uri="{FF2B5EF4-FFF2-40B4-BE49-F238E27FC236}">
                <a16:creationId xmlns:a16="http://schemas.microsoft.com/office/drawing/2014/main" id="{03E47594-6F0B-4B1E-84E9-AAF410A75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191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Sequences simulate repeated predictions through text corruption.</a:t>
            </a:r>
          </a:p>
        </p:txBody>
      </p:sp>
    </p:spTree>
    <p:extLst>
      <p:ext uri="{BB962C8B-B14F-4D97-AF65-F5344CB8AC3E}">
        <p14:creationId xmlns:p14="http://schemas.microsoft.com/office/powerpoint/2010/main" val="2594613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natomy of a confidence sequence">
            <a:extLst xmlns:a="http://schemas.openxmlformats.org/drawingml/2006/main">
              <a:ext uri="{FF2B5EF4-FFF2-40B4-BE49-F238E27FC236}">
                <a16:creationId xmlns:a16="http://schemas.microsoft.com/office/drawing/2014/main" id="{A6AB884A-CA26-40F5-9863-2E3618AA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Anatomy of a confidence sequence</a:t>
            </a:r>
          </a:p>
        </p:txBody>
      </p:sp>
      <p:sp>
        <p:nvSpPr>
          <p:cNvPr id="2" name="07">
            <a:extLst xmlns:a="http://schemas.openxmlformats.org/drawingml/2006/main">
              <a:ext uri="{FF2B5EF4-FFF2-40B4-BE49-F238E27FC236}">
                <a16:creationId xmlns:a16="http://schemas.microsoft.com/office/drawing/2014/main" id="{5DE65853-2555-47B8-80BD-C0900B5EC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3" name="13 features, compared with simpler baselines in th">
            <a:extLst xmlns:a="http://schemas.openxmlformats.org/drawingml/2006/main">
              <a:ext uri="{FF2B5EF4-FFF2-40B4-BE49-F238E27FC236}">
                <a16:creationId xmlns:a16="http://schemas.microsoft.com/office/drawing/2014/main" id="{6E581173-961C-49CE-AC8B-C47D4DF6E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668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13 features, compared with simpler baselines in the experiments.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66750" y="2190750"/>
          <a:ext xmlns:a="http://schemas.openxmlformats.org/drawingml/2006/main" cx="10810875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476500"/>
                <a:gridCol w="8334375"/>
              </a:tblGrid>
              <a:tr h="47625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Group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Features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</a:tr>
              <a:tr h="8096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Point in time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confidence, prediction_margin,</a:t>
                      </a:r>
                    </a:p>
                    <a:p>
                      <a:r>
                        <a:rPr sz="187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historical_accuracy_for_class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8096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Change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confidence_diff, confidence_pct_change,</a:t>
                      </a:r>
                    </a:p>
                    <a:p>
                      <a:r>
                        <a:rPr sz="187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rate_of_change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8096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Trend and history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moving_avg_confidence, moving_std_confidence,</a:t>
                      </a:r>
                    </a:p>
                    <a:p>
                      <a:r>
                        <a:rPr sz="187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rolling_std_confidence, confidence_range_so_far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8096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Pattern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consecutive_decreases, step, corruption_level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44823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nfidence carries signal">
            <a:extLst xmlns:a="http://schemas.openxmlformats.org/drawingml/2006/main">
              <a:ext uri="{FF2B5EF4-FFF2-40B4-BE49-F238E27FC236}">
                <a16:creationId xmlns:a16="http://schemas.microsoft.com/office/drawing/2014/main" id="{F9313B72-173B-4459-A53E-20DD9FCEC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Confidence carries signal</a:t>
            </a:r>
          </a:p>
        </p:txBody>
      </p:sp>
      <p:sp>
        <p:nvSpPr>
          <p:cNvPr id="2" name="08">
            <a:extLst xmlns:a="http://schemas.openxmlformats.org/drawingml/2006/main">
              <a:ext uri="{FF2B5EF4-FFF2-40B4-BE49-F238E27FC236}">
                <a16:creationId xmlns:a16="http://schemas.microsoft.com/office/drawing/2014/main" id="{33734644-4F3B-4766-8E6D-A4C816B0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08</a:t>
            </a:r>
          </a:p>
        </p:txBody>
      </p:sp>
      <p:sp>
        <p:nvSpPr>
          <p:cNvPr id="3" name="Accuracy across 439 uncorrupted test predictions">
            <a:extLst xmlns:a="http://schemas.openxmlformats.org/drawingml/2006/main">
              <a:ext uri="{FF2B5EF4-FFF2-40B4-BE49-F238E27FC236}">
                <a16:creationId xmlns:a16="http://schemas.microsoft.com/office/drawing/2014/main" id="{D577B5E3-EEF4-4301-8272-79187699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Accuracy across 439 uncorrupted test predictions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628650" y="2171700"/>
          <a:ext xmlns:a="http://schemas.openxmlformats.org/drawingml/2006/main" cx="6429375" cy="3638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a4f13825d5d4215"/>
          </a:graphicData>
        </a:graphic>
      </p:graphicFrame>
      <p:graphicFrame>
        <p:nvGraphicFramePr>
          <p:cNvPr id="11" name=""/>
          <p:cNvGraphicFramePr/>
          <p:nvPr/>
        </p:nvGraphicFramePr>
        <p:xfrm>
          <a:off xmlns:a="http://schemas.openxmlformats.org/drawingml/2006/main" x="7639050" y="2238375"/>
          <a:ext xmlns:a="http://schemas.openxmlformats.org/drawingml/2006/main" cx="3867150" cy="22860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533525"/>
                <a:gridCol w="733425"/>
                <a:gridCol w="1600200"/>
              </a:tblGrid>
              <a:tr h="57150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Confidence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Accuracy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</a:tr>
              <a:tr h="57150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40–60%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156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63.5%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57150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60–80%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223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90.1%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57150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80–100%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60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93.3%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</a:tbl>
          </a:graphicData>
        </a:graphic>
      </p:graphicFrame>
      <p:sp>
        <p:nvSpPr>
          <p:cNvPr id="6" name="Confidence carries signal, but calibration remains">
            <a:extLst xmlns:a="http://schemas.openxmlformats.org/drawingml/2006/main">
              <a:ext uri="{FF2B5EF4-FFF2-40B4-BE49-F238E27FC236}">
                <a16:creationId xmlns:a16="http://schemas.microsoft.com/office/drawing/2014/main" id="{BA8C8C2F-A42F-48EA-8524-835750226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4943475"/>
            <a:ext cx="37814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Confidence carries signal, but calibration remains imperfect.</a:t>
            </a:r>
          </a:p>
        </p:txBody>
      </p:sp>
    </p:spTree>
    <p:extLst>
      <p:ext uri="{BB962C8B-B14F-4D97-AF65-F5344CB8AC3E}">
        <p14:creationId xmlns:p14="http://schemas.microsoft.com/office/powerpoint/2010/main" val="11234701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he calibration gap">
            <a:extLst xmlns:a="http://schemas.openxmlformats.org/drawingml/2006/main">
              <a:ext uri="{FF2B5EF4-FFF2-40B4-BE49-F238E27FC236}">
                <a16:creationId xmlns:a16="http://schemas.microsoft.com/office/drawing/2014/main" id="{51A0162D-8B89-4735-8C4E-1830672E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The calibration gap</a:t>
            </a:r>
          </a:p>
        </p:txBody>
      </p:sp>
      <p:sp>
        <p:nvSpPr>
          <p:cNvPr id="2" name="09">
            <a:extLst xmlns:a="http://schemas.openxmlformats.org/drawingml/2006/main">
              <a:ext uri="{FF2B5EF4-FFF2-40B4-BE49-F238E27FC236}">
                <a16:creationId xmlns:a16="http://schemas.microsoft.com/office/drawing/2014/main" id="{0AD2D952-A98F-4DAC-822A-57AB94484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09</a:t>
            </a:r>
          </a:p>
        </p:txBody>
      </p:sp>
      <p:sp>
        <p:nvSpPr>
          <p:cNvPr id="3" name="Reliability diagram for uncorrupted test predictio">
            <a:extLst xmlns:a="http://schemas.openxmlformats.org/drawingml/2006/main">
              <a:ext uri="{FF2B5EF4-FFF2-40B4-BE49-F238E27FC236}">
                <a16:creationId xmlns:a16="http://schemas.microsoft.com/office/drawing/2014/main" id="{486ABC1A-72A5-4F1A-83E0-958422A2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Reliability diagram for uncorrupted test predictions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19125" y="2095500"/>
          <a:ext xmlns:a="http://schemas.openxmlformats.org/drawingml/2006/main" cx="6000750" cy="3876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a3bc2a13a3047a0"/>
          </a:graphicData>
        </a:graphic>
      </p:graphicFrame>
      <p:sp>
        <p:nvSpPr>
          <p:cNvPr id="5" name="0.153">
            <a:extLst xmlns:a="http://schemas.openxmlformats.org/drawingml/2006/main">
              <a:ext uri="{FF2B5EF4-FFF2-40B4-BE49-F238E27FC236}">
                <a16:creationId xmlns:a16="http://schemas.microsoft.com/office/drawing/2014/main" id="{9D157D58-DFA2-498A-B85E-724ED689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105025"/>
            <a:ext cx="2209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0.153</a:t>
            </a:r>
          </a:p>
        </p:txBody>
      </p:sp>
      <p:sp>
        <p:nvSpPr>
          <p:cNvPr id="6" name="0.125">
            <a:extLst xmlns:a="http://schemas.openxmlformats.org/drawingml/2006/main">
              <a:ext uri="{FF2B5EF4-FFF2-40B4-BE49-F238E27FC236}">
                <a16:creationId xmlns:a16="http://schemas.microsoft.com/office/drawing/2014/main" id="{51BD0E3A-2E44-485B-AD92-4A745F6F1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105025"/>
            <a:ext cx="19240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0.125</a:t>
            </a:r>
          </a:p>
        </p:txBody>
      </p:sp>
      <p:sp>
        <p:nvSpPr>
          <p:cNvPr id="7" name="Calibration error">
            <a:extLst xmlns:a="http://schemas.openxmlformats.org/drawingml/2006/main">
              <a:ext uri="{FF2B5EF4-FFF2-40B4-BE49-F238E27FC236}">
                <a16:creationId xmlns:a16="http://schemas.microsoft.com/office/drawing/2014/main" id="{588912D3-8AC7-44DE-AE74-13B04A57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943225"/>
            <a:ext cx="23717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Calibration error</a:t>
            </a:r>
          </a:p>
        </p:txBody>
      </p:sp>
      <p:sp>
        <p:nvSpPr>
          <p:cNvPr id="8" name="Brier score">
            <a:extLst xmlns:a="http://schemas.openxmlformats.org/drawingml/2006/main">
              <a:ext uri="{FF2B5EF4-FFF2-40B4-BE49-F238E27FC236}">
                <a16:creationId xmlns:a16="http://schemas.microsoft.com/office/drawing/2014/main" id="{6034650B-D69E-44D8-A0E6-BCC176AA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43225"/>
            <a:ext cx="1952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Brier score</a:t>
            </a:r>
          </a:p>
        </p:txBody>
      </p:sp>
      <p:sp>
        <p:nvSpPr>
          <p:cNvPr id="9" name="Under-confident at 0.6–0.9">
            <a:extLst xmlns:a="http://schemas.openxmlformats.org/drawingml/2006/main">
              <a:ext uri="{FF2B5EF4-FFF2-40B4-BE49-F238E27FC236}">
                <a16:creationId xmlns:a16="http://schemas.microsoft.com/office/drawing/2014/main" id="{73F510C2-EF03-4067-B14F-53D94739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657600"/>
            <a:ext cx="44291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Under-confident at 0.6–0.9</a:t>
            </a:r>
          </a:p>
        </p:txBody>
      </p:sp>
      <p:sp>
        <p:nvSpPr>
          <p:cNvPr id="10" name="Observed accuracy exceeds stated confidence in thi">
            <a:extLst xmlns:a="http://schemas.openxmlformats.org/drawingml/2006/main">
              <a:ext uri="{FF2B5EF4-FFF2-40B4-BE49-F238E27FC236}">
                <a16:creationId xmlns:a16="http://schemas.microsoft.com/office/drawing/2014/main" id="{7A2400C9-4B50-415F-9037-361FCE4B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162425"/>
            <a:ext cx="438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Observed accuracy exceeds stated confidence in this range.</a:t>
            </a:r>
          </a:p>
        </p:txBody>
      </p:sp>
      <p:sp>
        <p:nvSpPr>
          <p:cNvPr id="11" name="The top bin has only 10 samples: 80% accuracy, ver">
            <a:extLst xmlns:a="http://schemas.openxmlformats.org/drawingml/2006/main">
              <a:ext uri="{FF2B5EF4-FFF2-40B4-BE49-F238E27FC236}">
                <a16:creationId xmlns:a16="http://schemas.microsoft.com/office/drawing/2014/main" id="{929C2540-DC7E-47D4-82F8-8921E828E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5172075"/>
            <a:ext cx="43815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top bin has only 10 samples: 80% accuracy, versus 96% in the bin below. Small-sample noise may explain the dip.</a:t>
            </a:r>
          </a:p>
        </p:txBody>
      </p:sp>
    </p:spTree>
    <p:extLst>
      <p:ext uri="{BB962C8B-B14F-4D97-AF65-F5344CB8AC3E}">
        <p14:creationId xmlns:p14="http://schemas.microsoft.com/office/powerpoint/2010/main" val="44612132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onfident errors">
            <a:extLst xmlns:a="http://schemas.openxmlformats.org/drawingml/2006/main">
              <a:ext uri="{FF2B5EF4-FFF2-40B4-BE49-F238E27FC236}">
                <a16:creationId xmlns:a16="http://schemas.microsoft.com/office/drawing/2014/main" id="{7771F88F-0AA7-4511-BAF5-987D757D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Confident errors</a:t>
            </a:r>
          </a:p>
        </p:txBody>
      </p:sp>
      <p:sp>
        <p:nvSpPr>
          <p:cNvPr id="2" name="10">
            <a:extLst xmlns:a="http://schemas.openxmlformats.org/drawingml/2006/main">
              <a:ext uri="{FF2B5EF4-FFF2-40B4-BE49-F238E27FC236}">
                <a16:creationId xmlns:a16="http://schemas.microsoft.com/office/drawing/2014/main" id="{070E258F-568F-430F-8AD0-EE84A8FA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10</a:t>
            </a:r>
          </a:p>
        </p:txBody>
      </p:sp>
      <p:sp>
        <p:nvSpPr>
          <p:cNvPr id="3" name="6 of 100">
            <a:extLst xmlns:a="http://schemas.openxmlformats.org/drawingml/2006/main">
              <a:ext uri="{FF2B5EF4-FFF2-40B4-BE49-F238E27FC236}">
                <a16:creationId xmlns:a16="http://schemas.microsoft.com/office/drawing/2014/main" id="{501D24A5-431C-496F-878D-03F110172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70485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95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795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6 of 100</a:t>
            </a:r>
          </a:p>
        </p:txBody>
      </p:sp>
      <p:sp>
        <p:nvSpPr>
          <p:cNvPr id="4" name="high-confidence predictions were wrong">
            <a:extLst xmlns:a="http://schemas.openxmlformats.org/drawingml/2006/main">
              <a:ext uri="{FF2B5EF4-FFF2-40B4-BE49-F238E27FC236}">
                <a16:creationId xmlns:a16="http://schemas.microsoft.com/office/drawing/2014/main" id="{4446FA19-865C-4844-A195-65B6E462C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28975"/>
            <a:ext cx="10382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high-confidence predictions were wrong</a:t>
            </a:r>
          </a:p>
        </p:txBody>
      </p:sp>
      <p:sp>
        <p:nvSpPr>
          <p:cNvPr id="5" name="100 of 439 predictions reached at least 75% confid">
            <a:extLst xmlns:a="http://schemas.openxmlformats.org/drawingml/2006/main">
              <a:ext uri="{FF2B5EF4-FFF2-40B4-BE49-F238E27FC236}">
                <a16:creationId xmlns:a16="http://schemas.microsoft.com/office/drawing/2014/main" id="{0CCE2CDD-2096-427C-97D1-ACA3A37E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105727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100 of 439 predictions reached at least 75% confidence.</a:t>
            </a:r>
          </a:p>
          <a:p xmlns:a="http://schemas.openxmlformats.org/drawingml/2006/main">
            <a:pPr algn="l">
              <a:defRPr sz="217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That is 22.8% of the test set, with a 6.0% error rate in this group.</a:t>
            </a:r>
          </a:p>
        </p:txBody>
      </p:sp>
      <p:sp>
        <p:nvSpPr>
          <p:cNvPr id="6" name="All six errors">
            <a:extLst xmlns:a="http://schemas.openxmlformats.org/drawingml/2006/main">
              <a:ext uri="{FF2B5EF4-FFF2-40B4-BE49-F238E27FC236}">
                <a16:creationId xmlns:a16="http://schemas.microsoft.com/office/drawing/2014/main" id="{3792CA3F-EE7C-48DC-A79E-51AFB9D3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2705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All six errors</a:t>
            </a:r>
          </a:p>
        </p:txBody>
      </p:sp>
      <p:sp>
        <p:nvSpPr>
          <p:cNvPr id="7" name="True label: alt.atheism&#10;Predicted: soc.religion.ch">
            <a:extLst xmlns:a="http://schemas.openxmlformats.org/drawingml/2006/main">
              <a:ext uri="{FF2B5EF4-FFF2-40B4-BE49-F238E27FC236}">
                <a16:creationId xmlns:a16="http://schemas.microsoft.com/office/drawing/2014/main" id="{0F9D5374-2324-4EE2-96AE-7B4115FE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53100"/>
            <a:ext cx="50958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True label: alt.atheism</a:t>
            </a:r>
          </a:p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Predicted: soc.religion.christian</a:t>
            </a:r>
          </a:p>
        </p:txBody>
      </p:sp>
      <p:sp>
        <p:nvSpPr>
          <p:cNvPr id="8" name="Possible explanation">
            <a:extLst xmlns:a="http://schemas.openxmlformats.org/drawingml/2006/main">
              <a:ext uri="{FF2B5EF4-FFF2-40B4-BE49-F238E27FC236}">
                <a16:creationId xmlns:a16="http://schemas.microsoft.com/office/drawing/2014/main" id="{F9B277EC-9EA0-4B86-BCBE-CFE5641A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5295900"/>
            <a:ext cx="5219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Possible explanation</a:t>
            </a:r>
          </a:p>
        </p:txBody>
      </p:sp>
      <p:sp>
        <p:nvSpPr>
          <p:cNvPr id="9" name="Quoted scripture may confuse TF-IDF/bigrams.&#10;This ">
            <a:extLst xmlns:a="http://schemas.openxmlformats.org/drawingml/2006/main">
              <a:ext uri="{FF2B5EF4-FFF2-40B4-BE49-F238E27FC236}">
                <a16:creationId xmlns:a16="http://schemas.microsoft.com/office/drawing/2014/main" id="{E24879F6-1ABE-4E45-A1DC-6EF583A8E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5753100"/>
            <a:ext cx="5219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Quoted scripture may confuse TF-IDF/bigrams.</a:t>
            </a:r>
          </a:p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This explanation remains unproven.</a:t>
            </a:r>
          </a:p>
        </p:txBody>
      </p:sp>
    </p:spTree>
    <p:extLst>
      <p:ext uri="{BB962C8B-B14F-4D97-AF65-F5344CB8AC3E}">
        <p14:creationId xmlns:p14="http://schemas.microsoft.com/office/powerpoint/2010/main" val="175086780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What drift features add">
            <a:extLst xmlns:a="http://schemas.openxmlformats.org/drawingml/2006/main">
              <a:ext uri="{FF2B5EF4-FFF2-40B4-BE49-F238E27FC236}">
                <a16:creationId xmlns:a16="http://schemas.microsoft.com/office/drawing/2014/main" id="{A3CD9FEF-2A9F-4CF9-9354-D0113B6E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What drift features add</a:t>
            </a:r>
          </a:p>
        </p:txBody>
      </p:sp>
      <p:sp>
        <p:nvSpPr>
          <p:cNvPr id="2" name="11">
            <a:extLst xmlns:a="http://schemas.openxmlformats.org/drawingml/2006/main">
              <a:ext uri="{FF2B5EF4-FFF2-40B4-BE49-F238E27FC236}">
                <a16:creationId xmlns:a16="http://schemas.microsoft.com/office/drawing/2014/main" id="{A9146436-335E-4337-8C51-C0E97187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11</a:t>
            </a:r>
          </a:p>
        </p:txBody>
      </p:sp>
      <p:sp>
        <p:nvSpPr>
          <p:cNvPr id="3" name="Same document-level train/test split across all th">
            <a:extLst xmlns:a="http://schemas.openxmlformats.org/drawingml/2006/main">
              <a:ext uri="{FF2B5EF4-FFF2-40B4-BE49-F238E27FC236}">
                <a16:creationId xmlns:a16="http://schemas.microsoft.com/office/drawing/2014/main" id="{5E651469-2104-42E3-8AAB-A54AA4021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38275"/>
            <a:ext cx="10668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Same document-level train/test split across all three experiments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66750" y="2114550"/>
          <a:ext xmlns:a="http://schemas.openxmlformats.org/drawingml/2006/main" cx="10810875" cy="24003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619250"/>
                <a:gridCol w="5667375"/>
                <a:gridCol w="1619250"/>
                <a:gridCol w="1905000"/>
              </a:tblGrid>
              <a:tr h="60007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Experiment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Features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F1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ROC-AUC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</a:tr>
              <a:tr h="60007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Step + corruption level only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0.253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0.508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60007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B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Single-point confidence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0.443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0.741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60007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</a:t>
                      </a:r>
                    </a:p>
                  </a:txBody>
                  <a:tcPr marL="91440" marR="91440" marT="45720" marB="45720" anchor="ctr">
                    <a:solidFill>
                      <a:srgbClr val="E5ECE9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Full confidence-drift features</a:t>
                      </a:r>
                    </a:p>
                  </a:txBody>
                  <a:tcPr marL="91440" marR="91440" marT="45720" marB="45720" anchor="ctr">
                    <a:solidFill>
                      <a:srgbClr val="E5ECE9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0.483</a:t>
                      </a:r>
                    </a:p>
                  </a:txBody>
                  <a:tcPr marL="91440" marR="91440" marT="45720" marB="45720" anchor="ctr">
                    <a:solidFill>
                      <a:srgbClr val="E5ECE9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0.787</a:t>
                      </a:r>
                    </a:p>
                  </a:txBody>
                  <a:tcPr marL="91440" marR="91440" marT="45720" marB="45720" anchor="ctr">
                    <a:solidFill>
                      <a:srgbClr val="E5ECE9"/>
                    </a:solidFill>
                  </a:tcPr>
                </a:tc>
              </a:tr>
            </a:tbl>
          </a:graphicData>
        </a:graphic>
      </p:graphicFrame>
      <p:sp>
        <p:nvSpPr>
          <p:cNvPr id="5" name="+0.230">
            <a:extLst xmlns:a="http://schemas.openxmlformats.org/drawingml/2006/main">
              <a:ext uri="{FF2B5EF4-FFF2-40B4-BE49-F238E27FC236}">
                <a16:creationId xmlns:a16="http://schemas.microsoft.com/office/drawing/2014/main" id="{DC67C38A-562A-4197-A37E-33F9B863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9175"/>
            <a:ext cx="28765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+0.230</a:t>
            </a:r>
          </a:p>
        </p:txBody>
      </p:sp>
      <p:sp>
        <p:nvSpPr>
          <p:cNvPr id="6" name="F1 improvement, A to C">
            <a:extLst xmlns:a="http://schemas.openxmlformats.org/drawingml/2006/main">
              <a:ext uri="{FF2B5EF4-FFF2-40B4-BE49-F238E27FC236}">
                <a16:creationId xmlns:a16="http://schemas.microsoft.com/office/drawing/2014/main" id="{D0C81AEB-204B-4D9E-A405-F720F31B5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95950"/>
            <a:ext cx="34861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F1 improvement, A to C</a:t>
            </a:r>
          </a:p>
        </p:txBody>
      </p:sp>
      <p:sp>
        <p:nvSpPr>
          <p:cNvPr id="7" name="+0.279">
            <a:extLst xmlns:a="http://schemas.openxmlformats.org/drawingml/2006/main">
              <a:ext uri="{FF2B5EF4-FFF2-40B4-BE49-F238E27FC236}">
                <a16:creationId xmlns:a16="http://schemas.microsoft.com/office/drawing/2014/main" id="{C87525F8-1CB2-4B57-AF82-FFBAE6F1F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9175"/>
            <a:ext cx="30670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+0.279</a:t>
            </a:r>
          </a:p>
        </p:txBody>
      </p:sp>
      <p:sp>
        <p:nvSpPr>
          <p:cNvPr id="8" name="ROC-AUC improvement, A to C">
            <a:extLst xmlns:a="http://schemas.openxmlformats.org/drawingml/2006/main">
              <a:ext uri="{FF2B5EF4-FFF2-40B4-BE49-F238E27FC236}">
                <a16:creationId xmlns:a16="http://schemas.microsoft.com/office/drawing/2014/main" id="{739A5F43-1DD0-49C9-9466-F2BD5F6BA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5695950"/>
            <a:ext cx="41529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ROC-AUC improvement, A to C</a:t>
            </a:r>
          </a:p>
        </p:txBody>
      </p:sp>
      <p:sp>
        <p:nvSpPr>
          <p:cNvPr id="9" name="F1 = 0.483&#10;leaves room to improve.">
            <a:extLst xmlns:a="http://schemas.openxmlformats.org/drawingml/2006/main">
              <a:ext uri="{FF2B5EF4-FFF2-40B4-BE49-F238E27FC236}">
                <a16:creationId xmlns:a16="http://schemas.microsoft.com/office/drawing/2014/main" id="{3B4458EE-3E94-4D4C-B28B-6AFAE5DB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029200"/>
            <a:ext cx="260032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F1 = 0.483</a:t>
            </a:r>
          </a:p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leaves room to improve.</a:t>
            </a:r>
          </a:p>
        </p:txBody>
      </p:sp>
      <p:sp>
        <p:nvSpPr>
          <p:cNvPr id="10" name="Logistic Regression shown. Random Forest and Gradi">
            <a:extLst xmlns:a="http://schemas.openxmlformats.org/drawingml/2006/main">
              <a:ext uri="{FF2B5EF4-FFF2-40B4-BE49-F238E27FC236}">
                <a16:creationId xmlns:a16="http://schemas.microsoft.com/office/drawing/2014/main" id="{CF3441F6-44A1-47F9-9140-A64E84BC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29350"/>
            <a:ext cx="103060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2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Logistic Regression shown. Random Forest and Gradient Boosting reached comparable F1 of 0.47–0.49 with the full feature set.</a:t>
            </a:r>
          </a:p>
        </p:txBody>
      </p:sp>
    </p:spTree>
    <p:extLst>
      <p:ext uri="{BB962C8B-B14F-4D97-AF65-F5344CB8AC3E}">
        <p14:creationId xmlns:p14="http://schemas.microsoft.com/office/powerpoint/2010/main" val="16409003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Four findings">
            <a:extLst xmlns:a="http://schemas.openxmlformats.org/drawingml/2006/main">
              <a:ext uri="{FF2B5EF4-FFF2-40B4-BE49-F238E27FC236}">
                <a16:creationId xmlns:a16="http://schemas.microsoft.com/office/drawing/2014/main" id="{D5437C93-D33D-403B-9771-210D77B6E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Four findings</a:t>
            </a:r>
          </a:p>
        </p:txBody>
      </p:sp>
      <p:sp>
        <p:nvSpPr>
          <p:cNvPr id="2" name="12">
            <a:extLst xmlns:a="http://schemas.openxmlformats.org/drawingml/2006/main">
              <a:ext uri="{FF2B5EF4-FFF2-40B4-BE49-F238E27FC236}">
                <a16:creationId xmlns:a16="http://schemas.microsoft.com/office/drawing/2014/main" id="{B721511D-2205-46F8-BC93-A4DE8946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sp>
        <p:nvSpPr>
          <p:cNvPr id="3" name="63.5–93.3%">
            <a:extLst xmlns:a="http://schemas.openxmlformats.org/drawingml/2006/main">
              <a:ext uri="{FF2B5EF4-FFF2-40B4-BE49-F238E27FC236}">
                <a16:creationId xmlns:a16="http://schemas.microsoft.com/office/drawing/2014/main" id="{F946196B-A14D-41F3-918B-9FA86501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76400"/>
            <a:ext cx="35528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315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63.5–93.3%</a:t>
            </a:r>
          </a:p>
        </p:txBody>
      </p:sp>
      <p:sp>
        <p:nvSpPr>
          <p:cNvPr id="4" name="Confidence carries useful signal">
            <a:extLst xmlns:a="http://schemas.openxmlformats.org/drawingml/2006/main">
              <a:ext uri="{FF2B5EF4-FFF2-40B4-BE49-F238E27FC236}">
                <a16:creationId xmlns:a16="http://schemas.microsoft.com/office/drawing/2014/main" id="{3959A28C-81D5-4E49-9629-A316989F9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685925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Confidence carries useful signal</a:t>
            </a:r>
          </a:p>
        </p:txBody>
      </p:sp>
      <p:sp>
        <p:nvSpPr>
          <p:cNvPr id="5" name="Accuracy rises across the confidence bins.">
            <a:extLst xmlns:a="http://schemas.openxmlformats.org/drawingml/2006/main">
              <a:ext uri="{FF2B5EF4-FFF2-40B4-BE49-F238E27FC236}">
                <a16:creationId xmlns:a16="http://schemas.microsoft.com/office/drawing/2014/main" id="{299C33E1-6F44-48D5-ACF3-0437E8767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152650"/>
            <a:ext cx="6819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Accuracy rises across the confidence bins.</a:t>
            </a:r>
          </a:p>
        </p:txBody>
      </p:sp>
      <p:sp>
        <p:nvSpPr>
          <p:cNvPr id="6" name="6%">
            <a:extLst xmlns:a="http://schemas.openxmlformats.org/drawingml/2006/main">
              <a:ext uri="{FF2B5EF4-FFF2-40B4-BE49-F238E27FC236}">
                <a16:creationId xmlns:a16="http://schemas.microsoft.com/office/drawing/2014/main" id="{5F713238-AC63-4640-A439-A4EAF3BE9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809875"/>
            <a:ext cx="35528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6%</a:t>
            </a:r>
          </a:p>
        </p:txBody>
      </p:sp>
      <p:sp>
        <p:nvSpPr>
          <p:cNvPr id="7" name="High confidence can still be wrong">
            <a:extLst xmlns:a="http://schemas.openxmlformats.org/drawingml/2006/main">
              <a:ext uri="{FF2B5EF4-FFF2-40B4-BE49-F238E27FC236}">
                <a16:creationId xmlns:a16="http://schemas.microsoft.com/office/drawing/2014/main" id="{6F199822-7C40-4B40-857C-9BDC4AC1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81940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High confidence can still be wrong</a:t>
            </a:r>
          </a:p>
        </p:txBody>
      </p:sp>
      <p:sp>
        <p:nvSpPr>
          <p:cNvPr id="8" name="Calibration error is 0.153.">
            <a:extLst xmlns:a="http://schemas.openxmlformats.org/drawingml/2006/main">
              <a:ext uri="{FF2B5EF4-FFF2-40B4-BE49-F238E27FC236}">
                <a16:creationId xmlns:a16="http://schemas.microsoft.com/office/drawing/2014/main" id="{EE50EC52-E149-4780-80CD-DA24DBD3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286125"/>
            <a:ext cx="6819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Calibration error is 0.153.</a:t>
            </a:r>
          </a:p>
        </p:txBody>
      </p:sp>
      <p:sp>
        <p:nvSpPr>
          <p:cNvPr id="9" name="≈ 0.04">
            <a:extLst xmlns:a="http://schemas.openxmlformats.org/drawingml/2006/main">
              <a:ext uri="{FF2B5EF4-FFF2-40B4-BE49-F238E27FC236}">
                <a16:creationId xmlns:a16="http://schemas.microsoft.com/office/drawing/2014/main" id="{B3BECBEC-A8B5-4489-8166-5A4E34DE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943350"/>
            <a:ext cx="35528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≈ 0.04</a:t>
            </a:r>
          </a:p>
        </p:txBody>
      </p:sp>
      <p:sp>
        <p:nvSpPr>
          <p:cNvPr id="10" name="Net drift is a weak predictor">
            <a:extLst xmlns:a="http://schemas.openxmlformats.org/drawingml/2006/main">
              <a:ext uri="{FF2B5EF4-FFF2-40B4-BE49-F238E27FC236}">
                <a16:creationId xmlns:a16="http://schemas.microsoft.com/office/drawing/2014/main" id="{B845CA41-6BC6-4274-B437-37ED74CB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Net drift is a weak predictor</a:t>
            </a:r>
          </a:p>
        </p:txBody>
      </p:sp>
      <p:sp>
        <p:nvSpPr>
          <p:cNvPr id="11" name="Correlation with becoming incorrect is close to ze">
            <a:extLst xmlns:a="http://schemas.openxmlformats.org/drawingml/2006/main">
              <a:ext uri="{FF2B5EF4-FFF2-40B4-BE49-F238E27FC236}">
                <a16:creationId xmlns:a16="http://schemas.microsoft.com/office/drawing/2014/main" id="{0051E781-94AA-4621-9BD0-B022A80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419600"/>
            <a:ext cx="6819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Correlation with becoming incorrect is close to zero.</a:t>
            </a:r>
          </a:p>
        </p:txBody>
      </p:sp>
      <p:sp>
        <p:nvSpPr>
          <p:cNvPr id="12" name="0.25 to 0.48">
            <a:extLst xmlns:a="http://schemas.openxmlformats.org/drawingml/2006/main">
              <a:ext uri="{FF2B5EF4-FFF2-40B4-BE49-F238E27FC236}">
                <a16:creationId xmlns:a16="http://schemas.microsoft.com/office/drawing/2014/main" id="{91D393A3-E5B4-4E46-BBE8-4C437D4C9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076825"/>
            <a:ext cx="35528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0.25 to 0.48</a:t>
            </a:r>
          </a:p>
        </p:txBody>
      </p:sp>
      <p:sp>
        <p:nvSpPr>
          <p:cNvPr id="13" name="The sequence features improve detection">
            <a:extLst xmlns:a="http://schemas.openxmlformats.org/drawingml/2006/main">
              <a:ext uri="{FF2B5EF4-FFF2-40B4-BE49-F238E27FC236}">
                <a16:creationId xmlns:a16="http://schemas.microsoft.com/office/drawing/2014/main" id="{16A8B5F6-6AC3-4EBC-AF76-A3248290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08635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The sequence features improve detection</a:t>
            </a:r>
          </a:p>
        </p:txBody>
      </p:sp>
      <p:sp>
        <p:nvSpPr>
          <p:cNvPr id="14" name="F1 improves across A to C. ROC-AUC rises from 0.51">
            <a:extLst xmlns:a="http://schemas.openxmlformats.org/drawingml/2006/main">
              <a:ext uri="{FF2B5EF4-FFF2-40B4-BE49-F238E27FC236}">
                <a16:creationId xmlns:a16="http://schemas.microsoft.com/office/drawing/2014/main" id="{79CA6043-A419-4D35-81C1-A5F0209DE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553075"/>
            <a:ext cx="6819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F1 improves across A to C. ROC-AUC rises from 0.51 to 0.79.</a:t>
            </a:r>
          </a:p>
        </p:txBody>
      </p:sp>
    </p:spTree>
    <p:extLst>
      <p:ext uri="{BB962C8B-B14F-4D97-AF65-F5344CB8AC3E}">
        <p14:creationId xmlns:p14="http://schemas.microsoft.com/office/powerpoint/2010/main" val="118637481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imitations and next steps">
            <a:extLst xmlns:a="http://schemas.openxmlformats.org/drawingml/2006/main">
              <a:ext uri="{FF2B5EF4-FFF2-40B4-BE49-F238E27FC236}">
                <a16:creationId xmlns:a16="http://schemas.microsoft.com/office/drawing/2014/main" id="{2424214C-6B3F-4F58-A1CA-BEC43F8E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Limitations and next steps</a:t>
            </a:r>
          </a:p>
        </p:txBody>
      </p:sp>
      <p:sp>
        <p:nvSpPr>
          <p:cNvPr id="2" name="13">
            <a:extLst xmlns:a="http://schemas.openxmlformats.org/drawingml/2006/main">
              <a:ext uri="{FF2B5EF4-FFF2-40B4-BE49-F238E27FC236}">
                <a16:creationId xmlns:a16="http://schemas.microsoft.com/office/drawing/2014/main" id="{C9E68E0F-2EBA-4D8A-A26F-92FC398AC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13</a:t>
            </a:r>
          </a:p>
        </p:txBody>
      </p:sp>
      <p:sp>
        <p:nvSpPr>
          <p:cNvPr id="3" name="Limits of this study">
            <a:extLst xmlns:a="http://schemas.openxmlformats.org/drawingml/2006/main">
              <a:ext uri="{FF2B5EF4-FFF2-40B4-BE49-F238E27FC236}">
                <a16:creationId xmlns:a16="http://schemas.microsoft.com/office/drawing/2014/main" id="{E8543C95-7443-4A1C-A5AD-DC614576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5010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2325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Limits of this study</a:t>
            </a:r>
          </a:p>
        </p:txBody>
      </p:sp>
      <p:sp>
        <p:nvSpPr>
          <p:cNvPr id="4" name="What I would test next">
            <a:extLst xmlns:a="http://schemas.openxmlformats.org/drawingml/2006/main">
              <a:ext uri="{FF2B5EF4-FFF2-40B4-BE49-F238E27FC236}">
                <a16:creationId xmlns:a16="http://schemas.microsoft.com/office/drawing/2014/main" id="{673FC507-C3EC-4456-85FD-1BA98165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57350"/>
            <a:ext cx="49625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 i="1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2325" b="0" i="1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What I would test next</a:t>
            </a:r>
          </a:p>
        </p:txBody>
      </p:sp>
      <p:sp>
        <p:nvSpPr>
          <p:cNvPr id="5" name="Text corruption simulates repeated predictions. Re">
            <a:extLst xmlns:a="http://schemas.openxmlformats.org/drawingml/2006/main">
              <a:ext uri="{FF2B5EF4-FFF2-40B4-BE49-F238E27FC236}">
                <a16:creationId xmlns:a16="http://schemas.microsoft.com/office/drawing/2014/main" id="{8262B59A-1E76-4A6C-9087-EF015A74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Text corruption simulates repeated predictions. Real usage may behave differently.</a:t>
            </a:r>
          </a:p>
        </p:txBody>
      </p:sp>
      <p:sp>
        <p:nvSpPr>
          <p:cNvPr id="6" name="Only 439 test documents. Some confidence bins cont">
            <a:extLst xmlns:a="http://schemas.openxmlformats.org/drawingml/2006/main">
              <a:ext uri="{FF2B5EF4-FFF2-40B4-BE49-F238E27FC236}">
                <a16:creationId xmlns:a16="http://schemas.microsoft.com/office/drawing/2014/main" id="{6770C4C7-70FC-4797-BEA5-9E399C8E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Only 439 test documents. Some confidence bins contain very few samples.</a:t>
            </a:r>
          </a:p>
        </p:txBody>
      </p:sp>
      <p:sp>
        <p:nvSpPr>
          <p:cNvPr id="7" name="Two classes and one base model architecture.">
            <a:extLst xmlns:a="http://schemas.openxmlformats.org/drawingml/2006/main">
              <a:ext uri="{FF2B5EF4-FFF2-40B4-BE49-F238E27FC236}">
                <a16:creationId xmlns:a16="http://schemas.microsoft.com/office/drawing/2014/main" id="{0E113920-E910-41B3-A71D-FF5D45DE3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0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Two classes and one base model architecture.</a:t>
            </a:r>
          </a:p>
        </p:txBody>
      </p:sp>
      <p:sp>
        <p:nvSpPr>
          <p:cNvPr id="8" name="Detector F1 is about 0.48, so many predictions rem">
            <a:extLst xmlns:a="http://schemas.openxmlformats.org/drawingml/2006/main">
              <a:ext uri="{FF2B5EF4-FFF2-40B4-BE49-F238E27FC236}">
                <a16:creationId xmlns:a16="http://schemas.microsoft.com/office/drawing/2014/main" id="{AB52B4CC-4231-4661-8232-A5B25057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29225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Detector F1 is about 0.48, so many predictions remain missed or mislabeled.</a:t>
            </a:r>
          </a:p>
        </p:txBody>
      </p:sp>
      <p:sp>
        <p:nvSpPr>
          <p:cNvPr id="9" name="Evaluate a neural text classifier to test whether ">
            <a:extLst xmlns:a="http://schemas.openxmlformats.org/drawingml/2006/main">
              <a:ext uri="{FF2B5EF4-FFF2-40B4-BE49-F238E27FC236}">
                <a16:creationId xmlns:a16="http://schemas.microsoft.com/office/drawing/2014/main" id="{3752B308-00F9-4C50-AD9B-9238B005C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00300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Evaluate a neural text classifier to test whether drift features still help.</a:t>
            </a:r>
          </a:p>
        </p:txBody>
      </p:sp>
      <p:sp>
        <p:nvSpPr>
          <p:cNvPr id="10" name="Collect naturally repeated real-world queries when">
            <a:extLst xmlns:a="http://schemas.openxmlformats.org/drawingml/2006/main">
              <a:ext uri="{FF2B5EF4-FFF2-40B4-BE49-F238E27FC236}">
                <a16:creationId xmlns:a16="http://schemas.microsoft.com/office/drawing/2014/main" id="{CCCBD2A0-9F75-492A-829B-6633F413A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343275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Collect naturally repeated real-world queries when data becomes available.</a:t>
            </a:r>
          </a:p>
        </p:txBody>
      </p:sp>
      <p:sp>
        <p:nvSpPr>
          <p:cNvPr id="11" name="Apply temperature scaling and measure what drift f">
            <a:extLst xmlns:a="http://schemas.openxmlformats.org/drawingml/2006/main">
              <a:ext uri="{FF2B5EF4-FFF2-40B4-BE49-F238E27FC236}">
                <a16:creationId xmlns:a16="http://schemas.microsoft.com/office/drawing/2014/main" id="{BC6AA5AE-3329-4C4C-A165-E9C1DCA70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286250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Apply temperature scaling and measure what drift features add after calibration.</a:t>
            </a:r>
          </a:p>
        </p:txBody>
      </p:sp>
      <p:sp>
        <p:nvSpPr>
          <p:cNvPr id="12" name="Extend to multiple classes with richer margin and ">
            <a:extLst xmlns:a="http://schemas.openxmlformats.org/drawingml/2006/main">
              <a:ext uri="{FF2B5EF4-FFF2-40B4-BE49-F238E27FC236}">
                <a16:creationId xmlns:a16="http://schemas.microsoft.com/office/drawing/2014/main" id="{7CBB013A-13E8-45A7-AF2E-8F36E5564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229225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Extend to multiple classes with richer margin and entropy features.</a:t>
            </a:r>
          </a:p>
        </p:txBody>
      </p:sp>
    </p:spTree>
    <p:extLst>
      <p:ext uri="{BB962C8B-B14F-4D97-AF65-F5344CB8AC3E}">
        <p14:creationId xmlns:p14="http://schemas.microsoft.com/office/powerpoint/2010/main" val="213997918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14">
            <a:extLst xmlns:a="http://schemas.openxmlformats.org/drawingml/2006/main">
              <a:ext uri="{FF2B5EF4-FFF2-40B4-BE49-F238E27FC236}">
                <a16:creationId xmlns:a16="http://schemas.microsoft.com/office/drawing/2014/main" id="{823D9931-639E-4B5A-8246-D9782F3C1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14</a:t>
            </a:r>
          </a:p>
        </p:txBody>
      </p:sp>
      <p:sp>
        <p:nvSpPr>
          <p:cNvPr id="2" name="CONCLUSION">
            <a:extLst xmlns:a="http://schemas.openxmlformats.org/drawingml/2006/main">
              <a:ext uri="{FF2B5EF4-FFF2-40B4-BE49-F238E27FC236}">
                <a16:creationId xmlns:a16="http://schemas.microsoft.com/office/drawing/2014/main" id="{87FF95EE-81A1-4C89-9531-EFACD361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"/>
            <a:ext cx="762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CONCLUSION</a:t>
            </a:r>
          </a:p>
        </p:txBody>
      </p:sp>
      <p:sp>
        <p:nvSpPr>
          <p:cNvPr id="3" name="The shape of confidence">
            <a:extLst xmlns:a="http://schemas.openxmlformats.org/drawingml/2006/main">
              <a:ext uri="{FF2B5EF4-FFF2-40B4-BE49-F238E27FC236}">
                <a16:creationId xmlns:a16="http://schemas.microsoft.com/office/drawing/2014/main" id="{5E6C7C6B-4C43-4614-9594-3519A6D1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562100"/>
            <a:ext cx="108585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0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50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The shape of confidence</a:t>
            </a:r>
          </a:p>
        </p:txBody>
      </p:sp>
      <p:sp>
        <p:nvSpPr>
          <p:cNvPr id="4" name="helps identify">
            <a:extLst xmlns:a="http://schemas.openxmlformats.org/drawingml/2006/main">
              <a:ext uri="{FF2B5EF4-FFF2-40B4-BE49-F238E27FC236}">
                <a16:creationId xmlns:a16="http://schemas.microsoft.com/office/drawing/2014/main" id="{4EC2D5F6-C098-4129-8B79-61D8ACEE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409825"/>
            <a:ext cx="1085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0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50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helps identify</a:t>
            </a:r>
          </a:p>
        </p:txBody>
      </p:sp>
      <p:sp>
        <p:nvSpPr>
          <p:cNvPr id="5" name="unreliable predictions.">
            <a:extLst xmlns:a="http://schemas.openxmlformats.org/drawingml/2006/main">
              <a:ext uri="{FF2B5EF4-FFF2-40B4-BE49-F238E27FC236}">
                <a16:creationId xmlns:a16="http://schemas.microsoft.com/office/drawing/2014/main" id="{69658D52-831A-4DFB-8801-964C3359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2575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540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unreliable predictions.</a:t>
            </a:r>
          </a:p>
        </p:txBody>
      </p:sp>
      <p:sp>
        <p:nvSpPr>
          <p:cNvPr id="6" name="Volatility, moving statistics and consecutive drop">
            <a:extLst xmlns:a="http://schemas.openxmlformats.org/drawingml/2006/main">
              <a:ext uri="{FF2B5EF4-FFF2-40B4-BE49-F238E27FC236}">
                <a16:creationId xmlns:a16="http://schemas.microsoft.com/office/drawing/2014/main" id="{0E191135-0BB6-432F-AFC0-E7A27F1A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676775"/>
            <a:ext cx="10763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Volatility, moving statistics and consecutive drops improve detection.</a:t>
            </a:r>
          </a:p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Net drift alone contributes little signal.</a:t>
            </a:r>
          </a:p>
        </p:txBody>
      </p:sp>
      <p:sp>
        <p:nvSpPr>
          <p:cNvPr id="7" name="F1  0.25 to 0.48">
            <a:extLst xmlns:a="http://schemas.openxmlformats.org/drawingml/2006/main">
              <a:ext uri="{FF2B5EF4-FFF2-40B4-BE49-F238E27FC236}">
                <a16:creationId xmlns:a16="http://schemas.microsoft.com/office/drawing/2014/main" id="{E4A52E5D-952F-4DA8-9019-DB858067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7245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F1  0.25 to 0.48</a:t>
            </a:r>
          </a:p>
        </p:txBody>
      </p:sp>
      <p:sp>
        <p:nvSpPr>
          <p:cNvPr id="8" name="ROC-AUC  0.51 to 0.79">
            <a:extLst xmlns:a="http://schemas.openxmlformats.org/drawingml/2006/main">
              <a:ext uri="{FF2B5EF4-FFF2-40B4-BE49-F238E27FC236}">
                <a16:creationId xmlns:a16="http://schemas.microsoft.com/office/drawing/2014/main" id="{21391423-CB0A-4883-9DAE-3878BA0A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724525"/>
            <a:ext cx="5076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ROC-AUC  0.51 to 0.79</a:t>
            </a:r>
          </a:p>
        </p:txBody>
      </p:sp>
      <p:sp>
        <p:nvSpPr>
          <p:cNvPr id="9" name="Code, data, models and research report: github.com">
            <a:extLst xmlns:a="http://schemas.openxmlformats.org/drawingml/2006/main">
              <a:ext uri="{FF2B5EF4-FFF2-40B4-BE49-F238E27FC236}">
                <a16:creationId xmlns:a16="http://schemas.microsoft.com/office/drawing/2014/main" id="{D5EBB6A8-C230-43FE-AAFE-465B27659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362700"/>
            <a:ext cx="1040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Code, data, models and research report: </a:t>
            </a: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1e50029c3963453f"/>
              </a:rPr>
              <a:t>github.com/ahansardar/ai-confidence-drift</a:t>
            </a:r>
          </a:p>
        </p:txBody>
      </p:sp>
    </p:spTree>
    <p:extLst>
      <p:ext uri="{BB962C8B-B14F-4D97-AF65-F5344CB8AC3E}">
        <p14:creationId xmlns:p14="http://schemas.microsoft.com/office/powerpoint/2010/main" val="14442139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2026-09-17T07:42:27.0820000Z</dcterms:created>
  <dcterms:modified xsi:type="dcterms:W3CDTF">2026-09-17T07:42:27.0820000Z</dcterms:modified>
</coreProperties>
</file>