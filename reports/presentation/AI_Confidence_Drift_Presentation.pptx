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2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3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0721cf4cb74113" /><Relationship Type="http://schemas.openxmlformats.org/officeDocument/2006/relationships/extended-properties" Target="/docProps/app.xml" Id="R7bb38bae598d40be" /><Relationship Type="http://schemas.openxmlformats.org/officeDocument/2006/relationships/officeDocument" Target="/ppt/presentation.xml" Id="R4ddbc112f41f4f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3a9f649c1e44f32"/>
  </p:sldMasterIdLst>
  <p:notesMasterIdLst>
    <p:notesMasterId xmlns:r="http://schemas.openxmlformats.org/officeDocument/2006/relationships" r:id="R300291e3629141c6"/>
  </p:notesMasterIdLst>
  <p:sldIdLst>
    <p:sldId xmlns:r="http://schemas.openxmlformats.org/officeDocument/2006/relationships" id="256" r:id="R6ff3c2ded7744066"/>
    <p:sldId xmlns:r="http://schemas.openxmlformats.org/officeDocument/2006/relationships" id="257" r:id="R6af4965a183344ce"/>
    <p:sldId xmlns:r="http://schemas.openxmlformats.org/officeDocument/2006/relationships" id="258" r:id="R027f5cb4c6cb4130"/>
    <p:sldId xmlns:r="http://schemas.openxmlformats.org/officeDocument/2006/relationships" id="259" r:id="Rc78691d67d2d43a4"/>
    <p:sldId xmlns:r="http://schemas.openxmlformats.org/officeDocument/2006/relationships" id="260" r:id="Rf585f4b1b684420a"/>
    <p:sldId xmlns:r="http://schemas.openxmlformats.org/officeDocument/2006/relationships" id="261" r:id="Rbc1851f792fa4c7e"/>
    <p:sldId xmlns:r="http://schemas.openxmlformats.org/officeDocument/2006/relationships" id="262" r:id="Re268a733d8804fbb"/>
    <p:sldId xmlns:r="http://schemas.openxmlformats.org/officeDocument/2006/relationships" id="263" r:id="Re43442f6f9ef4dd6"/>
    <p:sldId xmlns:r="http://schemas.openxmlformats.org/officeDocument/2006/relationships" id="264" r:id="R124d19f5a5d647f9"/>
    <p:sldId xmlns:r="http://schemas.openxmlformats.org/officeDocument/2006/relationships" id="265" r:id="R1df82704af7844c3"/>
    <p:sldId xmlns:r="http://schemas.openxmlformats.org/officeDocument/2006/relationships" id="266" r:id="R23ac0338c90b4555"/>
    <p:sldId xmlns:r="http://schemas.openxmlformats.org/officeDocument/2006/relationships" id="267" r:id="R00be9d45f0064b99"/>
    <p:sldId xmlns:r="http://schemas.openxmlformats.org/officeDocument/2006/relationships" id="268" r:id="R9663662c6ff44e83"/>
    <p:sldId xmlns:r="http://schemas.openxmlformats.org/officeDocument/2006/relationships" id="269" r:id="R28d63d8d2c46400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48ca9fd95a4d16" /><Relationship Type="http://schemas.openxmlformats.org/officeDocument/2006/relationships/slideMaster" Target="/ppt/slideMasters/slideMaster1.xml" Id="R23a9f649c1e44f32" /><Relationship Type="http://schemas.openxmlformats.org/officeDocument/2006/relationships/notesMaster" Target="/ppt/notesMasters/notesMaster1.xml" Id="R300291e3629141c6" /><Relationship Type="http://schemas.openxmlformats.org/officeDocument/2006/relationships/presProps" Target="/ppt/presProps.xml" Id="R3bbfc1eeb7424c18" /><Relationship Type="http://schemas.openxmlformats.org/officeDocument/2006/relationships/tableStyles" Target="/ppt/tableStyles.xml" Id="Rd09ccbc72d8d40fa" /><Relationship Type="http://schemas.openxmlformats.org/officeDocument/2006/relationships/slide" Target="/ppt/slides/slide1.xml" Id="R6ff3c2ded7744066" /><Relationship Type="http://schemas.openxmlformats.org/officeDocument/2006/relationships/slide" Target="/ppt/slides/slide2.xml" Id="R6af4965a183344ce" /><Relationship Type="http://schemas.openxmlformats.org/officeDocument/2006/relationships/slide" Target="/ppt/slides/slide3.xml" Id="R027f5cb4c6cb4130" /><Relationship Type="http://schemas.openxmlformats.org/officeDocument/2006/relationships/slide" Target="/ppt/slides/slide4.xml" Id="Rc78691d67d2d43a4" /><Relationship Type="http://schemas.openxmlformats.org/officeDocument/2006/relationships/slide" Target="/ppt/slides/slide5.xml" Id="Rf585f4b1b684420a" /><Relationship Type="http://schemas.openxmlformats.org/officeDocument/2006/relationships/slide" Target="/ppt/slides/slide6.xml" Id="Rbc1851f792fa4c7e" /><Relationship Type="http://schemas.openxmlformats.org/officeDocument/2006/relationships/slide" Target="/ppt/slides/slide7.xml" Id="Re268a733d8804fbb" /><Relationship Type="http://schemas.openxmlformats.org/officeDocument/2006/relationships/slide" Target="/ppt/slides/slide8.xml" Id="Re43442f6f9ef4dd6" /><Relationship Type="http://schemas.openxmlformats.org/officeDocument/2006/relationships/slide" Target="/ppt/slides/slide9.xml" Id="R124d19f5a5d647f9" /><Relationship Type="http://schemas.openxmlformats.org/officeDocument/2006/relationships/slide" Target="/ppt/slides/slide10.xml" Id="R1df82704af7844c3" /><Relationship Type="http://schemas.openxmlformats.org/officeDocument/2006/relationships/slide" Target="/ppt/slides/slide11.xml" Id="R23ac0338c90b4555" /><Relationship Type="http://schemas.openxmlformats.org/officeDocument/2006/relationships/slide" Target="/ppt/slides/slide12.xml" Id="R00be9d45f0064b99" /><Relationship Type="http://schemas.openxmlformats.org/officeDocument/2006/relationships/slide" Target="/ppt/slides/slide13.xml" Id="R9663662c6ff44e83" /><Relationship Type="http://schemas.openxmlformats.org/officeDocument/2006/relationships/slide" Target="/ppt/slides/slide14.xml" Id="R28d63d8d2c4640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c45b0ac48cc40b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844e7982a5048cd" /><Relationship Type="http://schemas.openxmlformats.org/officeDocument/2006/relationships/notesMaster" Target="/ppt/notesMasters/notesMaster1.xml" Id="Rf8bb6eb8185342e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cfab75337ee481d" /><Relationship Type="http://schemas.openxmlformats.org/officeDocument/2006/relationships/notesMaster" Target="/ppt/notesMasters/notesMaster1.xml" Id="R8b1bc30067de4cb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3f0937cb8804e68" /><Relationship Type="http://schemas.openxmlformats.org/officeDocument/2006/relationships/notesMaster" Target="/ppt/notesMasters/notesMaster1.xml" Id="R392c07b779a54e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e5079f4365e4cac" /><Relationship Type="http://schemas.openxmlformats.org/officeDocument/2006/relationships/notesMaster" Target="/ppt/notesMasters/notesMaster1.xml" Id="Re9934b4eb5104f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54a003822884ce5" /><Relationship Type="http://schemas.openxmlformats.org/officeDocument/2006/relationships/notesMaster" Target="/ppt/notesMasters/notesMaster1.xml" Id="R29f97174b9f641e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2a56940963c4c69" /><Relationship Type="http://schemas.openxmlformats.org/officeDocument/2006/relationships/notesMaster" Target="/ppt/notesMasters/notesMaster1.xml" Id="R5d46265d1ab14ce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2d07f753bf464a" /><Relationship Type="http://schemas.openxmlformats.org/officeDocument/2006/relationships/notesMaster" Target="/ppt/notesMasters/notesMaster1.xml" Id="R5e037012bec7463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70c0b245969426c" /><Relationship Type="http://schemas.openxmlformats.org/officeDocument/2006/relationships/notesMaster" Target="/ppt/notesMasters/notesMaster1.xml" Id="Rb56769c95b7141c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426ce9403c348c6" /><Relationship Type="http://schemas.openxmlformats.org/officeDocument/2006/relationships/notesMaster" Target="/ppt/notesMasters/notesMaster1.xml" Id="Rf56f15dd9b2f483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af17f19d01349d0" /><Relationship Type="http://schemas.openxmlformats.org/officeDocument/2006/relationships/notesMaster" Target="/ppt/notesMasters/notesMaster1.xml" Id="R713419dcd59740b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0410c1a34ce49a9" /><Relationship Type="http://schemas.openxmlformats.org/officeDocument/2006/relationships/notesMaster" Target="/ppt/notesMasters/notesMaster1.xml" Id="Rf020952e63244ad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4df73d3404741c1" /><Relationship Type="http://schemas.openxmlformats.org/officeDocument/2006/relationships/notesMaster" Target="/ppt/notesMasters/notesMaster1.xml" Id="R34a1abd87df240e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1fae649c5254a7d" /><Relationship Type="http://schemas.openxmlformats.org/officeDocument/2006/relationships/notesMaster" Target="/ppt/notesMasters/notesMaster1.xml" Id="R8f13f15703604b8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e465a9d588b4abe" /><Relationship Type="http://schemas.openxmlformats.org/officeDocument/2006/relationships/notesMaster" Target="/ppt/notesMasters/notesMaster1.xml" Id="R60aa6d54d3504e1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Trajectory data: data/processed/confidence_sequences.csv. These are actual base-model probabilities on six increasingly corrupted versions of each document. The sequence is simulated rather than naturally repeated.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Exact values: results/metrics/calibration_analysis.json. The Brier score uses the probability of class 1 against the true binary label; this corrects the earlier maximum-class-probability calculation.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original per-step C detector caught 0/6 at the uncorrupted step. A separate sequence-level Logistic Regression model predicts original correctness after six deterministic text probes. Probes are seeded by text so caller IDs cannot alter the score. It was fitted on out-of-fold base-model sequences from the 1,315 base-training documents and flagged 5/6 high-confidence errors plus 44 correct cases on the 439-document test set. Nested validation flagged 4/6 plus 108 correct cases. A start-only ablation flagged 5/6 plus 43 correct cases. This is retrospective and not deployment-ready. See results/metrics/sequence_error_detector_analysis.json.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A, B and C use the same Logistic Regression method, document-grouped folds, target and 0.5 threshold. A includes corruption step and level; B adds current confidence and margin; C adds nine history features. Results: results/metrics/drift_history_validation.json. Paired document-bootstrap intervals exclude retraining uncertainty.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ec07c964e24d1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05c2b807a3c456b" /><Relationship Type="http://schemas.openxmlformats.org/officeDocument/2006/relationships/slideLayout" Target="/ppt/slideLayouts/slideLayout1.xml" Id="R64deaa5966d5483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deaa5966d5483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836a587ca74525" /><Relationship Type="http://schemas.openxmlformats.org/officeDocument/2006/relationships/hyperlink" Target="https://github.com/ahansardar/ai-confidence-drift" TargetMode="External" Id="R7d6f8a6d23204b16" /><Relationship Type="http://schemas.openxmlformats.org/officeDocument/2006/relationships/notesSlide" Target="/ppt/notesSlides/notesSlide1.xml" Id="Rce66fa1fcb244c1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c207ff905547d8" /><Relationship Type="http://schemas.openxmlformats.org/officeDocument/2006/relationships/notesSlide" Target="/ppt/notesSlides/notesSlide2.xml" Id="R8927620713034d7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b9182b0cf04094" /><Relationship Type="http://schemas.openxmlformats.org/officeDocument/2006/relationships/notesSlide" Target="/ppt/notesSlides/notesSlide3.xml" Id="Rd08ebea5c637490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d5aaff72804d26" /><Relationship Type="http://schemas.openxmlformats.org/officeDocument/2006/relationships/notesSlide" Target="/ppt/notesSlides/notesSlide4.xml" Id="Rb04861933e2b4b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af94a39ec84423" /><Relationship Type="http://schemas.openxmlformats.org/officeDocument/2006/relationships/notesSlide" Target="/ppt/notesSlides/notesSlide5.xml" Id="R1eccef64e47c4ef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317ab4b3454f68" /><Relationship Type="http://schemas.openxmlformats.org/officeDocument/2006/relationships/chart" Target="/ppt/slides/charts/chart1.xml" Id="R4c69fd283f3248d0" /><Relationship Type="http://schemas.openxmlformats.org/officeDocument/2006/relationships/notesSlide" Target="/ppt/notesSlides/notesSlide6.xml" Id="R87f34df229fb4bc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2a333866f14f0a" /><Relationship Type="http://schemas.openxmlformats.org/officeDocument/2006/relationships/notesSlide" Target="/ppt/notesSlides/notesSlide7.xml" Id="R068ad63638574da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c3ccdffeee46d1" /><Relationship Type="http://schemas.openxmlformats.org/officeDocument/2006/relationships/chart" Target="/ppt/slides/charts/chart2.xml" Id="R7f040855daaa47a6" /><Relationship Type="http://schemas.openxmlformats.org/officeDocument/2006/relationships/notesSlide" Target="/ppt/notesSlides/notesSlide8.xml" Id="R34ce0d8f5be44b8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ff49fd73b44b31" /><Relationship Type="http://schemas.openxmlformats.org/officeDocument/2006/relationships/chart" Target="/ppt/slides/charts/chart3.xml" Id="R7360cf08c5ed40e0" /><Relationship Type="http://schemas.openxmlformats.org/officeDocument/2006/relationships/notesSlide" Target="/ppt/notesSlides/notesSlide9.xml" Id="R125a66cb73af413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f89ffba1ea4c76" /><Relationship Type="http://schemas.openxmlformats.org/officeDocument/2006/relationships/notesSlide" Target="/ppt/notesSlides/notesSlide10.xml" Id="Re4500653c2d947f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2f00bdb2f14e32" /><Relationship Type="http://schemas.openxmlformats.org/officeDocument/2006/relationships/notesSlide" Target="/ppt/notesSlides/notesSlide11.xml" Id="R89b724c6261c46d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938fb4cd8b4e82" /><Relationship Type="http://schemas.openxmlformats.org/officeDocument/2006/relationships/notesSlide" Target="/ppt/notesSlides/notesSlide12.xml" Id="Rbf157cc239d740d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3b574e78834334" /><Relationship Type="http://schemas.openxmlformats.org/officeDocument/2006/relationships/notesSlide" Target="/ppt/notesSlides/notesSlide13.xml" Id="R58c8f5cf89f6408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d78e1ba0044548" /><Relationship Type="http://schemas.openxmlformats.org/officeDocument/2006/relationships/hyperlink" Target="https://github.com/ahansardar/ai-confidence-drift" TargetMode="External" Id="R947ad014f48846af" /><Relationship Type="http://schemas.openxmlformats.org/officeDocument/2006/relationships/notesSlide" Target="/ppt/notesSlides/notesSlide14.xml" Id="R884f630f300d4675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doc_00947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Data'!$A$2:$A$7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Data'!$B$2:$B$7</c:f>
              <c:numCache>
                <c:formatCode>0.0</c:formatCode>
                <c:ptCount val="6"/>
                <c:pt idx="0">
                  <c:v>0.719348323778</c:v>
                </c:pt>
                <c:pt idx="1">
                  <c:v>0.759857742655</c:v>
                </c:pt>
                <c:pt idx="2">
                  <c:v>0.715960064383</c:v>
                </c:pt>
                <c:pt idx="3">
                  <c:v>0.779436106036</c:v>
                </c:pt>
                <c:pt idx="4">
                  <c:v>0.734494194224</c:v>
                </c:pt>
                <c:pt idx="5">
                  <c:v>0.65024637782</c:v>
                </c:pt>
              </c:numCache>
            </c:numRef>
          </c:val>
          <c:smooth val="0"/>
        </c:ser>
        <c:ser>
          <c:idx val="1"/>
          <c:order val="1"/>
          <c:tx>
            <c:v>doc_00379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Data'!$C$2:$C$7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Data'!$D$2:$D$7</c:f>
              <c:numCache>
                <c:formatCode>0.0</c:formatCode>
                <c:ptCount val="6"/>
                <c:pt idx="0">
                  <c:v>0.651263024184</c:v>
                </c:pt>
                <c:pt idx="1">
                  <c:v>0.622375661344</c:v>
                </c:pt>
                <c:pt idx="2">
                  <c:v>0.639477690662</c:v>
                </c:pt>
                <c:pt idx="3">
                  <c:v>0.554223020774</c:v>
                </c:pt>
                <c:pt idx="4">
                  <c:v>0.660040219646</c:v>
                </c:pt>
                <c:pt idx="5">
                  <c:v>0.61338156255</c:v>
                </c:pt>
              </c:numCache>
            </c:numRef>
          </c:val>
          <c:smooth val="0"/>
        </c:ser>
        <c:ser>
          <c:idx val="2"/>
          <c:order val="2"/>
          <c:tx>
            <c:v>doc_00862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Data'!$E$2:$E$7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Data'!$F$2:$F$7</c:f>
              <c:numCache>
                <c:formatCode>0.0</c:formatCode>
                <c:ptCount val="6"/>
                <c:pt idx="0">
                  <c:v>0.654961951257</c:v>
                </c:pt>
                <c:pt idx="1">
                  <c:v>0.634114026368</c:v>
                </c:pt>
                <c:pt idx="2">
                  <c:v>0.6025647027</c:v>
                </c:pt>
                <c:pt idx="3">
                  <c:v>0.651328412914</c:v>
                </c:pt>
                <c:pt idx="4">
                  <c:v>0.605972114083</c:v>
                </c:pt>
                <c:pt idx="5">
                  <c:v>0.594695141483</c:v>
                </c:pt>
              </c:numCache>
            </c:numRef>
          </c:val>
          <c:smooth val="0"/>
        </c:ser>
        <c:ser>
          <c:idx val="3"/>
          <c:order val="3"/>
          <c:tx>
            <c:v>doc_00666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Data'!$G$2:$G$7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Data'!$H$2:$H$7</c:f>
              <c:numCache>
                <c:formatCode>0.0</c:formatCode>
                <c:ptCount val="6"/>
                <c:pt idx="0">
                  <c:v>0.573958284012</c:v>
                </c:pt>
                <c:pt idx="1">
                  <c:v>0.587214607883</c:v>
                </c:pt>
                <c:pt idx="2">
                  <c:v>0.603181527254</c:v>
                </c:pt>
                <c:pt idx="3">
                  <c:v>0.575965645126</c:v>
                </c:pt>
                <c:pt idx="4">
                  <c:v>0.532733701042</c:v>
                </c:pt>
                <c:pt idx="5">
                  <c:v>0.600116323688</c:v>
                </c:pt>
              </c:numCache>
            </c:numRef>
          </c:val>
          <c:smooth val="0"/>
        </c:ser>
        <c:ser>
          <c:idx val="4"/>
          <c:order val="4"/>
          <c:tx>
            <c:v>doc_00906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Data'!$I$2:$I$7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Data'!$J$2:$J$7</c:f>
              <c:numCache>
                <c:formatCode>0.0</c:formatCode>
                <c:ptCount val="6"/>
                <c:pt idx="0">
                  <c:v>0.803287623609</c:v>
                </c:pt>
                <c:pt idx="1">
                  <c:v>0.782247690794</c:v>
                </c:pt>
                <c:pt idx="2">
                  <c:v>0.752273990641</c:v>
                </c:pt>
                <c:pt idx="3">
                  <c:v>0.700765789377</c:v>
                </c:pt>
                <c:pt idx="4">
                  <c:v>0.749902716815</c:v>
                </c:pt>
                <c:pt idx="5">
                  <c:v>0.7218809687</c:v>
                </c:pt>
              </c:numCache>
            </c:numRef>
          </c:val>
          <c:smooth val="0"/>
        </c:ser>
        <c:ser>
          <c:idx val="5"/>
          <c:order val="5"/>
          <c:tx>
            <c:v>doc_00682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Data'!$K$2:$K$7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Data'!$L$2:$L$7</c:f>
              <c:numCache>
                <c:formatCode>0.0</c:formatCode>
                <c:ptCount val="6"/>
                <c:pt idx="0">
                  <c:v>0.547705670064</c:v>
                </c:pt>
                <c:pt idx="1">
                  <c:v>0.529057843546</c:v>
                </c:pt>
                <c:pt idx="2">
                  <c:v>0.520742630581</c:v>
                </c:pt>
                <c:pt idx="3">
                  <c:v>0.519210703769</c:v>
                </c:pt>
                <c:pt idx="4">
                  <c:v>0.525511695583</c:v>
                </c:pt>
                <c:pt idx="5">
                  <c:v>0.535102525295</c:v>
                </c:pt>
              </c:numCache>
            </c:numRef>
          </c:val>
          <c:smooth val="0"/>
        </c:ser>
        <c:ser>
          <c:idx val="6"/>
          <c:order val="6"/>
          <c:tx>
            <c:v>doc_00653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Data'!$M$2:$M$7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Data'!$N$2:$N$7</c:f>
              <c:numCache>
                <c:formatCode>0.0</c:formatCode>
                <c:ptCount val="6"/>
                <c:pt idx="0">
                  <c:v>0.599758428292</c:v>
                </c:pt>
                <c:pt idx="1">
                  <c:v>0.550448651466</c:v>
                </c:pt>
                <c:pt idx="2">
                  <c:v>0.557847904289</c:v>
                </c:pt>
                <c:pt idx="3">
                  <c:v>0.651255992277</c:v>
                </c:pt>
                <c:pt idx="4">
                  <c:v>0.614750156933</c:v>
                </c:pt>
                <c:pt idx="5">
                  <c:v>0.538446294376</c:v>
                </c:pt>
              </c:numCache>
            </c:numRef>
          </c:val>
          <c:smooth val="0"/>
        </c:ser>
        <c:ser>
          <c:idx val="7"/>
          <c:order val="7"/>
          <c:tx>
            <c:v>doc_00750</c:v>
          </c:tx>
          <c:spPr>
            <a:ln xmlns:a="http://schemas.openxmlformats.org/drawingml/2006/main" w="28575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Data'!$O$2:$O$7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Data'!$P$2:$P$7</c:f>
              <c:numCache>
                <c:formatCode>0.0</c:formatCode>
                <c:ptCount val="6"/>
                <c:pt idx="0">
                  <c:v>0.963198276368</c:v>
                </c:pt>
                <c:pt idx="1">
                  <c:v>0.951794704782</c:v>
                </c:pt>
                <c:pt idx="2">
                  <c:v>0.950893635072</c:v>
                </c:pt>
                <c:pt idx="3">
                  <c:v>0.950536433004</c:v>
                </c:pt>
                <c:pt idx="4">
                  <c:v>0.947528281923</c:v>
                </c:pt>
                <c:pt idx="5">
                  <c:v>0.949225523566</c:v>
                </c:pt>
              </c:numCache>
            </c:numRef>
          </c:val>
          <c:smooth val="0"/>
        </c:ser>
        <c:ser>
          <c:idx val="8"/>
          <c:order val="8"/>
          <c:tx>
            <c:v>doc_00949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Data'!$Q$2:$Q$7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Data'!$R$2:$R$7</c:f>
              <c:numCache>
                <c:formatCode>0.0</c:formatCode>
                <c:ptCount val="6"/>
                <c:pt idx="0">
                  <c:v>0.708532227862</c:v>
                </c:pt>
                <c:pt idx="1">
                  <c:v>0.7334973885</c:v>
                </c:pt>
                <c:pt idx="2">
                  <c:v>0.698768398381</c:v>
                </c:pt>
                <c:pt idx="3">
                  <c:v>0.674598700135</c:v>
                </c:pt>
                <c:pt idx="4">
                  <c:v>0.650643222049</c:v>
                </c:pt>
                <c:pt idx="5">
                  <c:v>0.714768716563</c:v>
                </c:pt>
              </c:numCache>
            </c:numRef>
          </c:val>
          <c:smooth val="0"/>
        </c:ser>
        <c:ser>
          <c:idx val="9"/>
          <c:order val="9"/>
          <c:tx>
            <c:v>doc_01749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Data'!$S$2:$S$7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Data'!$T$2:$T$7</c:f>
              <c:numCache>
                <c:formatCode>0.0</c:formatCode>
                <c:ptCount val="6"/>
                <c:pt idx="0">
                  <c:v>0.728667954938</c:v>
                </c:pt>
                <c:pt idx="1">
                  <c:v>0.762369273157</c:v>
                </c:pt>
                <c:pt idx="2">
                  <c:v>0.753212408906</c:v>
                </c:pt>
                <c:pt idx="3">
                  <c:v>0.731961285524</c:v>
                </c:pt>
                <c:pt idx="4">
                  <c:v>0.751639954251</c:v>
                </c:pt>
                <c:pt idx="5">
                  <c:v>0.735266212207</c:v>
                </c:pt>
              </c:numCache>
            </c:numRef>
          </c:val>
          <c:smooth val="0"/>
        </c:ser>
        <c:ser>
          <c:idx val="10"/>
          <c:order val="10"/>
          <c:tx>
            <c:v>doc_01258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Data'!$U$2:$U$7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Data'!$V$2:$V$7</c:f>
              <c:numCache>
                <c:formatCode>0.0</c:formatCode>
                <c:ptCount val="6"/>
                <c:pt idx="0">
                  <c:v>0.591846293039</c:v>
                </c:pt>
                <c:pt idx="1">
                  <c:v>0.545772336168</c:v>
                </c:pt>
                <c:pt idx="2">
                  <c:v>0.621892145394</c:v>
                </c:pt>
                <c:pt idx="3">
                  <c:v>0.638648588279</c:v>
                </c:pt>
                <c:pt idx="4">
                  <c:v>0.511166197593</c:v>
                </c:pt>
                <c:pt idx="5">
                  <c:v>0.5432283627</c:v>
                </c:pt>
              </c:numCache>
            </c:numRef>
          </c:val>
          <c:smooth val="0"/>
        </c:ser>
        <c:ser>
          <c:idx val="11"/>
          <c:order val="11"/>
          <c:tx>
            <c:v>doc_01065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Data'!$W$2:$W$7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Data'!$X$2:$X$7</c:f>
              <c:numCache>
                <c:formatCode>0.0</c:formatCode>
                <c:ptCount val="6"/>
                <c:pt idx="0">
                  <c:v>0.562596053114</c:v>
                </c:pt>
                <c:pt idx="1">
                  <c:v>0.60434583868</c:v>
                </c:pt>
                <c:pt idx="2">
                  <c:v>0.573350875561</c:v>
                </c:pt>
                <c:pt idx="3">
                  <c:v>0.516305034727</c:v>
                </c:pt>
                <c:pt idx="4">
                  <c:v>0.536507176618</c:v>
                </c:pt>
                <c:pt idx="5">
                  <c:v>0.559754662177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636761"/>
                    </a:solidFill>
                    <a:latin typeface="Calibri"/>
                    <a:ea typeface="Calibri"/>
                    <a:cs typeface="Calibri"/>
                  </a:rPr>
                  <a:t>Corruption level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636761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3C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.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3C9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8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8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Accuracy</c:v>
          </c:tx>
          <c:spPr>
            <a:solidFill xmlns:a="http://schemas.openxmlformats.org/drawingml/2006/main">
              <a:srgbClr val="53695F"/>
            </a:solidFill>
          </c:spPr>
          <c:cat>
            <c:strRef>
              <c:f>'Chart Data'!$A$2:$A$4</c:f>
              <c:strCache>
                <c:ptCount val="3"/>
                <c:pt idx="0">
                  <c:v>40–60%</c:v>
                </c:pt>
                <c:pt idx="1">
                  <c:v>60–80%</c:v>
                </c:pt>
                <c:pt idx="2">
                  <c:v>80–100%</c:v>
                </c:pt>
              </c:strCache>
            </c:strRef>
          </c:cat>
          <c:val>
            <c:numRef>
              <c:f>'Chart Data'!$B$2:$B$4</c:f>
              <c:numCache>
                <c:formatCode>0.0%</c:formatCode>
                <c:ptCount val="3"/>
                <c:pt idx="0">
                  <c:v>0.634615384615</c:v>
                </c:pt>
                <c:pt idx="1">
                  <c:v>0.90134529148</c:v>
                </c:pt>
                <c:pt idx="2">
                  <c:v>0.933333333333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025" b="1">
                  <a:solidFill>
                    <a:srgbClr val="292B28"/>
                  </a:solidFill>
                  <a:latin typeface="Calibri"/>
                  <a:ea typeface="Calibri"/>
                  <a:cs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636761"/>
                    </a:solidFill>
                    <a:latin typeface="Calibri"/>
                    <a:ea typeface="Calibri"/>
                    <a:cs typeface="Calibri"/>
                  </a:rPr>
                  <a:t>Confidence range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636761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3C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3C9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8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8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Perfect calibration</c:v>
          </c:tx>
          <c:spPr>
            <a:ln xmlns:a="http://schemas.openxmlformats.org/drawingml/2006/main" w="14288">
              <a:solidFill>
                <a:srgbClr val="A9ADA7"/>
              </a:solidFill>
              <a:prstDash val="dash"/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'Chart Data'!$B$2:$B$3</c:f>
              <c:numCache>
                <c:formatCode>0.0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</c:ser>
        <c:ser>
          <c:idx val="1"/>
          <c:order val="1"/>
          <c:tx>
            <c:v>Observed accuracy</c:v>
          </c:tx>
          <c:spPr>
            <a:ln xmlns:a="http://schemas.openxmlformats.org/drawingml/2006/main" w="28575">
              <a:solidFill>
                <a:srgbClr val="53695F"/>
              </a:solidFill>
            </a:ln>
          </c:spPr>
          <c:marker>
            <c:symbol val="circle"/>
            <c:size val="8"/>
            <c:spPr>
              <a:solidFill xmlns:a="http://schemas.openxmlformats.org/drawingml/2006/main">
                <a:srgbClr val="53695F"/>
              </a:solidFill>
            </c:spPr>
          </c:marker>
          <c:xVal>
            <c:numRef>
              <c:f>'Chart Data'!$C$2:$C$6</c:f>
              <c:numCache>
                <c:formatCode>General</c:formatCode>
                <c:ptCount val="5"/>
                <c:pt idx="0">
                  <c:v>0.554576604908</c:v>
                </c:pt>
                <c:pt idx="1">
                  <c:v>0.648322988615</c:v>
                </c:pt>
                <c:pt idx="2">
                  <c:v>0.744525584625</c:v>
                </c:pt>
                <c:pt idx="3">
                  <c:v>0.850104991077</c:v>
                </c:pt>
                <c:pt idx="4">
                  <c:v>0.919791378033</c:v>
                </c:pt>
              </c:numCache>
            </c:numRef>
          </c:xVal>
          <c:yVal>
            <c:numRef>
              <c:f>'Chart Data'!$D$2:$D$6</c:f>
              <c:numCache>
                <c:formatCode>0.0</c:formatCode>
                <c:ptCount val="5"/>
                <c:pt idx="0">
                  <c:v>0.634615384615</c:v>
                </c:pt>
                <c:pt idx="1">
                  <c:v>0.866666666667</c:v>
                </c:pt>
                <c:pt idx="2">
                  <c:v>0.954545454545</c:v>
                </c:pt>
                <c:pt idx="3">
                  <c:v>0.96</c:v>
                </c:pt>
                <c:pt idx="4">
                  <c:v>0.8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3C9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636761"/>
                    </a:solidFill>
                    <a:latin typeface="Calibri"/>
                    <a:ea typeface="Calibri"/>
                    <a:cs typeface="Calibri"/>
                  </a:rPr>
                  <a:t>Observed 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636761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7D3C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1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636761"/>
                    </a:solidFill>
                    <a:latin typeface="Calibri"/>
                    <a:ea typeface="Calibri"/>
                    <a:cs typeface="Calibri"/>
                  </a:rPr>
                  <a:t>Mean predicted confidence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636761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7D3C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0.2"/>
      </c:valAx>
      <c:spPr>
        <a:solidFill xmlns:a="http://schemas.openxmlformats.org/drawingml/2006/main">
          <a:srgbClr val="F8F5EF"/>
        </a:solidFill>
        <a:ln xmlns:a="http://schemas.openxmlformats.org/drawingml/2006/main" w="0">
          <a:noFill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solidFill>
                <a:srgbClr val="636761"/>
              </a:solidFill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8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01">
            <a:extLst xmlns:a="http://schemas.openxmlformats.org/drawingml/2006/main">
              <a:ext uri="{FF2B5EF4-FFF2-40B4-BE49-F238E27FC236}">
                <a16:creationId xmlns:a16="http://schemas.microsoft.com/office/drawing/2014/main" id="{D9A364F6-67B1-43DA-BEFC-673347AF1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2" name="PRANAVX LABS">
            <a:extLst xmlns:a="http://schemas.openxmlformats.org/drawingml/2006/main">
              <a:ext uri="{FF2B5EF4-FFF2-40B4-BE49-F238E27FC236}">
                <a16:creationId xmlns:a16="http://schemas.microsoft.com/office/drawing/2014/main" id="{97BE44EF-D675-40C5-93C4-CFE22C32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PRANAVX LABS</a:t>
            </a:r>
          </a:p>
        </p:txBody>
      </p:sp>
      <p:sp>
        <p:nvSpPr>
          <p:cNvPr id="3" name="AI/ML Internship">
            <a:extLst xmlns:a="http://schemas.openxmlformats.org/drawingml/2006/main">
              <a:ext uri="{FF2B5EF4-FFF2-40B4-BE49-F238E27FC236}">
                <a16:creationId xmlns:a16="http://schemas.microsoft.com/office/drawing/2014/main" id="{AA2F46AB-6DFD-44D0-8EDA-DCF17E5F0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4292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AI/ML Internship</a:t>
            </a:r>
          </a:p>
        </p:txBody>
      </p:sp>
      <p:sp>
        <p:nvSpPr>
          <p:cNvPr id="4" name="AI Confidence">
            <a:extLst xmlns:a="http://schemas.openxmlformats.org/drawingml/2006/main">
              <a:ext uri="{FF2B5EF4-FFF2-40B4-BE49-F238E27FC236}">
                <a16:creationId xmlns:a16="http://schemas.microsoft.com/office/drawing/2014/main" id="{84141D15-93D9-4067-9C40-CC1D3DF6A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1082992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0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7500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AI Confidence</a:t>
            </a:r>
          </a:p>
        </p:txBody>
      </p:sp>
      <p:sp>
        <p:nvSpPr>
          <p:cNvPr id="5" name="Drift Detection">
            <a:extLst xmlns:a="http://schemas.openxmlformats.org/drawingml/2006/main">
              <a:ext uri="{FF2B5EF4-FFF2-40B4-BE49-F238E27FC236}">
                <a16:creationId xmlns:a16="http://schemas.microsoft.com/office/drawing/2014/main" id="{D43F7A28-C7C3-450C-9A87-F25C35B25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71775"/>
            <a:ext cx="10829925" cy="1304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10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810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Drift Detection</a:t>
            </a:r>
          </a:p>
        </p:txBody>
      </p:sp>
      <p:sp>
        <p:nvSpPr>
          <p:cNvPr id="6" name="Using machine learning">
            <a:extLst xmlns:a="http://schemas.openxmlformats.org/drawingml/2006/main">
              <a:ext uri="{FF2B5EF4-FFF2-40B4-BE49-F238E27FC236}">
                <a16:creationId xmlns:a16="http://schemas.microsoft.com/office/drawing/2014/main" id="{D778D7A0-C5D5-429E-86A2-C0AC51C9B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6381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4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Using machine learning</a:t>
            </a:r>
          </a:p>
        </p:txBody>
      </p:sp>
      <p:sp>
        <p:nvSpPr>
          <p:cNvPr id="7" name="Can changes in confidence help identify&#10;unreliable">
            <a:extLst xmlns:a="http://schemas.openxmlformats.org/drawingml/2006/main">
              <a:ext uri="{FF2B5EF4-FFF2-40B4-BE49-F238E27FC236}">
                <a16:creationId xmlns:a16="http://schemas.microsoft.com/office/drawing/2014/main" id="{E02018BD-D590-476D-B983-FD989B6E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05400"/>
            <a:ext cx="72199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1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Can changes in confidence help identify</a:t>
            </a:r>
          </a:p>
          <a:p xmlns:a="http://schemas.openxmlformats.org/drawingml/2006/main">
            <a:pPr algn="l">
              <a:defRPr sz="21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1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unreliable predictions?</a:t>
            </a:r>
          </a:p>
        </p:txBody>
      </p:sp>
      <p:sp>
        <p:nvSpPr>
          <p:cNvPr id="8" name="Research project">
            <a:extLst xmlns:a="http://schemas.openxmlformats.org/drawingml/2006/main">
              <a:ext uri="{FF2B5EF4-FFF2-40B4-BE49-F238E27FC236}">
                <a16:creationId xmlns:a16="http://schemas.microsoft.com/office/drawing/2014/main" id="{2D53987D-8786-4BF5-9832-F49898374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63867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Research project</a:t>
            </a:r>
          </a:p>
        </p:txBody>
      </p:sp>
      <p:sp>
        <p:nvSpPr>
          <p:cNvPr id="9" name="Prepared by Ahan">
            <a:extLst xmlns:a="http://schemas.openxmlformats.org/drawingml/2006/main">
              <a:ext uri="{FF2B5EF4-FFF2-40B4-BE49-F238E27FC236}">
                <a16:creationId xmlns:a16="http://schemas.microsoft.com/office/drawing/2014/main" id="{A243DBA8-807E-445A-B2C7-A347AE94B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511492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7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7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Prepared by Ahan</a:t>
            </a:r>
          </a:p>
        </p:txBody>
      </p:sp>
      <p:sp>
        <p:nvSpPr>
          <p:cNvPr id="10" name="github.com/ahansardar/ai-confidence-drift">
            <a:extLst xmlns:a="http://schemas.openxmlformats.org/drawingml/2006/main">
              <a:ext uri="{FF2B5EF4-FFF2-40B4-BE49-F238E27FC236}">
                <a16:creationId xmlns:a16="http://schemas.microsoft.com/office/drawing/2014/main" id="{C0A65E04-296F-41DF-AF83-F3EA5767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6296025"/>
            <a:ext cx="1004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d6f8a6d23204b16"/>
              </a:rPr>
              <a:t>github.com/ahansardar/ai-confidence-drift</a:t>
            </a:r>
          </a:p>
        </p:txBody>
      </p:sp>
    </p:spTree>
    <p:extLst>
      <p:ext uri="{BB962C8B-B14F-4D97-AF65-F5344CB8AC3E}">
        <p14:creationId xmlns:p14="http://schemas.microsoft.com/office/powerpoint/2010/main" val="7710367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he confidence problem">
            <a:extLst xmlns:a="http://schemas.openxmlformats.org/drawingml/2006/main">
              <a:ext uri="{FF2B5EF4-FFF2-40B4-BE49-F238E27FC236}">
                <a16:creationId xmlns:a16="http://schemas.microsoft.com/office/drawing/2014/main" id="{16EF2900-7F0E-4913-97A4-AD78EDE2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The confidence problem</a:t>
            </a:r>
          </a:p>
        </p:txBody>
      </p:sp>
      <p:sp>
        <p:nvSpPr>
          <p:cNvPr id="2" name="02">
            <a:extLst xmlns:a="http://schemas.openxmlformats.org/drawingml/2006/main">
              <a:ext uri="{FF2B5EF4-FFF2-40B4-BE49-F238E27FC236}">
                <a16:creationId xmlns:a16="http://schemas.microsoft.com/office/drawing/2014/main" id="{FCBEA7BD-DE79-4D76-98BD-E892BB93E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3" name="96.3%">
            <a:extLst xmlns:a="http://schemas.openxmlformats.org/drawingml/2006/main">
              <a:ext uri="{FF2B5EF4-FFF2-40B4-BE49-F238E27FC236}">
                <a16:creationId xmlns:a16="http://schemas.microsoft.com/office/drawing/2014/main" id="{4B3DC3A4-5CAA-49FB-8C31-AC7064E3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04975"/>
            <a:ext cx="5429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87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96.3%</a:t>
            </a:r>
          </a:p>
        </p:txBody>
      </p:sp>
      <p:sp>
        <p:nvSpPr>
          <p:cNvPr id="4" name="confident. Still wrong.">
            <a:extLst xmlns:a="http://schemas.openxmlformats.org/drawingml/2006/main">
              <a:ext uri="{FF2B5EF4-FFF2-40B4-BE49-F238E27FC236}">
                <a16:creationId xmlns:a16="http://schemas.microsoft.com/office/drawing/2014/main" id="{07CB1109-F377-4BCC-90C9-8094F158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05175"/>
            <a:ext cx="5191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0" i="1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2700" b="0" i="1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confident. Still wrong.</a:t>
            </a:r>
          </a:p>
        </p:txBody>
      </p:sp>
      <p:sp>
        <p:nvSpPr>
          <p:cNvPr id="5" name="One observed prediction&#10;Document doc_00750">
            <a:extLst xmlns:a="http://schemas.openxmlformats.org/drawingml/2006/main">
              <a:ext uri="{FF2B5EF4-FFF2-40B4-BE49-F238E27FC236}">
                <a16:creationId xmlns:a16="http://schemas.microsoft.com/office/drawing/2014/main" id="{A843C850-D544-4E1C-82FF-769AA988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48125"/>
            <a:ext cx="4667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One observed prediction</a:t>
            </a:r>
          </a:p>
          <a:p xmlns:a="http://schemas.openxmlformats.org/drawingml/2006/main">
            <a:pPr algn="l">
              <a:def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Document doc_00750</a:t>
            </a:r>
          </a:p>
        </p:txBody>
      </p:sp>
      <p:sp>
        <p:nvSpPr>
          <p:cNvPr id="6" name="Confident errors">
            <a:extLst xmlns:a="http://schemas.openxmlformats.org/drawingml/2006/main">
              <a:ext uri="{FF2B5EF4-FFF2-40B4-BE49-F238E27FC236}">
                <a16:creationId xmlns:a16="http://schemas.microsoft.com/office/drawing/2014/main" id="{96905C6D-DF15-47E7-8FD6-843EC506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5260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Confident errors</a:t>
            </a:r>
          </a:p>
        </p:txBody>
      </p:sp>
      <p:sp>
        <p:nvSpPr>
          <p:cNvPr id="7" name="A model can be highly confident about an incorrect">
            <a:extLst xmlns:a="http://schemas.openxmlformats.org/drawingml/2006/main">
              <a:ext uri="{FF2B5EF4-FFF2-40B4-BE49-F238E27FC236}">
                <a16:creationId xmlns:a16="http://schemas.microsoft.com/office/drawing/2014/main" id="{4C801739-58C2-4B68-9154-53F2AB6FC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00275"/>
            <a:ext cx="51054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 model can be highly confident about an incorrect prediction.</a:t>
            </a:r>
          </a:p>
        </p:txBody>
      </p:sp>
      <p:sp>
        <p:nvSpPr>
          <p:cNvPr id="8" name="Unstable confidence">
            <a:extLst xmlns:a="http://schemas.openxmlformats.org/drawingml/2006/main">
              <a:ext uri="{FF2B5EF4-FFF2-40B4-BE49-F238E27FC236}">
                <a16:creationId xmlns:a16="http://schemas.microsoft.com/office/drawing/2014/main" id="{04D4C340-B3B3-4C92-B388-5CC8F9F2B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90875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Unstable confidence</a:t>
            </a:r>
          </a:p>
        </p:txBody>
      </p:sp>
      <p:sp>
        <p:nvSpPr>
          <p:cNvPr id="9" name="Confidence can change across similar inputs withou">
            <a:extLst xmlns:a="http://schemas.openxmlformats.org/drawingml/2006/main">
              <a:ext uri="{FF2B5EF4-FFF2-40B4-BE49-F238E27FC236}">
                <a16:creationId xmlns:a16="http://schemas.microsoft.com/office/drawing/2014/main" id="{F4945A63-EC2C-4A93-80C3-47AB74EB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38550"/>
            <a:ext cx="51054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Confidence can change across similar inputs without tracking correctness.</a:t>
            </a:r>
          </a:p>
        </p:txBody>
      </p:sp>
      <p:sp>
        <p:nvSpPr>
          <p:cNvPr id="10" name="Increasing difficulty">
            <a:extLst xmlns:a="http://schemas.openxmlformats.org/drawingml/2006/main">
              <a:ext uri="{FF2B5EF4-FFF2-40B4-BE49-F238E27FC236}">
                <a16:creationId xmlns:a16="http://schemas.microsoft.com/office/drawing/2014/main" id="{4B323598-6AD6-4F15-BD3B-092E182D8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62915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Increasing difficulty</a:t>
            </a:r>
          </a:p>
        </p:txBody>
      </p:sp>
      <p:sp>
        <p:nvSpPr>
          <p:cNvPr id="11" name="Lower confidence may accompany harder inputs. The ">
            <a:extLst xmlns:a="http://schemas.openxmlformats.org/drawingml/2006/main">
              <a:ext uri="{FF2B5EF4-FFF2-40B4-BE49-F238E27FC236}">
                <a16:creationId xmlns:a16="http://schemas.microsoft.com/office/drawing/2014/main" id="{61DF0B0F-E520-4A2C-9BF9-51831624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76825"/>
            <a:ext cx="51054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Lower confidence may accompany harder inputs. The link to accuracy needs testing.</a:t>
            </a:r>
          </a:p>
        </p:txBody>
      </p:sp>
    </p:spTree>
    <p:extLst>
      <p:ext uri="{BB962C8B-B14F-4D97-AF65-F5344CB8AC3E}">
        <p14:creationId xmlns:p14="http://schemas.microsoft.com/office/powerpoint/2010/main" val="18861119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search question">
            <a:extLst xmlns:a="http://schemas.openxmlformats.org/drawingml/2006/main">
              <a:ext uri="{FF2B5EF4-FFF2-40B4-BE49-F238E27FC236}">
                <a16:creationId xmlns:a16="http://schemas.microsoft.com/office/drawing/2014/main" id="{58472348-87A7-442A-B72B-1E0D14E2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Research question</a:t>
            </a:r>
          </a:p>
        </p:txBody>
      </p:sp>
      <p:sp>
        <p:nvSpPr>
          <p:cNvPr id="2" name="03">
            <a:extLst xmlns:a="http://schemas.openxmlformats.org/drawingml/2006/main">
              <a:ext uri="{FF2B5EF4-FFF2-40B4-BE49-F238E27FC236}">
                <a16:creationId xmlns:a16="http://schemas.microsoft.com/office/drawing/2014/main" id="{2492CE26-B41E-4238-859F-BCEAEE435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3" name="Can changes in a model’s confidence">
            <a:extLst xmlns:a="http://schemas.openxmlformats.org/drawingml/2006/main">
              <a:ext uri="{FF2B5EF4-FFF2-40B4-BE49-F238E27FC236}">
                <a16:creationId xmlns:a16="http://schemas.microsoft.com/office/drawing/2014/main" id="{2DA0B79F-B4FC-4C17-AB4C-DC56A3A2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2402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5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Can changes in a model’s confidence</a:t>
            </a:r>
          </a:p>
        </p:txBody>
      </p:sp>
      <p:sp>
        <p:nvSpPr>
          <p:cNvPr id="4" name="help identify predictions that are">
            <a:extLst xmlns:a="http://schemas.openxmlformats.org/drawingml/2006/main">
              <a:ext uri="{FF2B5EF4-FFF2-40B4-BE49-F238E27FC236}">
                <a16:creationId xmlns:a16="http://schemas.microsoft.com/office/drawing/2014/main" id="{8330DA6A-702D-4730-9322-39060E81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6220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5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help identify predictions that are</a:t>
            </a:r>
          </a:p>
        </p:txBody>
      </p:sp>
      <p:sp>
        <p:nvSpPr>
          <p:cNvPr id="5" name="likely to be unreliable?">
            <a:extLst xmlns:a="http://schemas.openxmlformats.org/drawingml/2006/main">
              <a:ext uri="{FF2B5EF4-FFF2-40B4-BE49-F238E27FC236}">
                <a16:creationId xmlns:a16="http://schemas.microsoft.com/office/drawing/2014/main" id="{A083C766-66A7-42CC-826A-DDDF5B5A0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0037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90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likely to be unreliable?</a:t>
            </a:r>
          </a:p>
        </p:txBody>
      </p:sp>
      <p:sp>
        <p:nvSpPr>
          <p:cNvPr id="6" name="The hypothesis">
            <a:extLst xmlns:a="http://schemas.openxmlformats.org/drawingml/2006/main">
              <a:ext uri="{FF2B5EF4-FFF2-40B4-BE49-F238E27FC236}">
                <a16:creationId xmlns:a16="http://schemas.microsoft.com/office/drawing/2014/main" id="{65785229-738F-498D-ACD9-0AFD26ED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005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The hypothesis</a:t>
            </a:r>
          </a:p>
        </p:txBody>
      </p:sp>
      <p:sp>
        <p:nvSpPr>
          <p:cNvPr id="7" name="Confidence history may help predict errors after a">
            <a:extLst xmlns:a="http://schemas.openxmlformats.org/drawingml/2006/main">
              <a:ext uri="{FF2B5EF4-FFF2-40B4-BE49-F238E27FC236}">
                <a16:creationId xmlns:a16="http://schemas.microsoft.com/office/drawing/2014/main" id="{78126482-5C37-4898-A5D2-F3BCBF5A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210050"/>
            <a:ext cx="71913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Confidence history may help predict errors after accounting for the current confidence value and corruption level.</a:t>
            </a:r>
          </a:p>
        </p:txBody>
      </p:sp>
      <p:sp>
        <p:nvSpPr>
          <p:cNvPr id="8" name="The A/B/C comparison isolates each additional sour">
            <a:extLst xmlns:a="http://schemas.openxmlformats.org/drawingml/2006/main">
              <a:ext uri="{FF2B5EF4-FFF2-40B4-BE49-F238E27FC236}">
                <a16:creationId xmlns:a16="http://schemas.microsoft.com/office/drawing/2014/main" id="{07292AEF-395B-4B60-AE39-2215E019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638800"/>
            <a:ext cx="7191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A/B/C comparison isolates each additional source of information.</a:t>
            </a:r>
          </a:p>
        </p:txBody>
      </p:sp>
    </p:spTree>
    <p:extLst>
      <p:ext uri="{BB962C8B-B14F-4D97-AF65-F5344CB8AC3E}">
        <p14:creationId xmlns:p14="http://schemas.microsoft.com/office/powerpoint/2010/main" val="11910625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ask and dataset">
            <a:extLst xmlns:a="http://schemas.openxmlformats.org/drawingml/2006/main">
              <a:ext uri="{FF2B5EF4-FFF2-40B4-BE49-F238E27FC236}">
                <a16:creationId xmlns:a16="http://schemas.microsoft.com/office/drawing/2014/main" id="{21D03703-E13D-431C-95E7-EFAA3F8F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Task and dataset</a:t>
            </a:r>
          </a:p>
        </p:txBody>
      </p:sp>
      <p:sp>
        <p:nvSpPr>
          <p:cNvPr id="2" name="04">
            <a:extLst xmlns:a="http://schemas.openxmlformats.org/drawingml/2006/main">
              <a:ext uri="{FF2B5EF4-FFF2-40B4-BE49-F238E27FC236}">
                <a16:creationId xmlns:a16="http://schemas.microsoft.com/office/drawing/2014/main" id="{F9273FE0-B2BD-4401-8D20-B3FD9C4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3" name="1,754">
            <a:extLst xmlns:a="http://schemas.openxmlformats.org/drawingml/2006/main">
              <a:ext uri="{FF2B5EF4-FFF2-40B4-BE49-F238E27FC236}">
                <a16:creationId xmlns:a16="http://schemas.microsoft.com/office/drawing/2014/main" id="{293C3903-A7C2-476F-84D5-DA98B3BB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571625"/>
            <a:ext cx="5000625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7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1,754</a:t>
            </a:r>
          </a:p>
        </p:txBody>
      </p:sp>
      <p:sp>
        <p:nvSpPr>
          <p:cNvPr id="4" name="documents from 20 Newsgroups">
            <a:extLst xmlns:a="http://schemas.openxmlformats.org/drawingml/2006/main">
              <a:ext uri="{FF2B5EF4-FFF2-40B4-BE49-F238E27FC236}">
                <a16:creationId xmlns:a16="http://schemas.microsoft.com/office/drawing/2014/main" id="{F952F751-265E-4F97-A72D-7FA47E74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4905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documents from 20 Newsgroups</a:t>
            </a:r>
          </a:p>
        </p:txBody>
      </p:sp>
      <p:sp>
        <p:nvSpPr>
          <p:cNvPr id="5" name="1,315 training / 439 test">
            <a:extLst xmlns:a="http://schemas.openxmlformats.org/drawingml/2006/main">
              <a:ext uri="{FF2B5EF4-FFF2-40B4-BE49-F238E27FC236}">
                <a16:creationId xmlns:a16="http://schemas.microsoft.com/office/drawing/2014/main" id="{4A0199E0-95AC-4BBF-AA00-13A1BC44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76700"/>
            <a:ext cx="5095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1,315 training / 439 test</a:t>
            </a:r>
          </a:p>
        </p:txBody>
      </p:sp>
      <p:sp>
        <p:nvSpPr>
          <p:cNvPr id="6" name="Stratified split&#10;44.4% / 55.6% class balance">
            <a:extLst xmlns:a="http://schemas.openxmlformats.org/drawingml/2006/main">
              <a:ext uri="{FF2B5EF4-FFF2-40B4-BE49-F238E27FC236}">
                <a16:creationId xmlns:a16="http://schemas.microsoft.com/office/drawing/2014/main" id="{16921DC7-041F-4A89-8203-F7F940CA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48200"/>
            <a:ext cx="4762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Stratified split</a:t>
            </a:r>
          </a:p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44.4% / 55.6% class balance</a:t>
            </a:r>
          </a:p>
        </p:txBody>
      </p:sp>
      <p:sp>
        <p:nvSpPr>
          <p:cNvPr id="7" name="Binary text classification">
            <a:extLst xmlns:a="http://schemas.openxmlformats.org/drawingml/2006/main">
              <a:ext uri="{FF2B5EF4-FFF2-40B4-BE49-F238E27FC236}">
                <a16:creationId xmlns:a16="http://schemas.microsoft.com/office/drawing/2014/main" id="{DB558CAD-41BB-4642-AB86-EC473F572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04975"/>
            <a:ext cx="5095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Binary text classification</a:t>
            </a:r>
          </a:p>
        </p:txBody>
      </p:sp>
      <p:sp>
        <p:nvSpPr>
          <p:cNvPr id="8" name="alt.atheism&#10;soc.religion.christian">
            <a:extLst xmlns:a="http://schemas.openxmlformats.org/drawingml/2006/main">
              <a:ext uri="{FF2B5EF4-FFF2-40B4-BE49-F238E27FC236}">
                <a16:creationId xmlns:a16="http://schemas.microsoft.com/office/drawing/2014/main" id="{EBF882FD-3B21-47F5-8237-C96CB916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333625"/>
            <a:ext cx="5095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53695F"/>
                </a:solidFill>
                <a:latin typeface="Calibri"/>
                <a:ea typeface="Calibri"/>
                <a:cs typeface="Calibri"/>
              </a:defRPr>
            </a:pPr>
            <a:r>
              <a:rPr sz="2250" b="0" i="0">
                <a:solidFill>
                  <a:srgbClr val="53695F"/>
                </a:solidFill>
                <a:latin typeface="Calibri"/>
                <a:ea typeface="Calibri"/>
                <a:cs typeface="Calibri"/>
              </a:rPr>
              <a:t>alt.atheism</a:t>
            </a:r>
          </a:p>
          <a:p xmlns:a="http://schemas.openxmlformats.org/drawingml/2006/main">
            <a:pPr algn="l">
              <a:defRPr sz="2250" b="0" i="0">
                <a:solidFill>
                  <a:srgbClr val="53695F"/>
                </a:solidFill>
                <a:latin typeface="Calibri"/>
                <a:ea typeface="Calibri"/>
                <a:cs typeface="Calibri"/>
              </a:defRPr>
            </a:pPr>
            <a:r>
              <a:rPr sz="2250" b="0" i="0">
                <a:solidFill>
                  <a:srgbClr val="53695F"/>
                </a:solidFill>
                <a:latin typeface="Calibri"/>
                <a:ea typeface="Calibri"/>
                <a:cs typeface="Calibri"/>
              </a:rPr>
              <a:t>soc.religion.christian</a:t>
            </a:r>
          </a:p>
        </p:txBody>
      </p:sp>
      <p:sp>
        <p:nvSpPr>
          <p:cNvPr id="9" name="Overlapping vocabulary makes the task less trivial">
            <a:extLst xmlns:a="http://schemas.openxmlformats.org/drawingml/2006/main">
              <a:ext uri="{FF2B5EF4-FFF2-40B4-BE49-F238E27FC236}">
                <a16:creationId xmlns:a16="http://schemas.microsoft.com/office/drawing/2014/main" id="{4E97AF2E-C98A-41DB-8796-FFC6B1BB7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476625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Overlapping vocabulary makes the task less trivial.</a:t>
            </a:r>
          </a:p>
        </p:txBody>
      </p:sp>
      <p:sp>
        <p:nvSpPr>
          <p:cNvPr id="10" name="Headers, footers and quoted text removed to reduce">
            <a:extLst xmlns:a="http://schemas.openxmlformats.org/drawingml/2006/main">
              <a:ext uri="{FF2B5EF4-FFF2-40B4-BE49-F238E27FC236}">
                <a16:creationId xmlns:a16="http://schemas.microsoft.com/office/drawing/2014/main" id="{F9B65DF1-82AA-483F-AA9F-8085E7F62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38650"/>
            <a:ext cx="495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Headers, footers and quoted text removed to reduce metadata leakage.</a:t>
            </a:r>
          </a:p>
        </p:txBody>
      </p:sp>
      <p:sp>
        <p:nvSpPr>
          <p:cNvPr id="11" name="Ground truth: the newsgroup that published each po">
            <a:extLst xmlns:a="http://schemas.openxmlformats.org/drawingml/2006/main">
              <a:ext uri="{FF2B5EF4-FFF2-40B4-BE49-F238E27FC236}">
                <a16:creationId xmlns:a16="http://schemas.microsoft.com/office/drawing/2014/main" id="{3D642DD1-5F8D-48C4-BCB3-CE734A66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5438775"/>
            <a:ext cx="4953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Ground truth: the newsgroup that published each post.</a:t>
            </a:r>
          </a:p>
        </p:txBody>
      </p:sp>
      <p:sp>
        <p:nvSpPr>
          <p:cNvPr id="12" name="Source: scikit-learn’s official 20 Newsgroups mirr">
            <a:extLst xmlns:a="http://schemas.openxmlformats.org/drawingml/2006/main">
              <a:ext uri="{FF2B5EF4-FFF2-40B4-BE49-F238E27FC236}">
                <a16:creationId xmlns:a16="http://schemas.microsoft.com/office/drawing/2014/main" id="{91A9E6B5-CF52-43A2-B965-8B971395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2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Source: scikit-learn’s official 20 Newsgroups mirror (fetch_20newsgroups)</a:t>
            </a:r>
          </a:p>
        </p:txBody>
      </p:sp>
    </p:spTree>
    <p:extLst>
      <p:ext uri="{BB962C8B-B14F-4D97-AF65-F5344CB8AC3E}">
        <p14:creationId xmlns:p14="http://schemas.microsoft.com/office/powerpoint/2010/main" val="18534225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he research pipeline">
            <a:extLst xmlns:a="http://schemas.openxmlformats.org/drawingml/2006/main">
              <a:ext uri="{FF2B5EF4-FFF2-40B4-BE49-F238E27FC236}">
                <a16:creationId xmlns:a16="http://schemas.microsoft.com/office/drawing/2014/main" id="{3970595B-8B48-4FFC-8335-4A9766F8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The research pipeline</a:t>
            </a:r>
          </a:p>
        </p:txBody>
      </p:sp>
      <p:sp>
        <p:nvSpPr>
          <p:cNvPr id="2" name="05">
            <a:extLst xmlns:a="http://schemas.openxmlformats.org/drawingml/2006/main">
              <a:ext uri="{FF2B5EF4-FFF2-40B4-BE49-F238E27FC236}">
                <a16:creationId xmlns:a16="http://schemas.microsoft.com/office/drawing/2014/main" id="{0994DDC9-3CBF-45D7-A0ED-26B908E3F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2C8E6E76-AA4C-4132-971C-D8C239A2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8115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4" name="Train the base classifier">
            <a:extLst xmlns:a="http://schemas.openxmlformats.org/drawingml/2006/main">
              <a:ext uri="{FF2B5EF4-FFF2-40B4-BE49-F238E27FC236}">
                <a16:creationId xmlns:a16="http://schemas.microsoft.com/office/drawing/2014/main" id="{39BC151E-B7A4-4A3E-B397-576F84898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16002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Train the base classifier</a:t>
            </a:r>
          </a:p>
        </p:txBody>
      </p:sp>
      <p:sp>
        <p:nvSpPr>
          <p:cNvPr id="5" name="TF-IDF + Logistic Regression for text classificati">
            <a:extLst xmlns:a="http://schemas.openxmlformats.org/drawingml/2006/main">
              <a:ext uri="{FF2B5EF4-FFF2-40B4-BE49-F238E27FC236}">
                <a16:creationId xmlns:a16="http://schemas.microsoft.com/office/drawing/2014/main" id="{586BBE23-7739-43CA-978D-66BA25CA9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00025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TF-IDF + Logistic Regression for text classification.</a:t>
            </a:r>
          </a:p>
        </p:txBody>
      </p:sp>
      <p:sp>
        <p:nvSpPr>
          <p:cNvPr id="6" name="02">
            <a:extLst xmlns:a="http://schemas.openxmlformats.org/drawingml/2006/main">
              <a:ext uri="{FF2B5EF4-FFF2-40B4-BE49-F238E27FC236}">
                <a16:creationId xmlns:a16="http://schemas.microsoft.com/office/drawing/2014/main" id="{EA27FC8B-D369-45AC-AFE6-BAF8F4E2B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1460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7" name="Generate confidence sequences">
            <a:extLst xmlns:a="http://schemas.openxmlformats.org/drawingml/2006/main">
              <a:ext uri="{FF2B5EF4-FFF2-40B4-BE49-F238E27FC236}">
                <a16:creationId xmlns:a16="http://schemas.microsoft.com/office/drawing/2014/main" id="{9D91D879-8C29-4438-8427-AF06389C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5336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Generate confidence sequences</a:t>
            </a:r>
          </a:p>
        </p:txBody>
      </p:sp>
      <p:sp>
        <p:nvSpPr>
          <p:cNvPr id="8" name="Re-classify each test document at six corruption l">
            <a:extLst xmlns:a="http://schemas.openxmlformats.org/drawingml/2006/main">
              <a:ext uri="{FF2B5EF4-FFF2-40B4-BE49-F238E27FC236}">
                <a16:creationId xmlns:a16="http://schemas.microsoft.com/office/drawing/2014/main" id="{EBE5FB04-B099-41DF-A324-53E519DB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93370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Re-classify each test document at six corruption levels.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552224B7-B064-48A8-B2C4-1B5E82E1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4805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0" name="Engineer drift features">
            <a:extLst xmlns:a="http://schemas.openxmlformats.org/drawingml/2006/main">
              <a:ext uri="{FF2B5EF4-FFF2-40B4-BE49-F238E27FC236}">
                <a16:creationId xmlns:a16="http://schemas.microsoft.com/office/drawing/2014/main" id="{7F41644A-8E22-43A3-92D3-B09CC586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34671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Engineer drift features</a:t>
            </a:r>
          </a:p>
        </p:txBody>
      </p:sp>
      <p:sp>
        <p:nvSpPr>
          <p:cNvPr id="11" name="Moving statistics, deltas, consecutive drops and m">
            <a:extLst xmlns:a="http://schemas.openxmlformats.org/drawingml/2006/main">
              <a:ext uri="{FF2B5EF4-FFF2-40B4-BE49-F238E27FC236}">
                <a16:creationId xmlns:a16="http://schemas.microsoft.com/office/drawing/2014/main" id="{99F4AEC2-F9CD-4301-A1FB-471047F2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386715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Moving statistics, deltas, consecutive drops and margin.</a:t>
            </a:r>
          </a:p>
        </p:txBody>
      </p:sp>
      <p:sp>
        <p:nvSpPr>
          <p:cNvPr id="12" name="04">
            <a:extLst xmlns:a="http://schemas.openxmlformats.org/drawingml/2006/main">
              <a:ext uri="{FF2B5EF4-FFF2-40B4-BE49-F238E27FC236}">
                <a16:creationId xmlns:a16="http://schemas.microsoft.com/office/drawing/2014/main" id="{2961C820-C2C9-49CD-ACDF-9A2BF4A0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3" name="Train a second model">
            <a:extLst xmlns:a="http://schemas.openxmlformats.org/drawingml/2006/main">
              <a:ext uri="{FF2B5EF4-FFF2-40B4-BE49-F238E27FC236}">
                <a16:creationId xmlns:a16="http://schemas.microsoft.com/office/drawing/2014/main" id="{20DDF2FB-0041-4694-B286-842145EA3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4005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Train a second model</a:t>
            </a:r>
          </a:p>
        </p:txBody>
      </p:sp>
      <p:sp>
        <p:nvSpPr>
          <p:cNvPr id="14" name="Predict whether a classification is unreliable.">
            <a:extLst xmlns:a="http://schemas.openxmlformats.org/drawingml/2006/main">
              <a:ext uri="{FF2B5EF4-FFF2-40B4-BE49-F238E27FC236}">
                <a16:creationId xmlns:a16="http://schemas.microsoft.com/office/drawing/2014/main" id="{43BC1943-42CF-4000-944F-26B46CB39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80060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Predict whether a classification is unreliable.</a:t>
            </a:r>
          </a:p>
        </p:txBody>
      </p:sp>
      <p:sp>
        <p:nvSpPr>
          <p:cNvPr id="15" name="05">
            <a:extLst xmlns:a="http://schemas.openxmlformats.org/drawingml/2006/main">
              <a:ext uri="{FF2B5EF4-FFF2-40B4-BE49-F238E27FC236}">
                <a16:creationId xmlns:a16="http://schemas.microsoft.com/office/drawing/2014/main" id="{88861118-81EE-4DB7-AF15-5A09F256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16" name="Evaluate the detector">
            <a:extLst xmlns:a="http://schemas.openxmlformats.org/drawingml/2006/main">
              <a:ext uri="{FF2B5EF4-FFF2-40B4-BE49-F238E27FC236}">
                <a16:creationId xmlns:a16="http://schemas.microsoft.com/office/drawing/2014/main" id="{8BB219B4-3CAD-4115-A69D-756BB5133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334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Evaluate the detector</a:t>
            </a:r>
          </a:p>
        </p:txBody>
      </p:sp>
      <p:sp>
        <p:nvSpPr>
          <p:cNvPr id="17" name="Calibration, high-confidence errors and an A/B/C c">
            <a:extLst xmlns:a="http://schemas.openxmlformats.org/drawingml/2006/main">
              <a:ext uri="{FF2B5EF4-FFF2-40B4-BE49-F238E27FC236}">
                <a16:creationId xmlns:a16="http://schemas.microsoft.com/office/drawing/2014/main" id="{46C07F64-E499-44C0-B8F1-34911C29E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73405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Calibration, high-confidence errors and an A/B/C comparison.</a:t>
            </a:r>
          </a:p>
        </p:txBody>
      </p:sp>
    </p:spTree>
    <p:extLst>
      <p:ext uri="{BB962C8B-B14F-4D97-AF65-F5344CB8AC3E}">
        <p14:creationId xmlns:p14="http://schemas.microsoft.com/office/powerpoint/2010/main" val="7245217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ow confidence changes">
            <a:extLst xmlns:a="http://schemas.openxmlformats.org/drawingml/2006/main">
              <a:ext uri="{FF2B5EF4-FFF2-40B4-BE49-F238E27FC236}">
                <a16:creationId xmlns:a16="http://schemas.microsoft.com/office/drawing/2014/main" id="{213D2C44-1100-4771-BEDC-3C557F53B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How confidence changes</a:t>
            </a:r>
          </a:p>
        </p:txBody>
      </p:sp>
      <p:sp>
        <p:nvSpPr>
          <p:cNvPr id="2" name="06">
            <a:extLst xmlns:a="http://schemas.openxmlformats.org/drawingml/2006/main">
              <a:ext uri="{FF2B5EF4-FFF2-40B4-BE49-F238E27FC236}">
                <a16:creationId xmlns:a16="http://schemas.microsoft.com/office/drawing/2014/main" id="{FA5547FF-FFC1-4299-858E-B3B2067D1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3" name="Six levels, from 0% to 50% of words removed and sh">
            <a:extLst xmlns:a="http://schemas.openxmlformats.org/drawingml/2006/main">
              <a:ext uri="{FF2B5EF4-FFF2-40B4-BE49-F238E27FC236}">
                <a16:creationId xmlns:a16="http://schemas.microsoft.com/office/drawing/2014/main" id="{0534498B-4CB9-44DD-9E17-990450EF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Six levels, from 0% to 50% of words removed and shuffled. Each confidence value is a real model output.</a:t>
            </a:r>
          </a:p>
        </p:txBody>
      </p:sp>
      <p:sp>
        <p:nvSpPr>
          <p:cNvPr id="4" name="Two contrasting examples">
            <a:extLst xmlns:a="http://schemas.openxmlformats.org/drawingml/2006/main">
              <a:ext uri="{FF2B5EF4-FFF2-40B4-BE49-F238E27FC236}">
                <a16:creationId xmlns:a16="http://schemas.microsoft.com/office/drawing/2014/main" id="{3D594434-4F1B-4524-B962-E05727188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4762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Two contrasting examples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66750" y="3048000"/>
          <a:ext xmlns:a="http://schemas.openxmlformats.org/drawingml/2006/main" cx="4762500" cy="25146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800100"/>
                <a:gridCol w="1981200"/>
                <a:gridCol w="1981200"/>
              </a:tblGrid>
              <a:tr h="40005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Step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doc_00750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doc_01280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0.963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0.889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0.952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0.771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0.951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0.778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0.951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0.682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0.948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0.842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0.949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0.651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</a:tbl>
          </a:graphicData>
        </a:graphic>
      </p:graphicFrame>
      <p:sp>
        <p:nvSpPr>
          <p:cNvPr id="6" name="Stayed wrong">
            <a:extLst xmlns:a="http://schemas.openxmlformats.org/drawingml/2006/main">
              <a:ext uri="{FF2B5EF4-FFF2-40B4-BE49-F238E27FC236}">
                <a16:creationId xmlns:a16="http://schemas.microsoft.com/office/drawing/2014/main" id="{29D5E26A-3BA4-490B-AB92-E2AB48F76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2705100"/>
            <a:ext cx="1838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8B4C3B"/>
                </a:solidFill>
                <a:latin typeface="Calibri"/>
                <a:ea typeface="Calibri"/>
                <a:cs typeface="Calibri"/>
              </a:defRPr>
            </a:pPr>
            <a:r>
              <a:rPr sz="1500" b="1" i="0">
                <a:solidFill>
                  <a:srgbClr val="8B4C3B"/>
                </a:solidFill>
                <a:latin typeface="Calibri"/>
                <a:ea typeface="Calibri"/>
                <a:cs typeface="Calibri"/>
              </a:rPr>
              <a:t>Stayed wrong</a:t>
            </a:r>
          </a:p>
        </p:txBody>
      </p:sp>
      <p:sp>
        <p:nvSpPr>
          <p:cNvPr id="7" name="Stayed correct">
            <a:extLst xmlns:a="http://schemas.openxmlformats.org/drawingml/2006/main">
              <a:ext uri="{FF2B5EF4-FFF2-40B4-BE49-F238E27FC236}">
                <a16:creationId xmlns:a16="http://schemas.microsoft.com/office/drawing/2014/main" id="{DE1EFE2A-C78A-44D0-88F2-E006403A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705100"/>
            <a:ext cx="18954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677B68"/>
                </a:solidFill>
                <a:latin typeface="Calibri"/>
                <a:ea typeface="Calibri"/>
                <a:cs typeface="Calibri"/>
              </a:defRPr>
            </a:pPr>
            <a:r>
              <a:rPr sz="1500" b="1" i="0">
                <a:solidFill>
                  <a:srgbClr val="677B68"/>
                </a:solidFill>
                <a:latin typeface="Calibri"/>
                <a:ea typeface="Calibri"/>
                <a:cs typeface="Calibri"/>
              </a:rPr>
              <a:t>Stayed correct</a:t>
            </a:r>
          </a:p>
        </p:txBody>
      </p:sp>
      <p:sp>
        <p:nvSpPr>
          <p:cNvPr id="8" name="Confidence">
            <a:extLst xmlns:a="http://schemas.openxmlformats.org/drawingml/2006/main">
              <a:ext uri="{FF2B5EF4-FFF2-40B4-BE49-F238E27FC236}">
                <a16:creationId xmlns:a16="http://schemas.microsoft.com/office/drawing/2014/main" id="{6BC2F43A-B588-4C70-821E-9A9B1594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114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Confidence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5905500" y="2419350"/>
          <a:ext xmlns:a="http://schemas.openxmlformats.org/drawingml/2006/main" cx="5667375" cy="3314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c69fd283f3248d0"/>
          </a:graphicData>
        </a:graphic>
      </p:graphicFrame>
      <p:sp>
        <p:nvSpPr>
          <p:cNvPr id="10" name="12 test documents. Green: correct at the final ste">
            <a:extLst xmlns:a="http://schemas.openxmlformats.org/drawingml/2006/main">
              <a:ext uri="{FF2B5EF4-FFF2-40B4-BE49-F238E27FC236}">
                <a16:creationId xmlns:a16="http://schemas.microsoft.com/office/drawing/2014/main" id="{33959C52-CF5A-485E-91E2-0559FBB7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19775"/>
            <a:ext cx="5286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12 test documents. Green: correct at the final step. Rust: incorrect.</a:t>
            </a:r>
          </a:p>
        </p:txBody>
      </p:sp>
      <p:sp>
        <p:nvSpPr>
          <p:cNvPr id="11" name="Sequences simulate repeated predictions through te">
            <a:extLst xmlns:a="http://schemas.openxmlformats.org/drawingml/2006/main">
              <a:ext uri="{FF2B5EF4-FFF2-40B4-BE49-F238E27FC236}">
                <a16:creationId xmlns:a16="http://schemas.microsoft.com/office/drawing/2014/main" id="{57DCE6D2-4E69-4185-B422-388F92771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191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Sequences simulate repeated predictions through text corruption.</a:t>
            </a:r>
          </a:p>
        </p:txBody>
      </p:sp>
    </p:spTree>
    <p:extLst>
      <p:ext uri="{BB962C8B-B14F-4D97-AF65-F5344CB8AC3E}">
        <p14:creationId xmlns:p14="http://schemas.microsoft.com/office/powerpoint/2010/main" val="15885397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natomy of a confidence sequence">
            <a:extLst xmlns:a="http://schemas.openxmlformats.org/drawingml/2006/main">
              <a:ext uri="{FF2B5EF4-FFF2-40B4-BE49-F238E27FC236}">
                <a16:creationId xmlns:a16="http://schemas.microsoft.com/office/drawing/2014/main" id="{AAC6C9A2-32C8-4907-AF70-2830B04B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Anatomy of a confidence sequence</a:t>
            </a:r>
          </a:p>
        </p:txBody>
      </p:sp>
      <p:sp>
        <p:nvSpPr>
          <p:cNvPr id="2" name="07">
            <a:extLst xmlns:a="http://schemas.openxmlformats.org/drawingml/2006/main">
              <a:ext uri="{FF2B5EF4-FFF2-40B4-BE49-F238E27FC236}">
                <a16:creationId xmlns:a16="http://schemas.microsoft.com/office/drawing/2014/main" id="{D2D3D905-240F-4C80-920B-CE139155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3" name="13 features, compared with simpler baselines in th">
            <a:extLst xmlns:a="http://schemas.openxmlformats.org/drawingml/2006/main">
              <a:ext uri="{FF2B5EF4-FFF2-40B4-BE49-F238E27FC236}">
                <a16:creationId xmlns:a16="http://schemas.microsoft.com/office/drawing/2014/main" id="{AAC05166-F06E-432F-AC9E-EB57D9BAD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668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13 features, compared with simpler baselines in the experiments.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66750" y="2190750"/>
          <a:ext xmlns:a="http://schemas.openxmlformats.org/drawingml/2006/main" cx="10810875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714625"/>
                <a:gridCol w="8096250"/>
              </a:tblGrid>
              <a:tr h="47625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Group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Features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</a:tr>
              <a:tr h="8096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Context (2)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step, corruption_level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8096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Current (2)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confidence, prediction_margin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8096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History: change (4)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prev_confidence, confidence_diff,</a:t>
                      </a:r>
                    </a:p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confidence_pct_change, rate_of_change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8096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History: pattern (5)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moving_avg_confidence, moving_std_confidence,</a:t>
                      </a:r>
                    </a:p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rolling_std_confidence, confidence_range_so_far, consecutive_decreases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6578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nfidence carries signal">
            <a:extLst xmlns:a="http://schemas.openxmlformats.org/drawingml/2006/main">
              <a:ext uri="{FF2B5EF4-FFF2-40B4-BE49-F238E27FC236}">
                <a16:creationId xmlns:a16="http://schemas.microsoft.com/office/drawing/2014/main" id="{A95A3679-0278-4B0F-A4C5-24CFF40E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Confidence carries signal</a:t>
            </a:r>
          </a:p>
        </p:txBody>
      </p:sp>
      <p:sp>
        <p:nvSpPr>
          <p:cNvPr id="2" name="08">
            <a:extLst xmlns:a="http://schemas.openxmlformats.org/drawingml/2006/main">
              <a:ext uri="{FF2B5EF4-FFF2-40B4-BE49-F238E27FC236}">
                <a16:creationId xmlns:a16="http://schemas.microsoft.com/office/drawing/2014/main" id="{D66B9833-8274-4A48-B62A-37972DD8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08</a:t>
            </a:r>
          </a:p>
        </p:txBody>
      </p:sp>
      <p:sp>
        <p:nvSpPr>
          <p:cNvPr id="3" name="Accuracy across 439 uncorrupted test predictions">
            <a:extLst xmlns:a="http://schemas.openxmlformats.org/drawingml/2006/main">
              <a:ext uri="{FF2B5EF4-FFF2-40B4-BE49-F238E27FC236}">
                <a16:creationId xmlns:a16="http://schemas.microsoft.com/office/drawing/2014/main" id="{EAE97B35-993B-49BA-AC22-8A2BF0BF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Accuracy across 439 uncorrupted test predictions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628650" y="2171700"/>
          <a:ext xmlns:a="http://schemas.openxmlformats.org/drawingml/2006/main" cx="6429375" cy="3638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f040855daaa47a6"/>
          </a:graphicData>
        </a:graphic>
      </p:graphicFrame>
      <p:graphicFrame>
        <p:nvGraphicFramePr>
          <p:cNvPr id="11" name=""/>
          <p:cNvGraphicFramePr/>
          <p:nvPr/>
        </p:nvGraphicFramePr>
        <p:xfrm>
          <a:off xmlns:a="http://schemas.openxmlformats.org/drawingml/2006/main" x="7639050" y="2238375"/>
          <a:ext xmlns:a="http://schemas.openxmlformats.org/drawingml/2006/main" cx="3867150" cy="22860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533525"/>
                <a:gridCol w="733425"/>
                <a:gridCol w="1600200"/>
              </a:tblGrid>
              <a:tr h="57150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Confidence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Accuracy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</a:tr>
              <a:tr h="57150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40–60%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156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63.5%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57150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60–80%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223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90.1%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57150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80–100%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60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93.3%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</a:tbl>
          </a:graphicData>
        </a:graphic>
      </p:graphicFrame>
      <p:sp>
        <p:nvSpPr>
          <p:cNvPr id="6" name="Confidence carries signal, but calibration remains">
            <a:extLst xmlns:a="http://schemas.openxmlformats.org/drawingml/2006/main">
              <a:ext uri="{FF2B5EF4-FFF2-40B4-BE49-F238E27FC236}">
                <a16:creationId xmlns:a16="http://schemas.microsoft.com/office/drawing/2014/main" id="{66D4B36E-C3F7-47CE-95D1-E55AFB0E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4943475"/>
            <a:ext cx="37814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Confidence carries signal, but calibration remains imperfect.</a:t>
            </a:r>
          </a:p>
        </p:txBody>
      </p:sp>
    </p:spTree>
    <p:extLst>
      <p:ext uri="{BB962C8B-B14F-4D97-AF65-F5344CB8AC3E}">
        <p14:creationId xmlns:p14="http://schemas.microsoft.com/office/powerpoint/2010/main" val="12209521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he calibration gap">
            <a:extLst xmlns:a="http://schemas.openxmlformats.org/drawingml/2006/main">
              <a:ext uri="{FF2B5EF4-FFF2-40B4-BE49-F238E27FC236}">
                <a16:creationId xmlns:a16="http://schemas.microsoft.com/office/drawing/2014/main" id="{D19D27C3-18A8-4573-854B-222F8E53D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The calibration gap</a:t>
            </a:r>
          </a:p>
        </p:txBody>
      </p:sp>
      <p:sp>
        <p:nvSpPr>
          <p:cNvPr id="2" name="09">
            <a:extLst xmlns:a="http://schemas.openxmlformats.org/drawingml/2006/main">
              <a:ext uri="{FF2B5EF4-FFF2-40B4-BE49-F238E27FC236}">
                <a16:creationId xmlns:a16="http://schemas.microsoft.com/office/drawing/2014/main" id="{13AA1B26-1A63-4599-AC84-10BB2AB7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09</a:t>
            </a:r>
          </a:p>
        </p:txBody>
      </p:sp>
      <p:sp>
        <p:nvSpPr>
          <p:cNvPr id="3" name="Reliability diagram for uncorrupted test predictio">
            <a:extLst xmlns:a="http://schemas.openxmlformats.org/drawingml/2006/main">
              <a:ext uri="{FF2B5EF4-FFF2-40B4-BE49-F238E27FC236}">
                <a16:creationId xmlns:a16="http://schemas.microsoft.com/office/drawing/2014/main" id="{5773BBE6-EC46-4C0D-8E0E-05D43DBF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Reliability diagram for uncorrupted test predictions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19125" y="2095500"/>
          <a:ext xmlns:a="http://schemas.openxmlformats.org/drawingml/2006/main" cx="6000750" cy="3876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360cf08c5ed40e0"/>
          </a:graphicData>
        </a:graphic>
      </p:graphicFrame>
      <p:sp>
        <p:nvSpPr>
          <p:cNvPr id="5" name="0.153">
            <a:extLst xmlns:a="http://schemas.openxmlformats.org/drawingml/2006/main">
              <a:ext uri="{FF2B5EF4-FFF2-40B4-BE49-F238E27FC236}">
                <a16:creationId xmlns:a16="http://schemas.microsoft.com/office/drawing/2014/main" id="{8748499B-BA7A-40C9-805C-62CB6F85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105025"/>
            <a:ext cx="2209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0.153</a:t>
            </a:r>
          </a:p>
        </p:txBody>
      </p:sp>
      <p:sp>
        <p:nvSpPr>
          <p:cNvPr id="6" name="0.160">
            <a:extLst xmlns:a="http://schemas.openxmlformats.org/drawingml/2006/main">
              <a:ext uri="{FF2B5EF4-FFF2-40B4-BE49-F238E27FC236}">
                <a16:creationId xmlns:a16="http://schemas.microsoft.com/office/drawing/2014/main" id="{31B7C9D2-35B3-4F00-810E-E35168A2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105025"/>
            <a:ext cx="19240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0.160</a:t>
            </a:r>
          </a:p>
        </p:txBody>
      </p:sp>
      <p:sp>
        <p:nvSpPr>
          <p:cNvPr id="7" name="Calibration error">
            <a:extLst xmlns:a="http://schemas.openxmlformats.org/drawingml/2006/main">
              <a:ext uri="{FF2B5EF4-FFF2-40B4-BE49-F238E27FC236}">
                <a16:creationId xmlns:a16="http://schemas.microsoft.com/office/drawing/2014/main" id="{98950572-BA9E-492A-9EA6-75EC5F0DC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943225"/>
            <a:ext cx="23717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Calibration error</a:t>
            </a:r>
          </a:p>
        </p:txBody>
      </p:sp>
      <p:sp>
        <p:nvSpPr>
          <p:cNvPr id="8" name="Brier score">
            <a:extLst xmlns:a="http://schemas.openxmlformats.org/drawingml/2006/main">
              <a:ext uri="{FF2B5EF4-FFF2-40B4-BE49-F238E27FC236}">
                <a16:creationId xmlns:a16="http://schemas.microsoft.com/office/drawing/2014/main" id="{CED297A7-87B8-4A7E-BD75-B8054113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43225"/>
            <a:ext cx="1952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Brier score</a:t>
            </a:r>
          </a:p>
        </p:txBody>
      </p:sp>
      <p:sp>
        <p:nvSpPr>
          <p:cNvPr id="9" name="Under-confident at 0.6–0.9">
            <a:extLst xmlns:a="http://schemas.openxmlformats.org/drawingml/2006/main">
              <a:ext uri="{FF2B5EF4-FFF2-40B4-BE49-F238E27FC236}">
                <a16:creationId xmlns:a16="http://schemas.microsoft.com/office/drawing/2014/main" id="{412DC26B-9BD0-4ABF-A22D-A2146FE1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657600"/>
            <a:ext cx="44291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Under-confident at 0.6–0.9</a:t>
            </a:r>
          </a:p>
        </p:txBody>
      </p:sp>
      <p:sp>
        <p:nvSpPr>
          <p:cNvPr id="10" name="Observed accuracy exceeds stated confidence in thi">
            <a:extLst xmlns:a="http://schemas.openxmlformats.org/drawingml/2006/main">
              <a:ext uri="{FF2B5EF4-FFF2-40B4-BE49-F238E27FC236}">
                <a16:creationId xmlns:a16="http://schemas.microsoft.com/office/drawing/2014/main" id="{E8F4C03B-F2F7-4644-9BAD-91A948AC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162425"/>
            <a:ext cx="438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Observed accuracy exceeds stated confidence in this range.</a:t>
            </a:r>
          </a:p>
        </p:txBody>
      </p:sp>
      <p:sp>
        <p:nvSpPr>
          <p:cNvPr id="11" name="The top bin has only 10 samples: 80% accuracy, ver">
            <a:extLst xmlns:a="http://schemas.openxmlformats.org/drawingml/2006/main">
              <a:ext uri="{FF2B5EF4-FFF2-40B4-BE49-F238E27FC236}">
                <a16:creationId xmlns:a16="http://schemas.microsoft.com/office/drawing/2014/main" id="{5ADF6026-92D4-47CC-B096-4840AD31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5172075"/>
            <a:ext cx="43815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top bin has only 10 samples: 80% accuracy, versus 96% in the bin below. Small-sample noise may explain the dip.</a:t>
            </a:r>
          </a:p>
        </p:txBody>
      </p:sp>
    </p:spTree>
    <p:extLst>
      <p:ext uri="{BB962C8B-B14F-4D97-AF65-F5344CB8AC3E}">
        <p14:creationId xmlns:p14="http://schemas.microsoft.com/office/powerpoint/2010/main" val="43961491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onfident errors">
            <a:extLst xmlns:a="http://schemas.openxmlformats.org/drawingml/2006/main">
              <a:ext uri="{FF2B5EF4-FFF2-40B4-BE49-F238E27FC236}">
                <a16:creationId xmlns:a16="http://schemas.microsoft.com/office/drawing/2014/main" id="{964292E8-2C89-448E-B7EA-C05DC9A4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Confident errors</a:t>
            </a:r>
          </a:p>
        </p:txBody>
      </p:sp>
      <p:sp>
        <p:nvSpPr>
          <p:cNvPr id="2" name="10">
            <a:extLst xmlns:a="http://schemas.openxmlformats.org/drawingml/2006/main">
              <a:ext uri="{FF2B5EF4-FFF2-40B4-BE49-F238E27FC236}">
                <a16:creationId xmlns:a16="http://schemas.microsoft.com/office/drawing/2014/main" id="{6708BE12-9FA5-4272-8318-43D950E6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10</a:t>
            </a:r>
          </a:p>
        </p:txBody>
      </p:sp>
      <p:sp>
        <p:nvSpPr>
          <p:cNvPr id="3" name="6 of 100">
            <a:extLst xmlns:a="http://schemas.openxmlformats.org/drawingml/2006/main">
              <a:ext uri="{FF2B5EF4-FFF2-40B4-BE49-F238E27FC236}">
                <a16:creationId xmlns:a16="http://schemas.microsoft.com/office/drawing/2014/main" id="{9F6B9CE5-5362-43BF-B20D-9815F56DB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70485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95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795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6 of 100</a:t>
            </a:r>
          </a:p>
        </p:txBody>
      </p:sp>
      <p:sp>
        <p:nvSpPr>
          <p:cNvPr id="4" name="high-confidence predictions were wrong">
            <a:extLst xmlns:a="http://schemas.openxmlformats.org/drawingml/2006/main">
              <a:ext uri="{FF2B5EF4-FFF2-40B4-BE49-F238E27FC236}">
                <a16:creationId xmlns:a16="http://schemas.microsoft.com/office/drawing/2014/main" id="{C3D8A04E-E683-475A-BD67-0F46C8DD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28975"/>
            <a:ext cx="10382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high-confidence predictions were wrong</a:t>
            </a:r>
          </a:p>
        </p:txBody>
      </p:sp>
      <p:sp>
        <p:nvSpPr>
          <p:cNvPr id="5" name="100 of 439 predictions reached at least 75% confid">
            <a:extLst xmlns:a="http://schemas.openxmlformats.org/drawingml/2006/main">
              <a:ext uri="{FF2B5EF4-FFF2-40B4-BE49-F238E27FC236}">
                <a16:creationId xmlns:a16="http://schemas.microsoft.com/office/drawing/2014/main" id="{9D3CBF64-CE36-44A7-A22E-78C90B84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105727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100 of 439 predictions reached at least 75% confidence.</a:t>
            </a:r>
          </a:p>
          <a:p xmlns:a="http://schemas.openxmlformats.org/drawingml/2006/main">
            <a:pPr algn="l">
              <a:defRPr sz="217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That is 22.8% of the test set, with a 6.0% error rate in this group.</a:t>
            </a:r>
          </a:p>
        </p:txBody>
      </p:sp>
      <p:sp>
        <p:nvSpPr>
          <p:cNvPr id="6" name="At step 0: 0/6">
            <a:extLst xmlns:a="http://schemas.openxmlformats.org/drawingml/2006/main">
              <a:ext uri="{FF2B5EF4-FFF2-40B4-BE49-F238E27FC236}">
                <a16:creationId xmlns:a16="http://schemas.microsoft.com/office/drawing/2014/main" id="{E6A95567-D6F5-49FC-8C96-C1D396565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At step 0: 0/6</a:t>
            </a:r>
          </a:p>
        </p:txBody>
      </p:sp>
      <p:sp>
        <p:nvSpPr>
          <p:cNvPr id="7" name="The per-step model has no history yet.&#10;It flagged ">
            <a:extLst xmlns:a="http://schemas.openxmlformats.org/drawingml/2006/main">
              <a:ext uri="{FF2B5EF4-FFF2-40B4-BE49-F238E27FC236}">
                <a16:creationId xmlns:a16="http://schemas.microsoft.com/office/drawing/2014/main" id="{9723BD48-C750-47D3-9662-8735EC62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53100"/>
            <a:ext cx="509587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per-step model has no history yet.</a:t>
            </a:r>
          </a:p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It flagged none of these errors.</a:t>
            </a:r>
          </a:p>
        </p:txBody>
      </p:sp>
      <p:sp>
        <p:nvSpPr>
          <p:cNvPr id="8" name="After six probes: 5/6">
            <a:extLst xmlns:a="http://schemas.openxmlformats.org/drawingml/2006/main">
              <a:ext uri="{FF2B5EF4-FFF2-40B4-BE49-F238E27FC236}">
                <a16:creationId xmlns:a16="http://schemas.microsoft.com/office/drawing/2014/main" id="{CFA6D513-871A-49B7-BCEB-FE363A1C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5295900"/>
            <a:ext cx="5219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After six probes: 5/6</a:t>
            </a:r>
          </a:p>
        </p:txBody>
      </p:sp>
      <p:sp>
        <p:nvSpPr>
          <p:cNvPr id="9" name="The sequence model missed one,&#10;plus 44 correct cas">
            <a:extLst xmlns:a="http://schemas.openxmlformats.org/drawingml/2006/main">
              <a:ext uri="{FF2B5EF4-FFF2-40B4-BE49-F238E27FC236}">
                <a16:creationId xmlns:a16="http://schemas.microsoft.com/office/drawing/2014/main" id="{CA3EA85D-A079-4444-92B3-01438E28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5753100"/>
            <a:ext cx="5219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sequence model missed one,</a:t>
            </a:r>
          </a:p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plus 44 correct cases were flagged.</a:t>
            </a:r>
          </a:p>
        </p:txBody>
      </p:sp>
    </p:spTree>
    <p:extLst>
      <p:ext uri="{BB962C8B-B14F-4D97-AF65-F5344CB8AC3E}">
        <p14:creationId xmlns:p14="http://schemas.microsoft.com/office/powerpoint/2010/main" val="1687433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What drift features add">
            <a:extLst xmlns:a="http://schemas.openxmlformats.org/drawingml/2006/main">
              <a:ext uri="{FF2B5EF4-FFF2-40B4-BE49-F238E27FC236}">
                <a16:creationId xmlns:a16="http://schemas.microsoft.com/office/drawing/2014/main" id="{B738F9D1-5EF2-4CB6-8286-B86C1FE0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What drift features add</a:t>
            </a:r>
          </a:p>
        </p:txBody>
      </p:sp>
      <p:sp>
        <p:nvSpPr>
          <p:cNvPr id="2" name="11">
            <a:extLst xmlns:a="http://schemas.openxmlformats.org/drawingml/2006/main">
              <a:ext uri="{FF2B5EF4-FFF2-40B4-BE49-F238E27FC236}">
                <a16:creationId xmlns:a16="http://schemas.microsoft.com/office/drawing/2014/main" id="{D02060E2-5367-41C8-9A3A-5252FDDF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11</a:t>
            </a:r>
          </a:p>
        </p:txBody>
      </p:sp>
      <p:sp>
        <p:nvSpPr>
          <p:cNvPr id="3" name="Pooled out-of-fold results · five document-grouped">
            <a:extLst xmlns:a="http://schemas.openxmlformats.org/drawingml/2006/main">
              <a:ext uri="{FF2B5EF4-FFF2-40B4-BE49-F238E27FC236}">
                <a16:creationId xmlns:a16="http://schemas.microsoft.com/office/drawing/2014/main" id="{09294972-1C10-469C-843E-D5999852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38275"/>
            <a:ext cx="10668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Pooled out-of-fold results · five document-grouped folds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66750" y="2114550"/>
          <a:ext xmlns:a="http://schemas.openxmlformats.org/drawingml/2006/main" cx="10810875" cy="24003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619250"/>
                <a:gridCol w="5667375"/>
                <a:gridCol w="1619250"/>
                <a:gridCol w="1905000"/>
              </a:tblGrid>
              <a:tr h="60007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Experiment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Features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F1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ROC-AUC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</a:tr>
              <a:tr h="60007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Corruption context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0.296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0.509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60007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B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A + current confidence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0.468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0.729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60007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</a:t>
                      </a:r>
                    </a:p>
                  </a:txBody>
                  <a:tcPr marL="91440" marR="91440" marT="45720" marB="45720" anchor="ctr">
                    <a:solidFill>
                      <a:srgbClr val="E5ECE9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B + nine history features</a:t>
                      </a:r>
                    </a:p>
                  </a:txBody>
                  <a:tcPr marL="91440" marR="91440" marT="45720" marB="45720" anchor="ctr">
                    <a:solidFill>
                      <a:srgbClr val="E5ECE9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0.508</a:t>
                      </a:r>
                    </a:p>
                  </a:txBody>
                  <a:tcPr marL="91440" marR="91440" marT="45720" marB="45720" anchor="ctr">
                    <a:solidFill>
                      <a:srgbClr val="E5ECE9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0.763</a:t>
                      </a:r>
                    </a:p>
                  </a:txBody>
                  <a:tcPr marL="91440" marR="91440" marT="45720" marB="45720" anchor="ctr">
                    <a:solidFill>
                      <a:srgbClr val="E5ECE9"/>
                    </a:solidFill>
                  </a:tcPr>
                </a:tc>
              </a:tr>
            </a:tbl>
          </a:graphicData>
        </a:graphic>
      </p:graphicFrame>
      <p:sp>
        <p:nvSpPr>
          <p:cNvPr id="5" name="+0.040">
            <a:extLst xmlns:a="http://schemas.openxmlformats.org/drawingml/2006/main">
              <a:ext uri="{FF2B5EF4-FFF2-40B4-BE49-F238E27FC236}">
                <a16:creationId xmlns:a16="http://schemas.microsoft.com/office/drawing/2014/main" id="{9153D2A6-D1C0-4A98-8B2E-9BDD7C8A9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9175"/>
            <a:ext cx="28765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+0.040</a:t>
            </a:r>
          </a:p>
        </p:txBody>
      </p:sp>
      <p:sp>
        <p:nvSpPr>
          <p:cNvPr id="6" name="F1 improvement, B to C">
            <a:extLst xmlns:a="http://schemas.openxmlformats.org/drawingml/2006/main">
              <a:ext uri="{FF2B5EF4-FFF2-40B4-BE49-F238E27FC236}">
                <a16:creationId xmlns:a16="http://schemas.microsoft.com/office/drawing/2014/main" id="{65C5C942-0344-4EBA-B112-0AD75167F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95950"/>
            <a:ext cx="34861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F1 improvement, B to C</a:t>
            </a:r>
          </a:p>
        </p:txBody>
      </p:sp>
      <p:sp>
        <p:nvSpPr>
          <p:cNvPr id="7" name="+0.034">
            <a:extLst xmlns:a="http://schemas.openxmlformats.org/drawingml/2006/main">
              <a:ext uri="{FF2B5EF4-FFF2-40B4-BE49-F238E27FC236}">
                <a16:creationId xmlns:a16="http://schemas.microsoft.com/office/drawing/2014/main" id="{DE663D9C-C58F-4937-84F5-26AA72356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9175"/>
            <a:ext cx="30670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+0.034</a:t>
            </a:r>
          </a:p>
        </p:txBody>
      </p:sp>
      <p:sp>
        <p:nvSpPr>
          <p:cNvPr id="8" name="ROC-AUC improvement, B to C">
            <a:extLst xmlns:a="http://schemas.openxmlformats.org/drawingml/2006/main">
              <a:ext uri="{FF2B5EF4-FFF2-40B4-BE49-F238E27FC236}">
                <a16:creationId xmlns:a16="http://schemas.microsoft.com/office/drawing/2014/main" id="{CA560D3B-F369-4C85-ADBD-F7709BD6B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5695950"/>
            <a:ext cx="41529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ROC-AUC improvement, B to C</a:t>
            </a:r>
          </a:p>
        </p:txBody>
      </p:sp>
      <p:sp>
        <p:nvSpPr>
          <p:cNvPr id="9" name="History adds a&#10;modest gain.">
            <a:extLst xmlns:a="http://schemas.openxmlformats.org/drawingml/2006/main">
              <a:ext uri="{FF2B5EF4-FFF2-40B4-BE49-F238E27FC236}">
                <a16:creationId xmlns:a16="http://schemas.microsoft.com/office/drawing/2014/main" id="{957D4C89-0208-43F3-8AF7-71F33591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029200"/>
            <a:ext cx="260032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History adds a</a:t>
            </a:r>
          </a:p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modest gain.</a:t>
            </a:r>
          </a:p>
        </p:txBody>
      </p:sp>
      <p:sp>
        <p:nvSpPr>
          <p:cNvPr id="10" name="The separate 110-document holdout showed a smaller">
            <a:extLst xmlns:a="http://schemas.openxmlformats.org/drawingml/2006/main">
              <a:ext uri="{FF2B5EF4-FFF2-40B4-BE49-F238E27FC236}">
                <a16:creationId xmlns:a16="http://schemas.microsoft.com/office/drawing/2014/main" id="{A7F6872E-8BB4-44E8-B9F8-9BD7509FE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29350"/>
            <a:ext cx="103060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separate 110-document holdout showed a smaller B-to-C F1 gain: 0.447 to 0.457.</a:t>
            </a:r>
          </a:p>
        </p:txBody>
      </p:sp>
    </p:spTree>
    <p:extLst>
      <p:ext uri="{BB962C8B-B14F-4D97-AF65-F5344CB8AC3E}">
        <p14:creationId xmlns:p14="http://schemas.microsoft.com/office/powerpoint/2010/main" val="6289685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Four findings">
            <a:extLst xmlns:a="http://schemas.openxmlformats.org/drawingml/2006/main">
              <a:ext uri="{FF2B5EF4-FFF2-40B4-BE49-F238E27FC236}">
                <a16:creationId xmlns:a16="http://schemas.microsoft.com/office/drawing/2014/main" id="{7CD3A7B5-7876-4D7B-A459-8D9BC9090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Four findings</a:t>
            </a:r>
          </a:p>
        </p:txBody>
      </p:sp>
      <p:sp>
        <p:nvSpPr>
          <p:cNvPr id="2" name="12">
            <a:extLst xmlns:a="http://schemas.openxmlformats.org/drawingml/2006/main">
              <a:ext uri="{FF2B5EF4-FFF2-40B4-BE49-F238E27FC236}">
                <a16:creationId xmlns:a16="http://schemas.microsoft.com/office/drawing/2014/main" id="{6EA15D4E-8273-401A-A520-B10C84A8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12</a:t>
            </a:r>
          </a:p>
        </p:txBody>
      </p:sp>
      <p:sp>
        <p:nvSpPr>
          <p:cNvPr id="3" name="63.5–93.3%">
            <a:extLst xmlns:a="http://schemas.openxmlformats.org/drawingml/2006/main">
              <a:ext uri="{FF2B5EF4-FFF2-40B4-BE49-F238E27FC236}">
                <a16:creationId xmlns:a16="http://schemas.microsoft.com/office/drawing/2014/main" id="{08C46B3C-45E4-4A0B-953C-E352859C9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676400"/>
            <a:ext cx="35528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315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63.5–93.3%</a:t>
            </a:r>
          </a:p>
        </p:txBody>
      </p:sp>
      <p:sp>
        <p:nvSpPr>
          <p:cNvPr id="4" name="Confidence carries useful signal">
            <a:extLst xmlns:a="http://schemas.openxmlformats.org/drawingml/2006/main">
              <a:ext uri="{FF2B5EF4-FFF2-40B4-BE49-F238E27FC236}">
                <a16:creationId xmlns:a16="http://schemas.microsoft.com/office/drawing/2014/main" id="{50599D64-1C1E-4A1D-A692-BC87922B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685925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Confidence carries useful signal</a:t>
            </a:r>
          </a:p>
        </p:txBody>
      </p:sp>
      <p:sp>
        <p:nvSpPr>
          <p:cNvPr id="5" name="Accuracy rises across the confidence bins.">
            <a:extLst xmlns:a="http://schemas.openxmlformats.org/drawingml/2006/main">
              <a:ext uri="{FF2B5EF4-FFF2-40B4-BE49-F238E27FC236}">
                <a16:creationId xmlns:a16="http://schemas.microsoft.com/office/drawing/2014/main" id="{92F66974-73A0-426C-A8EB-329C31B5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152650"/>
            <a:ext cx="6819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Accuracy rises across the confidence bins.</a:t>
            </a:r>
          </a:p>
        </p:txBody>
      </p:sp>
      <p:sp>
        <p:nvSpPr>
          <p:cNvPr id="6" name="6 of 100">
            <a:extLst xmlns:a="http://schemas.openxmlformats.org/drawingml/2006/main">
              <a:ext uri="{FF2B5EF4-FFF2-40B4-BE49-F238E27FC236}">
                <a16:creationId xmlns:a16="http://schemas.microsoft.com/office/drawing/2014/main" id="{502CF519-7750-46D1-8E2A-872C15CD2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809875"/>
            <a:ext cx="35528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6 of 100</a:t>
            </a:r>
          </a:p>
        </p:txBody>
      </p:sp>
      <p:sp>
        <p:nvSpPr>
          <p:cNvPr id="7" name="High confidence can still be wrong">
            <a:extLst xmlns:a="http://schemas.openxmlformats.org/drawingml/2006/main">
              <a:ext uri="{FF2B5EF4-FFF2-40B4-BE49-F238E27FC236}">
                <a16:creationId xmlns:a16="http://schemas.microsoft.com/office/drawing/2014/main" id="{AD176176-52A7-4AA9-808E-EDEABCB2F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81940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High confidence can still be wrong</a:t>
            </a:r>
          </a:p>
        </p:txBody>
      </p:sp>
      <p:sp>
        <p:nvSpPr>
          <p:cNvPr id="8" name="After six probes: 5 flagged, 1 missed, 44 false al">
            <a:extLst xmlns:a="http://schemas.openxmlformats.org/drawingml/2006/main">
              <a:ext uri="{FF2B5EF4-FFF2-40B4-BE49-F238E27FC236}">
                <a16:creationId xmlns:a16="http://schemas.microsoft.com/office/drawing/2014/main" id="{7E1F4C21-A8C0-49E5-9795-39A688368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286125"/>
            <a:ext cx="6819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After six probes: 5 flagged, 1 missed, 44 false alarms.</a:t>
            </a:r>
          </a:p>
        </p:txBody>
      </p:sp>
      <p:sp>
        <p:nvSpPr>
          <p:cNvPr id="9" name="r = 0.09">
            <a:extLst xmlns:a="http://schemas.openxmlformats.org/drawingml/2006/main">
              <a:ext uri="{FF2B5EF4-FFF2-40B4-BE49-F238E27FC236}">
                <a16:creationId xmlns:a16="http://schemas.microsoft.com/office/drawing/2014/main" id="{CFFF786B-F3EE-41E4-B74F-67D5F45D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943350"/>
            <a:ext cx="35528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r = 0.09</a:t>
            </a:r>
          </a:p>
        </p:txBody>
      </p:sp>
      <p:sp>
        <p:nvSpPr>
          <p:cNvPr id="10" name="Net drift is a weak predictor">
            <a:extLst xmlns:a="http://schemas.openxmlformats.org/drawingml/2006/main">
              <a:ext uri="{FF2B5EF4-FFF2-40B4-BE49-F238E27FC236}">
                <a16:creationId xmlns:a16="http://schemas.microsoft.com/office/drawing/2014/main" id="{21E86BC3-CEBA-4451-B5A9-2527B8FC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Net drift is a weak predictor</a:t>
            </a:r>
          </a:p>
        </p:txBody>
      </p:sp>
      <p:sp>
        <p:nvSpPr>
          <p:cNvPr id="11" name="Correlation with becoming incorrect is small.">
            <a:extLst xmlns:a="http://schemas.openxmlformats.org/drawingml/2006/main">
              <a:ext uri="{FF2B5EF4-FFF2-40B4-BE49-F238E27FC236}">
                <a16:creationId xmlns:a16="http://schemas.microsoft.com/office/drawing/2014/main" id="{C8B99039-E72C-47FA-B44E-E69A705FA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419600"/>
            <a:ext cx="6819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Correlation with becoming incorrect is small.</a:t>
            </a:r>
          </a:p>
        </p:txBody>
      </p:sp>
      <p:sp>
        <p:nvSpPr>
          <p:cNvPr id="12" name="+0.040 F1">
            <a:extLst xmlns:a="http://schemas.openxmlformats.org/drawingml/2006/main">
              <a:ext uri="{FF2B5EF4-FFF2-40B4-BE49-F238E27FC236}">
                <a16:creationId xmlns:a16="http://schemas.microsoft.com/office/drawing/2014/main" id="{AD8F5B85-DCDC-4719-8C97-29C751EE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076825"/>
            <a:ext cx="35528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+0.040 F1</a:t>
            </a:r>
          </a:p>
        </p:txBody>
      </p:sp>
      <p:sp>
        <p:nvSpPr>
          <p:cNvPr id="13" name="History adds a modest gain">
            <a:extLst xmlns:a="http://schemas.openxmlformats.org/drawingml/2006/main">
              <a:ext uri="{FF2B5EF4-FFF2-40B4-BE49-F238E27FC236}">
                <a16:creationId xmlns:a16="http://schemas.microsoft.com/office/drawing/2014/main" id="{88A4A5A9-5EB4-4F1A-BCB0-7B80200E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08635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History adds a modest gain</a:t>
            </a:r>
          </a:p>
        </p:txBody>
      </p:sp>
      <p:sp>
        <p:nvSpPr>
          <p:cNvPr id="14" name="F1 rises from 0.468 to 0.508 after current confide">
            <a:extLst xmlns:a="http://schemas.openxmlformats.org/drawingml/2006/main">
              <a:ext uri="{FF2B5EF4-FFF2-40B4-BE49-F238E27FC236}">
                <a16:creationId xmlns:a16="http://schemas.microsoft.com/office/drawing/2014/main" id="{BE3F1D7E-DDDF-453A-B042-4F9997169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553075"/>
            <a:ext cx="6819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F1 rises from 0.468 to 0.508 after current confidence.</a:t>
            </a:r>
          </a:p>
        </p:txBody>
      </p:sp>
    </p:spTree>
    <p:extLst>
      <p:ext uri="{BB962C8B-B14F-4D97-AF65-F5344CB8AC3E}">
        <p14:creationId xmlns:p14="http://schemas.microsoft.com/office/powerpoint/2010/main" val="105859996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imitations and next steps">
            <a:extLst xmlns:a="http://schemas.openxmlformats.org/drawingml/2006/main">
              <a:ext uri="{FF2B5EF4-FFF2-40B4-BE49-F238E27FC236}">
                <a16:creationId xmlns:a16="http://schemas.microsoft.com/office/drawing/2014/main" id="{EC7AE442-F442-4382-B17D-27932F93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Limitations and next steps</a:t>
            </a:r>
          </a:p>
        </p:txBody>
      </p:sp>
      <p:sp>
        <p:nvSpPr>
          <p:cNvPr id="2" name="13">
            <a:extLst xmlns:a="http://schemas.openxmlformats.org/drawingml/2006/main">
              <a:ext uri="{FF2B5EF4-FFF2-40B4-BE49-F238E27FC236}">
                <a16:creationId xmlns:a16="http://schemas.microsoft.com/office/drawing/2014/main" id="{821303DC-DF56-46D3-A00A-ADD76200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13</a:t>
            </a:r>
          </a:p>
        </p:txBody>
      </p:sp>
      <p:sp>
        <p:nvSpPr>
          <p:cNvPr id="3" name="Limits of this study">
            <a:extLst xmlns:a="http://schemas.openxmlformats.org/drawingml/2006/main">
              <a:ext uri="{FF2B5EF4-FFF2-40B4-BE49-F238E27FC236}">
                <a16:creationId xmlns:a16="http://schemas.microsoft.com/office/drawing/2014/main" id="{4D24BE57-9CF9-4146-8EFB-20604A626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5010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2325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Limits of this study</a:t>
            </a:r>
          </a:p>
        </p:txBody>
      </p:sp>
      <p:sp>
        <p:nvSpPr>
          <p:cNvPr id="4" name="What I would test next">
            <a:extLst xmlns:a="http://schemas.openxmlformats.org/drawingml/2006/main">
              <a:ext uri="{FF2B5EF4-FFF2-40B4-BE49-F238E27FC236}">
                <a16:creationId xmlns:a16="http://schemas.microsoft.com/office/drawing/2014/main" id="{636AD2CF-7DD7-447D-866C-4800C116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57350"/>
            <a:ext cx="49625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 i="1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2325" b="0" i="1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What I would test next</a:t>
            </a:r>
          </a:p>
        </p:txBody>
      </p:sp>
      <p:sp>
        <p:nvSpPr>
          <p:cNvPr id="5" name="Text corruption simulates repeated predictions. Re">
            <a:extLst xmlns:a="http://schemas.openxmlformats.org/drawingml/2006/main">
              <a:ext uri="{FF2B5EF4-FFF2-40B4-BE49-F238E27FC236}">
                <a16:creationId xmlns:a16="http://schemas.microsoft.com/office/drawing/2014/main" id="{FFAC41B0-7452-4522-942B-CA2A61C6C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Text corruption simulates repeated predictions. Real usage may behave differently.</a:t>
            </a:r>
          </a:p>
        </p:txBody>
      </p:sp>
      <p:sp>
        <p:nvSpPr>
          <p:cNvPr id="6" name="Only 439 test documents. The top calibration bin h">
            <a:extLst xmlns:a="http://schemas.openxmlformats.org/drawingml/2006/main">
              <a:ext uri="{FF2B5EF4-FFF2-40B4-BE49-F238E27FC236}">
                <a16:creationId xmlns:a16="http://schemas.microsoft.com/office/drawing/2014/main" id="{542DDD44-70B1-4505-B885-C30B7D643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Only 439 test documents. The top calibration bin has 10 predictions.</a:t>
            </a:r>
          </a:p>
        </p:txBody>
      </p:sp>
      <p:sp>
        <p:nvSpPr>
          <p:cNvPr id="7" name="Two classes and one base model architecture.">
            <a:extLst xmlns:a="http://schemas.openxmlformats.org/drawingml/2006/main">
              <a:ext uri="{FF2B5EF4-FFF2-40B4-BE49-F238E27FC236}">
                <a16:creationId xmlns:a16="http://schemas.microsoft.com/office/drawing/2014/main" id="{1B34693F-E45F-4C20-BCB9-AB44350AF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0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Two classes and one base model architecture.</a:t>
            </a:r>
          </a:p>
        </p:txBody>
      </p:sp>
      <p:sp>
        <p:nvSpPr>
          <p:cNvPr id="8" name="Six probes missed one error and flagged 44 correct">
            <a:extLst xmlns:a="http://schemas.openxmlformats.org/drawingml/2006/main">
              <a:ext uri="{FF2B5EF4-FFF2-40B4-BE49-F238E27FC236}">
                <a16:creationId xmlns:a16="http://schemas.microsoft.com/office/drawing/2014/main" id="{93E98D21-68CA-4E85-AF2F-C69A1ED85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29225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Six probes missed one error and flagged 44 correct cases.</a:t>
            </a:r>
          </a:p>
        </p:txBody>
      </p:sp>
      <p:sp>
        <p:nvSpPr>
          <p:cNvPr id="9" name="Test the frozen detector on a new labeled corpus.">
            <a:extLst xmlns:a="http://schemas.openxmlformats.org/drawingml/2006/main">
              <a:ext uri="{FF2B5EF4-FFF2-40B4-BE49-F238E27FC236}">
                <a16:creationId xmlns:a16="http://schemas.microsoft.com/office/drawing/2014/main" id="{00CDB7D3-3462-4596-949F-EA0CBFD5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00300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Test the frozen detector on a new labeled corpus.</a:t>
            </a:r>
          </a:p>
        </p:txBody>
      </p:sp>
      <p:sp>
        <p:nvSpPr>
          <p:cNvPr id="10" name="Collect naturally repeated real-world queries when">
            <a:extLst xmlns:a="http://schemas.openxmlformats.org/drawingml/2006/main">
              <a:ext uri="{FF2B5EF4-FFF2-40B4-BE49-F238E27FC236}">
                <a16:creationId xmlns:a16="http://schemas.microsoft.com/office/drawing/2014/main" id="{A4406602-A70F-413E-A690-08812095A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343275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Collect naturally repeated real-world queries when data becomes available.</a:t>
            </a:r>
          </a:p>
        </p:txBody>
      </p:sp>
      <p:sp>
        <p:nvSpPr>
          <p:cNvPr id="11" name="Reduce false alarms and set a practical review cap">
            <a:extLst xmlns:a="http://schemas.openxmlformats.org/drawingml/2006/main">
              <a:ext uri="{FF2B5EF4-FFF2-40B4-BE49-F238E27FC236}">
                <a16:creationId xmlns:a16="http://schemas.microsoft.com/office/drawing/2014/main" id="{0D767537-0CB5-4D99-BE46-36920033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286250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Reduce false alarms and set a practical review capacity.</a:t>
            </a:r>
          </a:p>
        </p:txBody>
      </p:sp>
      <p:sp>
        <p:nvSpPr>
          <p:cNvPr id="12" name="Extend to multiple classes and another base model.">
            <a:extLst xmlns:a="http://schemas.openxmlformats.org/drawingml/2006/main">
              <a:ext uri="{FF2B5EF4-FFF2-40B4-BE49-F238E27FC236}">
                <a16:creationId xmlns:a16="http://schemas.microsoft.com/office/drawing/2014/main" id="{F9C59A2D-1356-4DD8-97C7-844A42B69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229225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Extend to multiple classes and another base model.</a:t>
            </a:r>
          </a:p>
        </p:txBody>
      </p:sp>
    </p:spTree>
    <p:extLst>
      <p:ext uri="{BB962C8B-B14F-4D97-AF65-F5344CB8AC3E}">
        <p14:creationId xmlns:p14="http://schemas.microsoft.com/office/powerpoint/2010/main" val="33472513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14">
            <a:extLst xmlns:a="http://schemas.openxmlformats.org/drawingml/2006/main">
              <a:ext uri="{FF2B5EF4-FFF2-40B4-BE49-F238E27FC236}">
                <a16:creationId xmlns:a16="http://schemas.microsoft.com/office/drawing/2014/main" id="{ED27E1A9-ED87-4778-A574-3B5ECCF7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14</a:t>
            </a:r>
          </a:p>
        </p:txBody>
      </p:sp>
      <p:sp>
        <p:nvSpPr>
          <p:cNvPr id="2" name="CONCLUSION">
            <a:extLst xmlns:a="http://schemas.openxmlformats.org/drawingml/2006/main">
              <a:ext uri="{FF2B5EF4-FFF2-40B4-BE49-F238E27FC236}">
                <a16:creationId xmlns:a16="http://schemas.microsoft.com/office/drawing/2014/main" id="{5E3D68EB-62F6-47EE-B4C2-CA96F0D4E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"/>
            <a:ext cx="762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CONCLUSION</a:t>
            </a:r>
          </a:p>
        </p:txBody>
      </p:sp>
      <p:sp>
        <p:nvSpPr>
          <p:cNvPr id="3" name="Confidence history adds">
            <a:extLst xmlns:a="http://schemas.openxmlformats.org/drawingml/2006/main">
              <a:ext uri="{FF2B5EF4-FFF2-40B4-BE49-F238E27FC236}">
                <a16:creationId xmlns:a16="http://schemas.microsoft.com/office/drawing/2014/main" id="{DC234933-6A29-4507-80A7-0A0BADF6B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562100"/>
            <a:ext cx="108585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0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50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Confidence history adds</a:t>
            </a:r>
          </a:p>
        </p:txBody>
      </p:sp>
      <p:sp>
        <p:nvSpPr>
          <p:cNvPr id="4" name="a modest signal.">
            <a:extLst xmlns:a="http://schemas.openxmlformats.org/drawingml/2006/main">
              <a:ext uri="{FF2B5EF4-FFF2-40B4-BE49-F238E27FC236}">
                <a16:creationId xmlns:a16="http://schemas.microsoft.com/office/drawing/2014/main" id="{FC04827D-774A-4B2E-8D24-71A7B1BA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409825"/>
            <a:ext cx="1085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025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5025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a modest signal.</a:t>
            </a:r>
          </a:p>
        </p:txBody>
      </p:sp>
      <p:sp>
        <p:nvSpPr>
          <p:cNvPr id="5" name="Five flagged. One missed.">
            <a:extLst xmlns:a="http://schemas.openxmlformats.org/drawingml/2006/main">
              <a:ext uri="{FF2B5EF4-FFF2-40B4-BE49-F238E27FC236}">
                <a16:creationId xmlns:a16="http://schemas.microsoft.com/office/drawing/2014/main" id="{9F7F0A65-B2EC-42A9-A413-3E3EB747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2575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650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4650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Five flagged. One missed.</a:t>
            </a:r>
          </a:p>
        </p:txBody>
      </p:sp>
      <p:sp>
        <p:nvSpPr>
          <p:cNvPr id="6" name="The per-step detector missed all six at the first ">
            <a:extLst xmlns:a="http://schemas.openxmlformats.org/drawingml/2006/main">
              <a:ext uri="{FF2B5EF4-FFF2-40B4-BE49-F238E27FC236}">
                <a16:creationId xmlns:a16="http://schemas.microsoft.com/office/drawing/2014/main" id="{3C75DD1B-56AA-4A2A-9335-83DD4828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676775"/>
            <a:ext cx="10763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per-step detector missed all six at the first prediction.</a:t>
            </a:r>
          </a:p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After six probes, the sequence model flagged five plus 44 correct cases.</a:t>
            </a:r>
          </a:p>
        </p:txBody>
      </p:sp>
      <p:sp>
        <p:nvSpPr>
          <p:cNvPr id="7" name="F1  0.468 to 0.508">
            <a:extLst xmlns:a="http://schemas.openxmlformats.org/drawingml/2006/main">
              <a:ext uri="{FF2B5EF4-FFF2-40B4-BE49-F238E27FC236}">
                <a16:creationId xmlns:a16="http://schemas.microsoft.com/office/drawing/2014/main" id="{2BB473E6-9AA1-452B-BC39-B96567B8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7245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F1  0.468 to 0.508</a:t>
            </a:r>
          </a:p>
        </p:txBody>
      </p:sp>
      <p:sp>
        <p:nvSpPr>
          <p:cNvPr id="8" name="ROC-AUC  0.729 to 0.763">
            <a:extLst xmlns:a="http://schemas.openxmlformats.org/drawingml/2006/main">
              <a:ext uri="{FF2B5EF4-FFF2-40B4-BE49-F238E27FC236}">
                <a16:creationId xmlns:a16="http://schemas.microsoft.com/office/drawing/2014/main" id="{C1A38455-1A76-4BBA-8E5B-467B1AA1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724525"/>
            <a:ext cx="5076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ROC-AUC  0.729 to 0.763</a:t>
            </a:r>
          </a:p>
        </p:txBody>
      </p:sp>
      <p:sp>
        <p:nvSpPr>
          <p:cNvPr id="9" name="Code, data, models and research report: github.com">
            <a:extLst xmlns:a="http://schemas.openxmlformats.org/drawingml/2006/main">
              <a:ext uri="{FF2B5EF4-FFF2-40B4-BE49-F238E27FC236}">
                <a16:creationId xmlns:a16="http://schemas.microsoft.com/office/drawing/2014/main" id="{960B761F-B7AF-401F-B7FF-97E8774B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6362700"/>
            <a:ext cx="1040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Code, data, models and research report: </a:t>
            </a: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47ad014f48846af"/>
              </a:rPr>
              <a:t>github.com/ahansardar/ai-confidence-drift</a:t>
            </a:r>
          </a:p>
        </p:txBody>
      </p:sp>
    </p:spTree>
    <p:extLst>
      <p:ext uri="{BB962C8B-B14F-4D97-AF65-F5344CB8AC3E}">
        <p14:creationId xmlns:p14="http://schemas.microsoft.com/office/powerpoint/2010/main" val="13048816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2026-09-21T13:42:12.9610000Z</dcterms:created>
  <dcterms:modified xsi:type="dcterms:W3CDTF">2026-09-21T13:42:12.9610000Z</dcterms:modified>
</coreProperties>
</file>