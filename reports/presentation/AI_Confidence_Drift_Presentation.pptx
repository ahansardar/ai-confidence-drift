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8937458c90486f" /><Relationship Type="http://schemas.openxmlformats.org/officeDocument/2006/relationships/extended-properties" Target="/docProps/app.xml" Id="R2f560a99538e4882" /><Relationship Type="http://schemas.openxmlformats.org/officeDocument/2006/relationships/officeDocument" Target="/ppt/presentation.xml" Id="Rfb8af72b20814c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e401c8be0e49ff"/>
  </p:sldMasterIdLst>
  <p:notesMasterIdLst>
    <p:notesMasterId xmlns:r="http://schemas.openxmlformats.org/officeDocument/2006/relationships" r:id="R6266f7ca77b542f8"/>
  </p:notesMasterIdLst>
  <p:sldIdLst>
    <p:sldId xmlns:r="http://schemas.openxmlformats.org/officeDocument/2006/relationships" id="256" r:id="Re9b6a42d583f4bab"/>
    <p:sldId xmlns:r="http://schemas.openxmlformats.org/officeDocument/2006/relationships" id="257" r:id="R07e3c6f4489b4bdd"/>
    <p:sldId xmlns:r="http://schemas.openxmlformats.org/officeDocument/2006/relationships" id="258" r:id="R41455d954ad54732"/>
    <p:sldId xmlns:r="http://schemas.openxmlformats.org/officeDocument/2006/relationships" id="259" r:id="R90eb2d64fc3e4a00"/>
    <p:sldId xmlns:r="http://schemas.openxmlformats.org/officeDocument/2006/relationships" id="260" r:id="R0fe644e7549040eb"/>
    <p:sldId xmlns:r="http://schemas.openxmlformats.org/officeDocument/2006/relationships" id="261" r:id="R725dadb58e7d4f35"/>
    <p:sldId xmlns:r="http://schemas.openxmlformats.org/officeDocument/2006/relationships" id="262" r:id="R1ebbce98d86d4d5d"/>
    <p:sldId xmlns:r="http://schemas.openxmlformats.org/officeDocument/2006/relationships" id="263" r:id="Rfcafa25e1ac74dac"/>
    <p:sldId xmlns:r="http://schemas.openxmlformats.org/officeDocument/2006/relationships" id="264" r:id="Rdacf977131a948f3"/>
    <p:sldId xmlns:r="http://schemas.openxmlformats.org/officeDocument/2006/relationships" id="265" r:id="R05f9aaed2b6a4e12"/>
    <p:sldId xmlns:r="http://schemas.openxmlformats.org/officeDocument/2006/relationships" id="266" r:id="R245609117c4349ce"/>
    <p:sldId xmlns:r="http://schemas.openxmlformats.org/officeDocument/2006/relationships" id="267" r:id="R3a1b7eddeded48d4"/>
    <p:sldId xmlns:r="http://schemas.openxmlformats.org/officeDocument/2006/relationships" id="268" r:id="R4407b838237342d8"/>
    <p:sldId xmlns:r="http://schemas.openxmlformats.org/officeDocument/2006/relationships" id="269" r:id="Raf39a42b54d34a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dec7a3056446e0" /><Relationship Type="http://schemas.openxmlformats.org/officeDocument/2006/relationships/slideMaster" Target="/ppt/slideMasters/slideMaster1.xml" Id="R66e401c8be0e49ff" /><Relationship Type="http://schemas.openxmlformats.org/officeDocument/2006/relationships/notesMaster" Target="/ppt/notesMasters/notesMaster1.xml" Id="R6266f7ca77b542f8" /><Relationship Type="http://schemas.openxmlformats.org/officeDocument/2006/relationships/presProps" Target="/ppt/presProps.xml" Id="Rc9f5d07b2f474bf9" /><Relationship Type="http://schemas.openxmlformats.org/officeDocument/2006/relationships/tableStyles" Target="/ppt/tableStyles.xml" Id="Re6ead16db3bb442c" /><Relationship Type="http://schemas.openxmlformats.org/officeDocument/2006/relationships/slide" Target="/ppt/slides/slide1.xml" Id="Re9b6a42d583f4bab" /><Relationship Type="http://schemas.openxmlformats.org/officeDocument/2006/relationships/slide" Target="/ppt/slides/slide2.xml" Id="R07e3c6f4489b4bdd" /><Relationship Type="http://schemas.openxmlformats.org/officeDocument/2006/relationships/slide" Target="/ppt/slides/slide3.xml" Id="R41455d954ad54732" /><Relationship Type="http://schemas.openxmlformats.org/officeDocument/2006/relationships/slide" Target="/ppt/slides/slide4.xml" Id="R90eb2d64fc3e4a00" /><Relationship Type="http://schemas.openxmlformats.org/officeDocument/2006/relationships/slide" Target="/ppt/slides/slide5.xml" Id="R0fe644e7549040eb" /><Relationship Type="http://schemas.openxmlformats.org/officeDocument/2006/relationships/slide" Target="/ppt/slides/slide6.xml" Id="R725dadb58e7d4f35" /><Relationship Type="http://schemas.openxmlformats.org/officeDocument/2006/relationships/slide" Target="/ppt/slides/slide7.xml" Id="R1ebbce98d86d4d5d" /><Relationship Type="http://schemas.openxmlformats.org/officeDocument/2006/relationships/slide" Target="/ppt/slides/slide8.xml" Id="Rfcafa25e1ac74dac" /><Relationship Type="http://schemas.openxmlformats.org/officeDocument/2006/relationships/slide" Target="/ppt/slides/slide9.xml" Id="Rdacf977131a948f3" /><Relationship Type="http://schemas.openxmlformats.org/officeDocument/2006/relationships/slide" Target="/ppt/slides/slide10.xml" Id="R05f9aaed2b6a4e12" /><Relationship Type="http://schemas.openxmlformats.org/officeDocument/2006/relationships/slide" Target="/ppt/slides/slide11.xml" Id="R245609117c4349ce" /><Relationship Type="http://schemas.openxmlformats.org/officeDocument/2006/relationships/slide" Target="/ppt/slides/slide12.xml" Id="R3a1b7eddeded48d4" /><Relationship Type="http://schemas.openxmlformats.org/officeDocument/2006/relationships/slide" Target="/ppt/slides/slide13.xml" Id="R4407b838237342d8" /><Relationship Type="http://schemas.openxmlformats.org/officeDocument/2006/relationships/slide" Target="/ppt/slides/slide14.xml" Id="Raf39a42b54d34a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16bf624f0a4b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3ee76575b341f7" /><Relationship Type="http://schemas.openxmlformats.org/officeDocument/2006/relationships/notesMaster" Target="/ppt/notesMasters/notesMaster1.xml" Id="Rb158196e77264c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5c9d03c84e4f8b" /><Relationship Type="http://schemas.openxmlformats.org/officeDocument/2006/relationships/notesMaster" Target="/ppt/notesMasters/notesMaster1.xml" Id="R26d64a02e35444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b8c4c147b9459f" /><Relationship Type="http://schemas.openxmlformats.org/officeDocument/2006/relationships/notesMaster" Target="/ppt/notesMasters/notesMaster1.xml" Id="R48b7f7f672fd48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7b9d6cfa6d4a27" /><Relationship Type="http://schemas.openxmlformats.org/officeDocument/2006/relationships/notesMaster" Target="/ppt/notesMasters/notesMaster1.xml" Id="Rae207a7d1e7346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bdb1a88bb74b4c" /><Relationship Type="http://schemas.openxmlformats.org/officeDocument/2006/relationships/notesMaster" Target="/ppt/notesMasters/notesMaster1.xml" Id="Reffb6ff07aec47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de04ee8c98443e" /><Relationship Type="http://schemas.openxmlformats.org/officeDocument/2006/relationships/notesMaster" Target="/ppt/notesMasters/notesMaster1.xml" Id="R26b2f1a63ce74a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61a6937ac4434e" /><Relationship Type="http://schemas.openxmlformats.org/officeDocument/2006/relationships/notesMaster" Target="/ppt/notesMasters/notesMaster1.xml" Id="R0a985c5dfedd41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4053cee89c4c44" /><Relationship Type="http://schemas.openxmlformats.org/officeDocument/2006/relationships/notesMaster" Target="/ppt/notesMasters/notesMaster1.xml" Id="Rab75a6b749854a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16277f1a6c84e33" /><Relationship Type="http://schemas.openxmlformats.org/officeDocument/2006/relationships/notesMaster" Target="/ppt/notesMasters/notesMaster1.xml" Id="R6a7e16fe1a374e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d697b0313b4bd1" /><Relationship Type="http://schemas.openxmlformats.org/officeDocument/2006/relationships/notesMaster" Target="/ppt/notesMasters/notesMaster1.xml" Id="R587a4c864e784c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1e4a6fa5bf24acd" /><Relationship Type="http://schemas.openxmlformats.org/officeDocument/2006/relationships/notesMaster" Target="/ppt/notesMasters/notesMaster1.xml" Id="R7f388cc646ae41e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ebe2c47e9d4bbb" /><Relationship Type="http://schemas.openxmlformats.org/officeDocument/2006/relationships/notesMaster" Target="/ppt/notesMasters/notesMaster1.xml" Id="R37ab0111d25f44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e7418d5319d4da6" /><Relationship Type="http://schemas.openxmlformats.org/officeDocument/2006/relationships/notesMaster" Target="/ppt/notesMasters/notesMaster1.xml" Id="Rb2b3fb163286431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e655f8522f84419" /><Relationship Type="http://schemas.openxmlformats.org/officeDocument/2006/relationships/notesMaster" Target="/ppt/notesMasters/notesMaster1.xml" Id="R2b9851b035b74d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Trajectory data: data/processed/confidence_sequences.csv. These are actual base-model probabilities on six increasingly corrupted versions of each document. The sequence is simulated rather than naturally repeated.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values: results/metrics/calibration_analysis.json. The Brier score uses the probability of class 1 against the true binary label; this corrects the earlier maximum-class-probability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original per-step C detector caught 0/6 at the uncorrupted step. A separate sequence-level Logistic Regression model predicts original correctness after six deterministic text probes. It was fitted on out-of-fold base-model sequences from the 1,315 base-training documents and flagged 6/6 high-confidence errors plus 50 correct cases on the 439-document test set. A start-only ablation flagged 5/6 plus 43 correct cases. This is retrospective and needs a new dataset. See results/metrics/sequence_error_detector_analysis.json.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A, B and C use the same Logistic Regression method, document-grouped folds, target and 0.5 threshold. A includes corruption step and level; B adds current confidence and margin; C adds nine history features. Results: results/metrics/drift_history_validation.json. Paired document-bootstrap intervals exclude retraining uncertainty.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06a30a9b742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3fde9fd6c0467e" /><Relationship Type="http://schemas.openxmlformats.org/officeDocument/2006/relationships/slideLayout" Target="/ppt/slideLayouts/slideLayout1.xml" Id="Rd93fdf05cb0a4c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3fdf05cb0a4c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67903eb2b84c6c" /><Relationship Type="http://schemas.openxmlformats.org/officeDocument/2006/relationships/hyperlink" Target="https://github.com/ahansardar/ai-confidence-drift" TargetMode="External" Id="R0761bea4929e49f7" /><Relationship Type="http://schemas.openxmlformats.org/officeDocument/2006/relationships/notesSlide" Target="/ppt/notesSlides/notesSlide1.xml" Id="Re9894d66845145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a5950b1744c60" /><Relationship Type="http://schemas.openxmlformats.org/officeDocument/2006/relationships/notesSlide" Target="/ppt/notesSlides/notesSlide2.xml" Id="Rc8d344a6c02449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703db32604ea7" /><Relationship Type="http://schemas.openxmlformats.org/officeDocument/2006/relationships/notesSlide" Target="/ppt/notesSlides/notesSlide3.xml" Id="R20432f1694a045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5b94b82424c6c" /><Relationship Type="http://schemas.openxmlformats.org/officeDocument/2006/relationships/notesSlide" Target="/ppt/notesSlides/notesSlide4.xml" Id="R6d68913fc6824b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037b2b0af4219" /><Relationship Type="http://schemas.openxmlformats.org/officeDocument/2006/relationships/notesSlide" Target="/ppt/notesSlides/notesSlide5.xml" Id="R08a44002753c48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59f8599e94e0b" /><Relationship Type="http://schemas.openxmlformats.org/officeDocument/2006/relationships/chart" Target="/ppt/slides/charts/chart1.xml" Id="R149896512c7d4b01" /><Relationship Type="http://schemas.openxmlformats.org/officeDocument/2006/relationships/notesSlide" Target="/ppt/notesSlides/notesSlide6.xml" Id="Rd8710b78579042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9920cd9894e61" /><Relationship Type="http://schemas.openxmlformats.org/officeDocument/2006/relationships/notesSlide" Target="/ppt/notesSlides/notesSlide7.xml" Id="R3eebcf70708c46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33eb8ff6e4bf8" /><Relationship Type="http://schemas.openxmlformats.org/officeDocument/2006/relationships/chart" Target="/ppt/slides/charts/chart2.xml" Id="Rd3981c917bbf4443" /><Relationship Type="http://schemas.openxmlformats.org/officeDocument/2006/relationships/notesSlide" Target="/ppt/notesSlides/notesSlide8.xml" Id="R030e02f97d754f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3e14f02734769" /><Relationship Type="http://schemas.openxmlformats.org/officeDocument/2006/relationships/chart" Target="/ppt/slides/charts/chart3.xml" Id="Rb089bb00399e4e99" /><Relationship Type="http://schemas.openxmlformats.org/officeDocument/2006/relationships/notesSlide" Target="/ppt/notesSlides/notesSlide9.xml" Id="Rc91e21222ca04b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d7fdb0ed143d1" /><Relationship Type="http://schemas.openxmlformats.org/officeDocument/2006/relationships/notesSlide" Target="/ppt/notesSlides/notesSlide10.xml" Id="Rdd41b5791ac14a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6e8c6d4bd450d" /><Relationship Type="http://schemas.openxmlformats.org/officeDocument/2006/relationships/notesSlide" Target="/ppt/notesSlides/notesSlide11.xml" Id="Rd8f016e9f79d4ed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07d691def4ba5" /><Relationship Type="http://schemas.openxmlformats.org/officeDocument/2006/relationships/notesSlide" Target="/ppt/notesSlides/notesSlide12.xml" Id="R367ef33fd52b43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d0389ae2d4c73" /><Relationship Type="http://schemas.openxmlformats.org/officeDocument/2006/relationships/notesSlide" Target="/ppt/notesSlides/notesSlide13.xml" Id="Re66475a641544b5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cd37c670b4a8a" /><Relationship Type="http://schemas.openxmlformats.org/officeDocument/2006/relationships/hyperlink" Target="https://github.com/ahansardar/ai-confidence-drift" TargetMode="External" Id="R6ce4387a781d48f6" /><Relationship Type="http://schemas.openxmlformats.org/officeDocument/2006/relationships/notesSlide" Target="/ppt/notesSlides/notesSlide14.xml" Id="R565b22de749d419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doc_00947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Data'!$A$2:$A$7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0.719348323778</c:v>
                </c:pt>
                <c:pt idx="1">
                  <c:v>0.759857742655</c:v>
                </c:pt>
                <c:pt idx="2">
                  <c:v>0.715960064383</c:v>
                </c:pt>
                <c:pt idx="3">
                  <c:v>0.779436106036</c:v>
                </c:pt>
                <c:pt idx="4">
                  <c:v>0.734494194224</c:v>
                </c:pt>
                <c:pt idx="5">
                  <c:v>0.65024637782</c:v>
                </c:pt>
              </c:numCache>
            </c:numRef>
          </c:val>
          <c:smooth val="0"/>
        </c:ser>
        <c:ser>
          <c:idx val="1"/>
          <c:order val="1"/>
          <c:tx>
            <c:v>doc_00379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Data'!$C$2:$C$7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0.651263024184</c:v>
                </c:pt>
                <c:pt idx="1">
                  <c:v>0.622375661344</c:v>
                </c:pt>
                <c:pt idx="2">
                  <c:v>0.639477690662</c:v>
                </c:pt>
                <c:pt idx="3">
                  <c:v>0.554223020774</c:v>
                </c:pt>
                <c:pt idx="4">
                  <c:v>0.660040219646</c:v>
                </c:pt>
                <c:pt idx="5">
                  <c:v>0.61338156255</c:v>
                </c:pt>
              </c:numCache>
            </c:numRef>
          </c:val>
          <c:smooth val="0"/>
        </c:ser>
        <c:ser>
          <c:idx val="2"/>
          <c:order val="2"/>
          <c:tx>
            <c:v>doc_00862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Data'!$E$2:$E$7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Data'!$F$2:$F$7</c:f>
              <c:numCache>
                <c:formatCode>0.0</c:formatCode>
                <c:ptCount val="6"/>
                <c:pt idx="0">
                  <c:v>0.654961951257</c:v>
                </c:pt>
                <c:pt idx="1">
                  <c:v>0.634114026368</c:v>
                </c:pt>
                <c:pt idx="2">
                  <c:v>0.6025647027</c:v>
                </c:pt>
                <c:pt idx="3">
                  <c:v>0.651328412914</c:v>
                </c:pt>
                <c:pt idx="4">
                  <c:v>0.605972114083</c:v>
                </c:pt>
                <c:pt idx="5">
                  <c:v>0.594695141483</c:v>
                </c:pt>
              </c:numCache>
            </c:numRef>
          </c:val>
          <c:smooth val="0"/>
        </c:ser>
        <c:ser>
          <c:idx val="3"/>
          <c:order val="3"/>
          <c:tx>
            <c:v>doc_00666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Data'!$G$2:$G$7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Data'!$H$2:$H$7</c:f>
              <c:numCache>
                <c:formatCode>0.0</c:formatCode>
                <c:ptCount val="6"/>
                <c:pt idx="0">
                  <c:v>0.573958284012</c:v>
                </c:pt>
                <c:pt idx="1">
                  <c:v>0.587214607883</c:v>
                </c:pt>
                <c:pt idx="2">
                  <c:v>0.603181527254</c:v>
                </c:pt>
                <c:pt idx="3">
                  <c:v>0.575965645126</c:v>
                </c:pt>
                <c:pt idx="4">
                  <c:v>0.532733701042</c:v>
                </c:pt>
                <c:pt idx="5">
                  <c:v>0.600116323688</c:v>
                </c:pt>
              </c:numCache>
            </c:numRef>
          </c:val>
          <c:smooth val="0"/>
        </c:ser>
        <c:ser>
          <c:idx val="4"/>
          <c:order val="4"/>
          <c:tx>
            <c:v>doc_00906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Data'!$I$2:$I$7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Data'!$J$2:$J$7</c:f>
              <c:numCache>
                <c:formatCode>0.0</c:formatCode>
                <c:ptCount val="6"/>
                <c:pt idx="0">
                  <c:v>0.803287623609</c:v>
                </c:pt>
                <c:pt idx="1">
                  <c:v>0.782247690794</c:v>
                </c:pt>
                <c:pt idx="2">
                  <c:v>0.752273990641</c:v>
                </c:pt>
                <c:pt idx="3">
                  <c:v>0.700765789377</c:v>
                </c:pt>
                <c:pt idx="4">
                  <c:v>0.749902716815</c:v>
                </c:pt>
                <c:pt idx="5">
                  <c:v>0.7218809687</c:v>
                </c:pt>
              </c:numCache>
            </c:numRef>
          </c:val>
          <c:smooth val="0"/>
        </c:ser>
        <c:ser>
          <c:idx val="5"/>
          <c:order val="5"/>
          <c:tx>
            <c:v>doc_00682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Data'!$K$2:$K$7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Data'!$L$2:$L$7</c:f>
              <c:numCache>
                <c:formatCode>0.0</c:formatCode>
                <c:ptCount val="6"/>
                <c:pt idx="0">
                  <c:v>0.547705670064</c:v>
                </c:pt>
                <c:pt idx="1">
                  <c:v>0.529057843546</c:v>
                </c:pt>
                <c:pt idx="2">
                  <c:v>0.520742630581</c:v>
                </c:pt>
                <c:pt idx="3">
                  <c:v>0.519210703769</c:v>
                </c:pt>
                <c:pt idx="4">
                  <c:v>0.525511695583</c:v>
                </c:pt>
                <c:pt idx="5">
                  <c:v>0.535102525295</c:v>
                </c:pt>
              </c:numCache>
            </c:numRef>
          </c:val>
          <c:smooth val="0"/>
        </c:ser>
        <c:ser>
          <c:idx val="6"/>
          <c:order val="6"/>
          <c:tx>
            <c:v>doc_00653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Data'!$M$2:$M$7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Data'!$N$2:$N$7</c:f>
              <c:numCache>
                <c:formatCode>0.0</c:formatCode>
                <c:ptCount val="6"/>
                <c:pt idx="0">
                  <c:v>0.599758428292</c:v>
                </c:pt>
                <c:pt idx="1">
                  <c:v>0.550448651466</c:v>
                </c:pt>
                <c:pt idx="2">
                  <c:v>0.557847904289</c:v>
                </c:pt>
                <c:pt idx="3">
                  <c:v>0.651255992277</c:v>
                </c:pt>
                <c:pt idx="4">
                  <c:v>0.614750156933</c:v>
                </c:pt>
                <c:pt idx="5">
                  <c:v>0.538446294376</c:v>
                </c:pt>
              </c:numCache>
            </c:numRef>
          </c:val>
          <c:smooth val="0"/>
        </c:ser>
        <c:ser>
          <c:idx val="7"/>
          <c:order val="7"/>
          <c:tx>
            <c:v>doc_00750</c:v>
          </c:tx>
          <c:spPr>
            <a:ln xmlns:a="http://schemas.openxmlformats.org/drawingml/2006/main" w="28575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Data'!$O$2:$O$7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Data'!$P$2:$P$7</c:f>
              <c:numCache>
                <c:formatCode>0.0</c:formatCode>
                <c:ptCount val="6"/>
                <c:pt idx="0">
                  <c:v>0.963198276368</c:v>
                </c:pt>
                <c:pt idx="1">
                  <c:v>0.951794704782</c:v>
                </c:pt>
                <c:pt idx="2">
                  <c:v>0.950893635072</c:v>
                </c:pt>
                <c:pt idx="3">
                  <c:v>0.950536433004</c:v>
                </c:pt>
                <c:pt idx="4">
                  <c:v>0.947528281923</c:v>
                </c:pt>
                <c:pt idx="5">
                  <c:v>0.949225523566</c:v>
                </c:pt>
              </c:numCache>
            </c:numRef>
          </c:val>
          <c:smooth val="0"/>
        </c:ser>
        <c:ser>
          <c:idx val="8"/>
          <c:order val="8"/>
          <c:tx>
            <c:v>doc_00949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Data'!$Q$2:$Q$7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Data'!$R$2:$R$7</c:f>
              <c:numCache>
                <c:formatCode>0.0</c:formatCode>
                <c:ptCount val="6"/>
                <c:pt idx="0">
                  <c:v>0.708532227862</c:v>
                </c:pt>
                <c:pt idx="1">
                  <c:v>0.7334973885</c:v>
                </c:pt>
                <c:pt idx="2">
                  <c:v>0.698768398381</c:v>
                </c:pt>
                <c:pt idx="3">
                  <c:v>0.674598700135</c:v>
                </c:pt>
                <c:pt idx="4">
                  <c:v>0.650643222049</c:v>
                </c:pt>
                <c:pt idx="5">
                  <c:v>0.714768716563</c:v>
                </c:pt>
              </c:numCache>
            </c:numRef>
          </c:val>
          <c:smooth val="0"/>
        </c:ser>
        <c:ser>
          <c:idx val="9"/>
          <c:order val="9"/>
          <c:tx>
            <c:v>doc_01749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Data'!$S$2:$S$7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Data'!$T$2:$T$7</c:f>
              <c:numCache>
                <c:formatCode>0.0</c:formatCode>
                <c:ptCount val="6"/>
                <c:pt idx="0">
                  <c:v>0.728667954938</c:v>
                </c:pt>
                <c:pt idx="1">
                  <c:v>0.762369273157</c:v>
                </c:pt>
                <c:pt idx="2">
                  <c:v>0.753212408906</c:v>
                </c:pt>
                <c:pt idx="3">
                  <c:v>0.731961285524</c:v>
                </c:pt>
                <c:pt idx="4">
                  <c:v>0.751639954251</c:v>
                </c:pt>
                <c:pt idx="5">
                  <c:v>0.735266212207</c:v>
                </c:pt>
              </c:numCache>
            </c:numRef>
          </c:val>
          <c:smooth val="0"/>
        </c:ser>
        <c:ser>
          <c:idx val="10"/>
          <c:order val="10"/>
          <c:tx>
            <c:v>doc_01258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Data'!$U$2:$U$7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Data'!$V$2:$V$7</c:f>
              <c:numCache>
                <c:formatCode>0.0</c:formatCode>
                <c:ptCount val="6"/>
                <c:pt idx="0">
                  <c:v>0.591846293039</c:v>
                </c:pt>
                <c:pt idx="1">
                  <c:v>0.545772336168</c:v>
                </c:pt>
                <c:pt idx="2">
                  <c:v>0.621892145394</c:v>
                </c:pt>
                <c:pt idx="3">
                  <c:v>0.638648588279</c:v>
                </c:pt>
                <c:pt idx="4">
                  <c:v>0.511166197593</c:v>
                </c:pt>
                <c:pt idx="5">
                  <c:v>0.5432283627</c:v>
                </c:pt>
              </c:numCache>
            </c:numRef>
          </c:val>
          <c:smooth val="0"/>
        </c:ser>
        <c:ser>
          <c:idx val="11"/>
          <c:order val="11"/>
          <c:tx>
            <c:v>doc_01065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Data'!$W$2:$W$7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Data'!$X$2:$X$7</c:f>
              <c:numCache>
                <c:formatCode>0.0</c:formatCode>
                <c:ptCount val="6"/>
                <c:pt idx="0">
                  <c:v>0.562596053114</c:v>
                </c:pt>
                <c:pt idx="1">
                  <c:v>0.60434583868</c:v>
                </c:pt>
                <c:pt idx="2">
                  <c:v>0.573350875561</c:v>
                </c:pt>
                <c:pt idx="3">
                  <c:v>0.516305034727</c:v>
                </c:pt>
                <c:pt idx="4">
                  <c:v>0.536507176618</c:v>
                </c:pt>
                <c:pt idx="5">
                  <c:v>0.559754662177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Corruption level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53695F"/>
            </a:solidFill>
          </c:spPr>
          <c:cat>
            <c:strRef>
              <c:f>'Chart Data'!$A$2:$A$4</c:f>
              <c:strCache>
                <c:ptCount val="3"/>
                <c:pt idx="0">
                  <c:v>40–60%</c:v>
                </c:pt>
                <c:pt idx="1">
                  <c:v>60–80%</c:v>
                </c:pt>
                <c:pt idx="2">
                  <c:v>80–100%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0.634615384615</c:v>
                </c:pt>
                <c:pt idx="1">
                  <c:v>0.90134529148</c:v>
                </c:pt>
                <c:pt idx="2">
                  <c:v>0.933333333333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292B28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Confidence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Perfect calibration</c:v>
          </c:tx>
          <c:spPr>
            <a:ln xmlns:a="http://schemas.openxmlformats.org/drawingml/2006/main" w="14288">
              <a:solidFill>
                <a:srgbClr val="A9ADA7"/>
              </a:solidFill>
              <a:prstDash val="dash"/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accuracy</c:v>
          </c:tx>
          <c:spPr>
            <a:ln xmlns:a="http://schemas.openxmlformats.org/drawingml/2006/main" w="28575">
              <a:solidFill>
                <a:srgbClr val="53695F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53695F"/>
              </a:solidFill>
            </c:spPr>
          </c:marker>
          <c:xVal>
            <c:numRef>
              <c:f>'Chart Data'!$C$2:$C$6</c:f>
              <c:numCache>
                <c:formatCode>General</c:formatCode>
                <c:ptCount val="5"/>
                <c:pt idx="0">
                  <c:v>0.554576604908</c:v>
                </c:pt>
                <c:pt idx="1">
                  <c:v>0.648322988615</c:v>
                </c:pt>
                <c:pt idx="2">
                  <c:v>0.744525584625</c:v>
                </c:pt>
                <c:pt idx="3">
                  <c:v>0.850104991077</c:v>
                </c:pt>
                <c:pt idx="4">
                  <c:v>0.919791378033</c:v>
                </c:pt>
              </c:numCache>
            </c:numRef>
          </c:xVal>
          <c:yVal>
            <c:numRef>
              <c:f>'Chart Data'!$D$2:$D$6</c:f>
              <c:numCache>
                <c:formatCode>0.0</c:formatCode>
                <c:ptCount val="5"/>
                <c:pt idx="0">
                  <c:v>0.634615384615</c:v>
                </c:pt>
                <c:pt idx="1">
                  <c:v>0.866666666667</c:v>
                </c:pt>
                <c:pt idx="2">
                  <c:v>0.954545454545</c:v>
                </c:pt>
                <c:pt idx="3">
                  <c:v>0.96</c:v>
                </c:pt>
                <c:pt idx="4">
                  <c:v>0.8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Observed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Mean predicted confidence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636761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71D16FAE-2BB8-4E3E-92BD-4D468AEC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" name="PRANAVX LABS">
            <a:extLst xmlns:a="http://schemas.openxmlformats.org/drawingml/2006/main">
              <a:ext uri="{FF2B5EF4-FFF2-40B4-BE49-F238E27FC236}">
                <a16:creationId xmlns:a16="http://schemas.microsoft.com/office/drawing/2014/main" id="{7C38DCCF-01AF-4EBA-AD56-BE554E93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PRANAVX LABS</a:t>
            </a:r>
          </a:p>
        </p:txBody>
      </p:sp>
      <p:sp>
        <p:nvSpPr>
          <p:cNvPr id="3" name="AI/ML Internship">
            <a:extLst xmlns:a="http://schemas.openxmlformats.org/drawingml/2006/main">
              <a:ext uri="{FF2B5EF4-FFF2-40B4-BE49-F238E27FC236}">
                <a16:creationId xmlns:a16="http://schemas.microsoft.com/office/drawing/2014/main" id="{66325646-0385-42BC-9C9C-31E306CF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429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AI/ML Internship</a:t>
            </a:r>
          </a:p>
        </p:txBody>
      </p:sp>
      <p:sp>
        <p:nvSpPr>
          <p:cNvPr id="4" name="AI Confidence">
            <a:extLst xmlns:a="http://schemas.openxmlformats.org/drawingml/2006/main">
              <a:ext uri="{FF2B5EF4-FFF2-40B4-BE49-F238E27FC236}">
                <a16:creationId xmlns:a16="http://schemas.microsoft.com/office/drawing/2014/main" id="{971773B8-40F4-44A8-A813-A48F566C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08299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AI Confidence</a:t>
            </a:r>
          </a:p>
        </p:txBody>
      </p:sp>
      <p:sp>
        <p:nvSpPr>
          <p:cNvPr id="5" name="Drift Detection">
            <a:extLst xmlns:a="http://schemas.openxmlformats.org/drawingml/2006/main">
              <a:ext uri="{FF2B5EF4-FFF2-40B4-BE49-F238E27FC236}">
                <a16:creationId xmlns:a16="http://schemas.microsoft.com/office/drawing/2014/main" id="{41340B23-BD18-4F92-8DEB-ADC8131E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1775"/>
            <a:ext cx="10829925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Drift Detection</a:t>
            </a:r>
          </a:p>
        </p:txBody>
      </p:sp>
      <p:sp>
        <p:nvSpPr>
          <p:cNvPr id="6" name="Using machine learning">
            <a:extLst xmlns:a="http://schemas.openxmlformats.org/drawingml/2006/main">
              <a:ext uri="{FF2B5EF4-FFF2-40B4-BE49-F238E27FC236}">
                <a16:creationId xmlns:a16="http://schemas.microsoft.com/office/drawing/2014/main" id="{86AF68D6-7CEE-4D80-9964-4E7598E8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Using machine learning</a:t>
            </a:r>
          </a:p>
        </p:txBody>
      </p:sp>
      <p:sp>
        <p:nvSpPr>
          <p:cNvPr id="7" name="Can changes in confidence help identify&#10;unreliable">
            <a:extLst xmlns:a="http://schemas.openxmlformats.org/drawingml/2006/main">
              <a:ext uri="{FF2B5EF4-FFF2-40B4-BE49-F238E27FC236}">
                <a16:creationId xmlns:a16="http://schemas.microsoft.com/office/drawing/2014/main" id="{1E21ECE7-DE29-4C49-90C0-14B79EE4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05400"/>
            <a:ext cx="7219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Can changes in confidence help identify</a:t>
            </a:r>
          </a:p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unreliable predictions?</a:t>
            </a:r>
          </a:p>
        </p:txBody>
      </p:sp>
      <p:sp>
        <p:nvSpPr>
          <p:cNvPr id="8" name="Research project">
            <a:extLst xmlns:a="http://schemas.openxmlformats.org/drawingml/2006/main">
              <a:ext uri="{FF2B5EF4-FFF2-40B4-BE49-F238E27FC236}">
                <a16:creationId xmlns:a16="http://schemas.microsoft.com/office/drawing/2014/main" id="{D457C1BB-DC61-401C-9A17-AD4C3F27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6386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Research project</a:t>
            </a:r>
          </a:p>
        </p:txBody>
      </p:sp>
      <p:sp>
        <p:nvSpPr>
          <p:cNvPr id="9" name="Prepared by Ahan">
            <a:extLst xmlns:a="http://schemas.openxmlformats.org/drawingml/2006/main">
              <a:ext uri="{FF2B5EF4-FFF2-40B4-BE49-F238E27FC236}">
                <a16:creationId xmlns:a16="http://schemas.microsoft.com/office/drawing/2014/main" id="{543238AF-6750-4F70-99C0-4F4C94F3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51149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Prepared by Ahan</a:t>
            </a:r>
          </a:p>
        </p:txBody>
      </p:sp>
      <p:sp>
        <p:nvSpPr>
          <p:cNvPr id="10" name="github.com/ahansardar/ai-confidence-drift">
            <a:extLst xmlns:a="http://schemas.openxmlformats.org/drawingml/2006/main">
              <a:ext uri="{FF2B5EF4-FFF2-40B4-BE49-F238E27FC236}">
                <a16:creationId xmlns:a16="http://schemas.microsoft.com/office/drawing/2014/main" id="{53344CDC-C192-47E0-B90E-03023C0A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296025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61bea4929e49f7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13710380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onfidence problem">
            <a:extLst xmlns:a="http://schemas.openxmlformats.org/drawingml/2006/main">
              <a:ext uri="{FF2B5EF4-FFF2-40B4-BE49-F238E27FC236}">
                <a16:creationId xmlns:a16="http://schemas.microsoft.com/office/drawing/2014/main" id="{C544689A-B8FE-4722-9F6F-95C2FFF8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confidence problem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04771171-DA36-46E2-A6C6-EFCD7DB5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" name="96.3%">
            <a:extLst xmlns:a="http://schemas.openxmlformats.org/drawingml/2006/main">
              <a:ext uri="{FF2B5EF4-FFF2-40B4-BE49-F238E27FC236}">
                <a16:creationId xmlns:a16="http://schemas.microsoft.com/office/drawing/2014/main" id="{FC012203-B4DD-41BB-BC0E-5204A78E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04975"/>
            <a:ext cx="542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96.3%</a:t>
            </a:r>
          </a:p>
        </p:txBody>
      </p:sp>
      <p:sp>
        <p:nvSpPr>
          <p:cNvPr id="4" name="confident. Still wrong.">
            <a:extLst xmlns:a="http://schemas.openxmlformats.org/drawingml/2006/main">
              <a:ext uri="{FF2B5EF4-FFF2-40B4-BE49-F238E27FC236}">
                <a16:creationId xmlns:a16="http://schemas.microsoft.com/office/drawing/2014/main" id="{735BC8AE-79F5-4A1F-BC83-1A5AF63A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5191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confident. Still wrong.</a:t>
            </a:r>
          </a:p>
        </p:txBody>
      </p:sp>
      <p:sp>
        <p:nvSpPr>
          <p:cNvPr id="5" name="One observed prediction&#10;Document doc_00750">
            <a:extLst xmlns:a="http://schemas.openxmlformats.org/drawingml/2006/main">
              <a:ext uri="{FF2B5EF4-FFF2-40B4-BE49-F238E27FC236}">
                <a16:creationId xmlns:a16="http://schemas.microsoft.com/office/drawing/2014/main" id="{FF4EB140-F2A6-465F-9386-945927EB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4667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One observed prediction</a:t>
            </a:r>
          </a:p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Document doc_00750</a:t>
            </a:r>
          </a:p>
        </p:txBody>
      </p:sp>
      <p:sp>
        <p:nvSpPr>
          <p:cNvPr id="6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344BC25B-0B37-4E20-B067-C03D0489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526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Confident errors</a:t>
            </a:r>
          </a:p>
        </p:txBody>
      </p:sp>
      <p:sp>
        <p:nvSpPr>
          <p:cNvPr id="7" name="A model can be highly confident about an incorrect">
            <a:extLst xmlns:a="http://schemas.openxmlformats.org/drawingml/2006/main">
              <a:ext uri="{FF2B5EF4-FFF2-40B4-BE49-F238E27FC236}">
                <a16:creationId xmlns:a16="http://schemas.microsoft.com/office/drawing/2014/main" id="{72921DCB-CA45-49BB-830C-158CB7EF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027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 model can be highly confident about an incorrect prediction.</a:t>
            </a:r>
          </a:p>
        </p:txBody>
      </p:sp>
      <p:sp>
        <p:nvSpPr>
          <p:cNvPr id="8" name="Unstable confidence">
            <a:extLst xmlns:a="http://schemas.openxmlformats.org/drawingml/2006/main">
              <a:ext uri="{FF2B5EF4-FFF2-40B4-BE49-F238E27FC236}">
                <a16:creationId xmlns:a16="http://schemas.microsoft.com/office/drawing/2014/main" id="{D4154C3F-86E1-4754-A721-BD6FDB2F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90875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Unstable confidence</a:t>
            </a:r>
          </a:p>
        </p:txBody>
      </p:sp>
      <p:sp>
        <p:nvSpPr>
          <p:cNvPr id="9" name="Confidence can change across similar inputs withou">
            <a:extLst xmlns:a="http://schemas.openxmlformats.org/drawingml/2006/main">
              <a:ext uri="{FF2B5EF4-FFF2-40B4-BE49-F238E27FC236}">
                <a16:creationId xmlns:a16="http://schemas.microsoft.com/office/drawing/2014/main" id="{E373731F-A363-415E-AA8A-BE99BC71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 can change across similar inputs without tracking correctness.</a:t>
            </a:r>
          </a:p>
        </p:txBody>
      </p:sp>
      <p:sp>
        <p:nvSpPr>
          <p:cNvPr id="10" name="Increasing difficulty">
            <a:extLst xmlns:a="http://schemas.openxmlformats.org/drawingml/2006/main">
              <a:ext uri="{FF2B5EF4-FFF2-40B4-BE49-F238E27FC236}">
                <a16:creationId xmlns:a16="http://schemas.microsoft.com/office/drawing/2014/main" id="{10851FBE-B36D-4E54-8D2C-8F0A287F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291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Increasing difficulty</a:t>
            </a:r>
          </a:p>
        </p:txBody>
      </p:sp>
      <p:sp>
        <p:nvSpPr>
          <p:cNvPr id="11" name="Lower confidence may accompany harder inputs. The ">
            <a:extLst xmlns:a="http://schemas.openxmlformats.org/drawingml/2006/main">
              <a:ext uri="{FF2B5EF4-FFF2-40B4-BE49-F238E27FC236}">
                <a16:creationId xmlns:a16="http://schemas.microsoft.com/office/drawing/2014/main" id="{0093AA87-1CFE-4891-BF20-31B6408A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Lower confidence may accompany harder inputs. The link to accuracy needs testing.</a:t>
            </a:r>
          </a:p>
        </p:txBody>
      </p:sp>
    </p:spTree>
    <p:extLst>
      <p:ext uri="{BB962C8B-B14F-4D97-AF65-F5344CB8AC3E}">
        <p14:creationId xmlns:p14="http://schemas.microsoft.com/office/powerpoint/2010/main" val="4274186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search question">
            <a:extLst xmlns:a="http://schemas.openxmlformats.org/drawingml/2006/main">
              <a:ext uri="{FF2B5EF4-FFF2-40B4-BE49-F238E27FC236}">
                <a16:creationId xmlns:a16="http://schemas.microsoft.com/office/drawing/2014/main" id="{CBB5DDEB-E77B-4D13-97E7-2E009252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Research question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E0D49C05-D6BC-4FBD-A956-46231265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" name="Can changes in a model’s confidence">
            <a:extLst xmlns:a="http://schemas.openxmlformats.org/drawingml/2006/main">
              <a:ext uri="{FF2B5EF4-FFF2-40B4-BE49-F238E27FC236}">
                <a16:creationId xmlns:a16="http://schemas.microsoft.com/office/drawing/2014/main" id="{D44C6F25-E668-4590-897B-39AD320E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Can changes in a model’s confidence</a:t>
            </a:r>
          </a:p>
        </p:txBody>
      </p:sp>
      <p:sp>
        <p:nvSpPr>
          <p:cNvPr id="4" name="help identify predictions that are">
            <a:extLst xmlns:a="http://schemas.openxmlformats.org/drawingml/2006/main">
              <a:ext uri="{FF2B5EF4-FFF2-40B4-BE49-F238E27FC236}">
                <a16:creationId xmlns:a16="http://schemas.microsoft.com/office/drawing/2014/main" id="{23E346B2-446A-4FBF-B209-56FF9FA0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help identify predictions that are</a:t>
            </a:r>
          </a:p>
        </p:txBody>
      </p:sp>
      <p:sp>
        <p:nvSpPr>
          <p:cNvPr id="5" name="likely to be unreliable?">
            <a:extLst xmlns:a="http://schemas.openxmlformats.org/drawingml/2006/main">
              <a:ext uri="{FF2B5EF4-FFF2-40B4-BE49-F238E27FC236}">
                <a16:creationId xmlns:a16="http://schemas.microsoft.com/office/drawing/2014/main" id="{093EEE56-96AD-483F-852D-0120EFAF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037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likely to be unreliable?</a:t>
            </a:r>
          </a:p>
        </p:txBody>
      </p:sp>
      <p:sp>
        <p:nvSpPr>
          <p:cNvPr id="6" name="The hypothesis">
            <a:extLst xmlns:a="http://schemas.openxmlformats.org/drawingml/2006/main">
              <a:ext uri="{FF2B5EF4-FFF2-40B4-BE49-F238E27FC236}">
                <a16:creationId xmlns:a16="http://schemas.microsoft.com/office/drawing/2014/main" id="{8E3CEFDB-9DF9-4E77-951D-8CE880A1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The hypothesis</a:t>
            </a:r>
          </a:p>
        </p:txBody>
      </p:sp>
      <p:sp>
        <p:nvSpPr>
          <p:cNvPr id="7" name="Confidence history may help predict errors after a">
            <a:extLst xmlns:a="http://schemas.openxmlformats.org/drawingml/2006/main">
              <a:ext uri="{FF2B5EF4-FFF2-40B4-BE49-F238E27FC236}">
                <a16:creationId xmlns:a16="http://schemas.microsoft.com/office/drawing/2014/main" id="{D558C46F-29B2-47A8-A35C-512CF5D5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191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history may help predict errors after accounting for the current confidence value and corruption level.</a:t>
            </a:r>
          </a:p>
        </p:txBody>
      </p:sp>
      <p:sp>
        <p:nvSpPr>
          <p:cNvPr id="8" name="The A/B/C comparison isolates each additional sour">
            <a:extLst xmlns:a="http://schemas.openxmlformats.org/drawingml/2006/main">
              <a:ext uri="{FF2B5EF4-FFF2-40B4-BE49-F238E27FC236}">
                <a16:creationId xmlns:a16="http://schemas.microsoft.com/office/drawing/2014/main" id="{0ADEA8BE-F461-4334-9F18-37F2360E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38800"/>
            <a:ext cx="719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A/B/C comparison isolates each additional source of information.</a:t>
            </a:r>
          </a:p>
        </p:txBody>
      </p:sp>
    </p:spTree>
    <p:extLst>
      <p:ext uri="{BB962C8B-B14F-4D97-AF65-F5344CB8AC3E}">
        <p14:creationId xmlns:p14="http://schemas.microsoft.com/office/powerpoint/2010/main" val="1840597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ask and dataset">
            <a:extLst xmlns:a="http://schemas.openxmlformats.org/drawingml/2006/main">
              <a:ext uri="{FF2B5EF4-FFF2-40B4-BE49-F238E27FC236}">
                <a16:creationId xmlns:a16="http://schemas.microsoft.com/office/drawing/2014/main" id="{D2479BE3-0DE3-4189-9B8C-AF53A65D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Task and dataset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F8E87241-623A-490E-A1CF-24647D54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" name="1,754">
            <a:extLst xmlns:a="http://schemas.openxmlformats.org/drawingml/2006/main">
              <a:ext uri="{FF2B5EF4-FFF2-40B4-BE49-F238E27FC236}">
                <a16:creationId xmlns:a16="http://schemas.microsoft.com/office/drawing/2014/main" id="{7836D0F5-0886-4262-A913-ECB47302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71625"/>
            <a:ext cx="5000625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1,754</a:t>
            </a:r>
          </a:p>
        </p:txBody>
      </p:sp>
      <p:sp>
        <p:nvSpPr>
          <p:cNvPr id="4" name="documents from 20 Newsgroups">
            <a:extLst xmlns:a="http://schemas.openxmlformats.org/drawingml/2006/main">
              <a:ext uri="{FF2B5EF4-FFF2-40B4-BE49-F238E27FC236}">
                <a16:creationId xmlns:a16="http://schemas.microsoft.com/office/drawing/2014/main" id="{CF93DDE4-53C3-4DD5-94EE-2202D614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4905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documents from 20 Newsgroups</a:t>
            </a:r>
          </a:p>
        </p:txBody>
      </p:sp>
      <p:sp>
        <p:nvSpPr>
          <p:cNvPr id="5" name="1,315 training / 439 test">
            <a:extLst xmlns:a="http://schemas.openxmlformats.org/drawingml/2006/main">
              <a:ext uri="{FF2B5EF4-FFF2-40B4-BE49-F238E27FC236}">
                <a16:creationId xmlns:a16="http://schemas.microsoft.com/office/drawing/2014/main" id="{C4B99F11-BD5A-4D4E-BB32-ACC8BDDD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1,315 training / 439 test</a:t>
            </a:r>
          </a:p>
        </p:txBody>
      </p:sp>
      <p:sp>
        <p:nvSpPr>
          <p:cNvPr id="6" name="Stratified split&#10;44.4% / 55.6% class balance">
            <a:extLst xmlns:a="http://schemas.openxmlformats.org/drawingml/2006/main">
              <a:ext uri="{FF2B5EF4-FFF2-40B4-BE49-F238E27FC236}">
                <a16:creationId xmlns:a16="http://schemas.microsoft.com/office/drawing/2014/main" id="{038A4AE5-9767-406B-BB78-FC6B3C2C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762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Stratified split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44.4% / 55.6% class balance</a:t>
            </a:r>
          </a:p>
        </p:txBody>
      </p:sp>
      <p:sp>
        <p:nvSpPr>
          <p:cNvPr id="7" name="Binary text classification">
            <a:extLst xmlns:a="http://schemas.openxmlformats.org/drawingml/2006/main">
              <a:ext uri="{FF2B5EF4-FFF2-40B4-BE49-F238E27FC236}">
                <a16:creationId xmlns:a16="http://schemas.microsoft.com/office/drawing/2014/main" id="{F2EFE2ED-FC92-4A84-A743-8D491D90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04975"/>
            <a:ext cx="5095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Binary text classification</a:t>
            </a:r>
          </a:p>
        </p:txBody>
      </p:sp>
      <p:sp>
        <p:nvSpPr>
          <p:cNvPr id="8" name="alt.atheism&#10;soc.religion.christian">
            <a:extLst xmlns:a="http://schemas.openxmlformats.org/drawingml/2006/main">
              <a:ext uri="{FF2B5EF4-FFF2-40B4-BE49-F238E27FC236}">
                <a16:creationId xmlns:a16="http://schemas.microsoft.com/office/drawing/2014/main" id="{A7936AE6-2FE2-4D73-BC05-405151D7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33625"/>
            <a:ext cx="5095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alt.atheism</a:t>
            </a:r>
          </a:p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soc.religion.christian</a:t>
            </a:r>
          </a:p>
        </p:txBody>
      </p:sp>
      <p:sp>
        <p:nvSpPr>
          <p:cNvPr id="9" name="Overlapping vocabulary makes the task less trivial">
            <a:extLst xmlns:a="http://schemas.openxmlformats.org/drawingml/2006/main">
              <a:ext uri="{FF2B5EF4-FFF2-40B4-BE49-F238E27FC236}">
                <a16:creationId xmlns:a16="http://schemas.microsoft.com/office/drawing/2014/main" id="{81B8A87B-3208-49AD-9B04-C416982F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76625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Overlapping vocabulary makes the task less trivial.</a:t>
            </a:r>
          </a:p>
        </p:txBody>
      </p:sp>
      <p:sp>
        <p:nvSpPr>
          <p:cNvPr id="10" name="Headers, footers and quoted text removed to reduce">
            <a:extLst xmlns:a="http://schemas.openxmlformats.org/drawingml/2006/main">
              <a:ext uri="{FF2B5EF4-FFF2-40B4-BE49-F238E27FC236}">
                <a16:creationId xmlns:a16="http://schemas.microsoft.com/office/drawing/2014/main" id="{020B8458-D3CA-4DC7-8145-3B492011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3865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Headers, footers and quoted text removed to reduce metadata leakage.</a:t>
            </a:r>
          </a:p>
        </p:txBody>
      </p:sp>
      <p:sp>
        <p:nvSpPr>
          <p:cNvPr id="11" name="Ground truth: the newsgroup that published each po">
            <a:extLst xmlns:a="http://schemas.openxmlformats.org/drawingml/2006/main">
              <a:ext uri="{FF2B5EF4-FFF2-40B4-BE49-F238E27FC236}">
                <a16:creationId xmlns:a16="http://schemas.microsoft.com/office/drawing/2014/main" id="{588B0FCD-15F8-43C4-A043-4CC3AC6F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438775"/>
            <a:ext cx="495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Ground truth: the newsgroup that published each post.</a:t>
            </a:r>
          </a:p>
        </p:txBody>
      </p:sp>
      <p:sp>
        <p:nvSpPr>
          <p:cNvPr id="12" name="Source: scikit-learn’s official 20 Newsgroups mirr">
            <a:extLst xmlns:a="http://schemas.openxmlformats.org/drawingml/2006/main">
              <a:ext uri="{FF2B5EF4-FFF2-40B4-BE49-F238E27FC236}">
                <a16:creationId xmlns:a16="http://schemas.microsoft.com/office/drawing/2014/main" id="{6CE91A94-1098-447B-8661-DD33C71A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Source: scikit-learn’s official 20 Newsgroups mirror (fetch_20newsgroups)</a:t>
            </a:r>
          </a:p>
        </p:txBody>
      </p:sp>
    </p:spTree>
    <p:extLst>
      <p:ext uri="{BB962C8B-B14F-4D97-AF65-F5344CB8AC3E}">
        <p14:creationId xmlns:p14="http://schemas.microsoft.com/office/powerpoint/2010/main" val="15402592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he research pipeline">
            <a:extLst xmlns:a="http://schemas.openxmlformats.org/drawingml/2006/main">
              <a:ext uri="{FF2B5EF4-FFF2-40B4-BE49-F238E27FC236}">
                <a16:creationId xmlns:a16="http://schemas.microsoft.com/office/drawing/2014/main" id="{BA1C75B5-2054-4EBB-8FC4-4C8C351D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research pipeline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50254A2F-D584-4012-AD57-D76D0C08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29CACF53-D3BA-48BF-89BA-37DBCBB2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4" name="Train the base classifier">
            <a:extLst xmlns:a="http://schemas.openxmlformats.org/drawingml/2006/main">
              <a:ext uri="{FF2B5EF4-FFF2-40B4-BE49-F238E27FC236}">
                <a16:creationId xmlns:a16="http://schemas.microsoft.com/office/drawing/2014/main" id="{EDB2E9DD-3677-4533-94C5-3BA5A640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16002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the base classifier</a:t>
            </a:r>
          </a:p>
        </p:txBody>
      </p:sp>
      <p:sp>
        <p:nvSpPr>
          <p:cNvPr id="5" name="TF-IDF + Logistic Regression for text classificati">
            <a:extLst xmlns:a="http://schemas.openxmlformats.org/drawingml/2006/main">
              <a:ext uri="{FF2B5EF4-FFF2-40B4-BE49-F238E27FC236}">
                <a16:creationId xmlns:a16="http://schemas.microsoft.com/office/drawing/2014/main" id="{DABD8C5A-71A2-44C6-B66E-646A6EA7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0002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TF-IDF + Logistic Regression for text classification.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3717B9A7-FF26-4A96-B9DE-626A9125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7" name="Generate confidence sequences">
            <a:extLst xmlns:a="http://schemas.openxmlformats.org/drawingml/2006/main">
              <a:ext uri="{FF2B5EF4-FFF2-40B4-BE49-F238E27FC236}">
                <a16:creationId xmlns:a16="http://schemas.microsoft.com/office/drawing/2014/main" id="{86E00576-0C47-4273-ABFA-9A8C153F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5336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Generate confidence sequences</a:t>
            </a:r>
          </a:p>
        </p:txBody>
      </p:sp>
      <p:sp>
        <p:nvSpPr>
          <p:cNvPr id="8" name="Re-classify each test document at six corruption l">
            <a:extLst xmlns:a="http://schemas.openxmlformats.org/drawingml/2006/main">
              <a:ext uri="{FF2B5EF4-FFF2-40B4-BE49-F238E27FC236}">
                <a16:creationId xmlns:a16="http://schemas.microsoft.com/office/drawing/2014/main" id="{063DBAD6-CC1F-4835-8B54-38803F37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9337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Re-classify each test document at six corruption levels.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64F98C74-F0B1-4B30-8E52-228FB752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0" name="Engineer drift features">
            <a:extLst xmlns:a="http://schemas.openxmlformats.org/drawingml/2006/main">
              <a:ext uri="{FF2B5EF4-FFF2-40B4-BE49-F238E27FC236}">
                <a16:creationId xmlns:a16="http://schemas.microsoft.com/office/drawing/2014/main" id="{F9AC82F7-F82B-4F9A-B7EF-25C2A715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67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Engineer drift features</a:t>
            </a:r>
          </a:p>
        </p:txBody>
      </p:sp>
      <p:sp>
        <p:nvSpPr>
          <p:cNvPr id="11" name="Moving statistics, deltas, consecutive drops and m">
            <a:extLst xmlns:a="http://schemas.openxmlformats.org/drawingml/2006/main">
              <a:ext uri="{FF2B5EF4-FFF2-40B4-BE49-F238E27FC236}">
                <a16:creationId xmlns:a16="http://schemas.microsoft.com/office/drawing/2014/main" id="{91896094-D077-4A34-A88F-015D00AD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8671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Moving statistics, deltas, consecutive drops and margin.</a:t>
            </a:r>
          </a:p>
        </p:txBody>
      </p:sp>
      <p:sp>
        <p:nvSpPr>
          <p:cNvPr id="12" name="04">
            <a:extLst xmlns:a="http://schemas.openxmlformats.org/drawingml/2006/main">
              <a:ext uri="{FF2B5EF4-FFF2-40B4-BE49-F238E27FC236}">
                <a16:creationId xmlns:a16="http://schemas.microsoft.com/office/drawing/2014/main" id="{0C436AE3-DABB-4F82-A297-ADAD75E3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3" name="Train a second model">
            <a:extLst xmlns:a="http://schemas.openxmlformats.org/drawingml/2006/main">
              <a:ext uri="{FF2B5EF4-FFF2-40B4-BE49-F238E27FC236}">
                <a16:creationId xmlns:a16="http://schemas.microsoft.com/office/drawing/2014/main" id="{2BFBD160-1D01-4D92-93BC-B84E4C2C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005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a second model</a:t>
            </a:r>
          </a:p>
        </p:txBody>
      </p:sp>
      <p:sp>
        <p:nvSpPr>
          <p:cNvPr id="14" name="Predict whether a classification is unreliable.">
            <a:extLst xmlns:a="http://schemas.openxmlformats.org/drawingml/2006/main">
              <a:ext uri="{FF2B5EF4-FFF2-40B4-BE49-F238E27FC236}">
                <a16:creationId xmlns:a16="http://schemas.microsoft.com/office/drawing/2014/main" id="{F0159E9C-7051-4854-AD7F-0C51B4EE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8006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Predict whether a classification is unreliable.</a:t>
            </a:r>
          </a:p>
        </p:txBody>
      </p:sp>
      <p:sp>
        <p:nvSpPr>
          <p:cNvPr id="15" name="05">
            <a:extLst xmlns:a="http://schemas.openxmlformats.org/drawingml/2006/main">
              <a:ext uri="{FF2B5EF4-FFF2-40B4-BE49-F238E27FC236}">
                <a16:creationId xmlns:a16="http://schemas.microsoft.com/office/drawing/2014/main" id="{F4C5BE3F-E388-403C-ADB5-B8D16FA9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16" name="Evaluate the detector">
            <a:extLst xmlns:a="http://schemas.openxmlformats.org/drawingml/2006/main">
              <a:ext uri="{FF2B5EF4-FFF2-40B4-BE49-F238E27FC236}">
                <a16:creationId xmlns:a16="http://schemas.microsoft.com/office/drawing/2014/main" id="{7B57767A-ADE8-4598-8328-1A9946A5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4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Evaluate the detector</a:t>
            </a:r>
          </a:p>
        </p:txBody>
      </p:sp>
      <p:sp>
        <p:nvSpPr>
          <p:cNvPr id="17" name="Calibration, high-confidence errors and an A/B/C c">
            <a:extLst xmlns:a="http://schemas.openxmlformats.org/drawingml/2006/main">
              <a:ext uri="{FF2B5EF4-FFF2-40B4-BE49-F238E27FC236}">
                <a16:creationId xmlns:a16="http://schemas.microsoft.com/office/drawing/2014/main" id="{85A2B197-5486-4629-8012-C9A7CC32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340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Calibration, high-confidence errors and an A/B/C comparison.</a:t>
            </a:r>
          </a:p>
        </p:txBody>
      </p:sp>
    </p:spTree>
    <p:extLst>
      <p:ext uri="{BB962C8B-B14F-4D97-AF65-F5344CB8AC3E}">
        <p14:creationId xmlns:p14="http://schemas.microsoft.com/office/powerpoint/2010/main" val="17882097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w confidence changes">
            <a:extLst xmlns:a="http://schemas.openxmlformats.org/drawingml/2006/main">
              <a:ext uri="{FF2B5EF4-FFF2-40B4-BE49-F238E27FC236}">
                <a16:creationId xmlns:a16="http://schemas.microsoft.com/office/drawing/2014/main" id="{6B8B20E9-A271-452F-86DB-B3E66775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How confidence changes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E60B5DBE-3E47-4206-A647-28CDC0A1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" name="Six levels, from 0% to 50% of words removed and sh">
            <a:extLst xmlns:a="http://schemas.openxmlformats.org/drawingml/2006/main">
              <a:ext uri="{FF2B5EF4-FFF2-40B4-BE49-F238E27FC236}">
                <a16:creationId xmlns:a16="http://schemas.microsoft.com/office/drawing/2014/main" id="{8DA14C6D-8653-45E6-AB69-85B962A6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Six levels, from 0% to 50% of words removed and shuffled. Each confidence value is a real model output.</a:t>
            </a:r>
          </a:p>
        </p:txBody>
      </p:sp>
      <p:sp>
        <p:nvSpPr>
          <p:cNvPr id="4" name="Two contrasting examples">
            <a:extLst xmlns:a="http://schemas.openxmlformats.org/drawingml/2006/main">
              <a:ext uri="{FF2B5EF4-FFF2-40B4-BE49-F238E27FC236}">
                <a16:creationId xmlns:a16="http://schemas.microsoft.com/office/drawing/2014/main" id="{B61330A4-8D47-494C-B3B1-474E7B8B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76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contrasting examples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66750" y="3048000"/>
          <a:ext xmlns:a="http://schemas.openxmlformats.org/drawingml/2006/main" cx="4762500" cy="2514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800100"/>
                <a:gridCol w="1981200"/>
                <a:gridCol w="1981200"/>
              </a:tblGrid>
              <a:tr h="4000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Step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doc_00750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doc_01280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0.963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0.889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0.682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0.842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Stayed wrong">
            <a:extLst xmlns:a="http://schemas.openxmlformats.org/drawingml/2006/main">
              <a:ext uri="{FF2B5EF4-FFF2-40B4-BE49-F238E27FC236}">
                <a16:creationId xmlns:a16="http://schemas.microsoft.com/office/drawing/2014/main" id="{6B8F4928-6F78-404F-9340-76AF4E13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705100"/>
            <a:ext cx="1838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rPr>
              <a:t>Stayed wrong</a:t>
            </a:r>
          </a:p>
        </p:txBody>
      </p:sp>
      <p:sp>
        <p:nvSpPr>
          <p:cNvPr id="7" name="Stayed correct">
            <a:extLst xmlns:a="http://schemas.openxmlformats.org/drawingml/2006/main">
              <a:ext uri="{FF2B5EF4-FFF2-40B4-BE49-F238E27FC236}">
                <a16:creationId xmlns:a16="http://schemas.microsoft.com/office/drawing/2014/main" id="{F731E95B-0F03-4343-B59F-1B3AA8AB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05100"/>
            <a:ext cx="1895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rPr>
              <a:t>Stayed correct</a:t>
            </a:r>
          </a:p>
        </p:txBody>
      </p:sp>
      <p:sp>
        <p:nvSpPr>
          <p:cNvPr id="8" name="Confidence">
            <a:extLst xmlns:a="http://schemas.openxmlformats.org/drawingml/2006/main">
              <a:ext uri="{FF2B5EF4-FFF2-40B4-BE49-F238E27FC236}">
                <a16:creationId xmlns:a16="http://schemas.microsoft.com/office/drawing/2014/main" id="{A1030F70-C158-4C53-9036-EBC0461D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14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905500" y="2419350"/>
          <a:ext xmlns:a="http://schemas.openxmlformats.org/drawingml/2006/main" cx="5667375" cy="3314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9896512c7d4b01"/>
          </a:graphicData>
        </a:graphic>
      </p:graphicFrame>
      <p:sp>
        <p:nvSpPr>
          <p:cNvPr id="10" name="12 test documents. Green: correct at the final ste">
            <a:extLst xmlns:a="http://schemas.openxmlformats.org/drawingml/2006/main">
              <a:ext uri="{FF2B5EF4-FFF2-40B4-BE49-F238E27FC236}">
                <a16:creationId xmlns:a16="http://schemas.microsoft.com/office/drawing/2014/main" id="{A0DF926F-7B70-4989-ADA1-C4643A89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1977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12 test documents. Green: correct at the final step. Rust: incorrect.</a:t>
            </a:r>
          </a:p>
        </p:txBody>
      </p:sp>
      <p:sp>
        <p:nvSpPr>
          <p:cNvPr id="11" name="Sequences simulate repeated predictions through te">
            <a:extLst xmlns:a="http://schemas.openxmlformats.org/drawingml/2006/main">
              <a:ext uri="{FF2B5EF4-FFF2-40B4-BE49-F238E27FC236}">
                <a16:creationId xmlns:a16="http://schemas.microsoft.com/office/drawing/2014/main" id="{FB940171-0A88-4955-AD56-91F4CBC3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19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Sequences simulate repeated predictions through text corruption.</a:t>
            </a:r>
          </a:p>
        </p:txBody>
      </p:sp>
    </p:spTree>
    <p:extLst>
      <p:ext uri="{BB962C8B-B14F-4D97-AF65-F5344CB8AC3E}">
        <p14:creationId xmlns:p14="http://schemas.microsoft.com/office/powerpoint/2010/main" val="6358899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natomy of a confidence sequence">
            <a:extLst xmlns:a="http://schemas.openxmlformats.org/drawingml/2006/main">
              <a:ext uri="{FF2B5EF4-FFF2-40B4-BE49-F238E27FC236}">
                <a16:creationId xmlns:a16="http://schemas.microsoft.com/office/drawing/2014/main" id="{85AB06E6-13AE-4F60-8E7D-6DCC5C5F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Anatomy of a confidence sequence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6E20C1A7-88B4-4E16-9BFF-294E1E18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" name="13 features, compared with simpler baselines in th">
            <a:extLst xmlns:a="http://schemas.openxmlformats.org/drawingml/2006/main">
              <a:ext uri="{FF2B5EF4-FFF2-40B4-BE49-F238E27FC236}">
                <a16:creationId xmlns:a16="http://schemas.microsoft.com/office/drawing/2014/main" id="{0F409EE8-164E-4130-BB6D-BC7AE46A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66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13 features, compared with simpler baselines in the experiments.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66750" y="2190750"/>
          <a:ext xmlns:a="http://schemas.openxmlformats.org/drawingml/2006/main" cx="10810875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714625"/>
                <a:gridCol w="8096250"/>
              </a:tblGrid>
              <a:tr h="4762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Group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Context (2)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step, corruption_level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Current (2)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confidence, prediction_margin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History: change (4)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prev_confidence, confidence_diff,</a:t>
                      </a:r>
                    </a:p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confidence_pct_change, rate_of_change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History: pattern (5)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moving_avg_confidence, moving_std_confidence,</a:t>
                      </a:r>
                    </a:p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rolling_std_confidence, confidence_range_so_far, consecutive_decreases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99147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fidence carries signal">
            <a:extLst xmlns:a="http://schemas.openxmlformats.org/drawingml/2006/main">
              <a:ext uri="{FF2B5EF4-FFF2-40B4-BE49-F238E27FC236}">
                <a16:creationId xmlns:a16="http://schemas.microsoft.com/office/drawing/2014/main" id="{5AFFAB4E-1395-42C3-B6B7-BB0007AE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carries signal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BBEE5295-9367-44E3-AE2C-95415779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" name="Accuracy across 439 uncorrupted test predictions">
            <a:extLst xmlns:a="http://schemas.openxmlformats.org/drawingml/2006/main">
              <a:ext uri="{FF2B5EF4-FFF2-40B4-BE49-F238E27FC236}">
                <a16:creationId xmlns:a16="http://schemas.microsoft.com/office/drawing/2014/main" id="{272BDF23-2D50-487E-B4FD-2253DDE6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across 439 uncorrupted test predictions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28650" y="2171700"/>
          <a:ext xmlns:a="http://schemas.openxmlformats.org/drawingml/2006/main" cx="6429375" cy="3638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981c917bbf4443"/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7639050" y="2238375"/>
          <a:ext xmlns:a="http://schemas.openxmlformats.org/drawingml/2006/main" cx="3867150" cy="2286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533525"/>
                <a:gridCol w="733425"/>
                <a:gridCol w="1600200"/>
              </a:tblGrid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Confidence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40–60%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156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63.5%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60–80%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223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90.1%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80–100%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93.3%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Confidence carries signal, but calibration remains">
            <a:extLst xmlns:a="http://schemas.openxmlformats.org/drawingml/2006/main">
              <a:ext uri="{FF2B5EF4-FFF2-40B4-BE49-F238E27FC236}">
                <a16:creationId xmlns:a16="http://schemas.microsoft.com/office/drawing/2014/main" id="{76BF509B-373D-406B-BEF7-66FC564A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9434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signal, but calibration remains imperfect.</a:t>
            </a:r>
          </a:p>
        </p:txBody>
      </p:sp>
    </p:spTree>
    <p:extLst>
      <p:ext uri="{BB962C8B-B14F-4D97-AF65-F5344CB8AC3E}">
        <p14:creationId xmlns:p14="http://schemas.microsoft.com/office/powerpoint/2010/main" val="6697020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alibration gap">
            <a:extLst xmlns:a="http://schemas.openxmlformats.org/drawingml/2006/main">
              <a:ext uri="{FF2B5EF4-FFF2-40B4-BE49-F238E27FC236}">
                <a16:creationId xmlns:a16="http://schemas.microsoft.com/office/drawing/2014/main" id="{201379CF-6D14-4158-AB18-A28F7AE1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calibration gap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4711BE1E-E071-4C73-AD74-A0618834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3" name="Reliability diagram for uncorrupted test predictio">
            <a:extLst xmlns:a="http://schemas.openxmlformats.org/drawingml/2006/main">
              <a:ext uri="{FF2B5EF4-FFF2-40B4-BE49-F238E27FC236}">
                <a16:creationId xmlns:a16="http://schemas.microsoft.com/office/drawing/2014/main" id="{C1362DB0-0BD7-404F-8B17-67D43AB5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Reliability diagram for uncorrupted test predictions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" y="2095500"/>
          <a:ext xmlns:a="http://schemas.openxmlformats.org/drawingml/2006/main" cx="6000750" cy="3876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89bb00399e4e99"/>
          </a:graphicData>
        </a:graphic>
      </p:graphicFrame>
      <p:sp>
        <p:nvSpPr>
          <p:cNvPr id="5" name="0.153">
            <a:extLst xmlns:a="http://schemas.openxmlformats.org/drawingml/2006/main">
              <a:ext uri="{FF2B5EF4-FFF2-40B4-BE49-F238E27FC236}">
                <a16:creationId xmlns:a16="http://schemas.microsoft.com/office/drawing/2014/main" id="{E562B968-EA88-464E-B327-297850C0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105025"/>
            <a:ext cx="2209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0.153</a:t>
            </a:r>
          </a:p>
        </p:txBody>
      </p:sp>
      <p:sp>
        <p:nvSpPr>
          <p:cNvPr id="6" name="0.160">
            <a:extLst xmlns:a="http://schemas.openxmlformats.org/drawingml/2006/main">
              <a:ext uri="{FF2B5EF4-FFF2-40B4-BE49-F238E27FC236}">
                <a16:creationId xmlns:a16="http://schemas.microsoft.com/office/drawing/2014/main" id="{66767E2F-F106-40FA-8019-86973071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05025"/>
            <a:ext cx="1924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0.160</a:t>
            </a:r>
          </a:p>
        </p:txBody>
      </p:sp>
      <p:sp>
        <p:nvSpPr>
          <p:cNvPr id="7" name="Calibration error">
            <a:extLst xmlns:a="http://schemas.openxmlformats.org/drawingml/2006/main">
              <a:ext uri="{FF2B5EF4-FFF2-40B4-BE49-F238E27FC236}">
                <a16:creationId xmlns:a16="http://schemas.microsoft.com/office/drawing/2014/main" id="{F4F6ADF4-4A58-470D-BC2F-5890FA82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943225"/>
            <a:ext cx="2371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 error</a:t>
            </a:r>
          </a:p>
        </p:txBody>
      </p:sp>
      <p:sp>
        <p:nvSpPr>
          <p:cNvPr id="8" name="Brier score">
            <a:extLst xmlns:a="http://schemas.openxmlformats.org/drawingml/2006/main">
              <a:ext uri="{FF2B5EF4-FFF2-40B4-BE49-F238E27FC236}">
                <a16:creationId xmlns:a16="http://schemas.microsoft.com/office/drawing/2014/main" id="{0417515C-2E78-469E-9431-07352E21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43225"/>
            <a:ext cx="195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Brier score</a:t>
            </a:r>
          </a:p>
        </p:txBody>
      </p:sp>
      <p:sp>
        <p:nvSpPr>
          <p:cNvPr id="9" name="Under-confident at 0.6–0.9">
            <a:extLst xmlns:a="http://schemas.openxmlformats.org/drawingml/2006/main">
              <a:ext uri="{FF2B5EF4-FFF2-40B4-BE49-F238E27FC236}">
                <a16:creationId xmlns:a16="http://schemas.microsoft.com/office/drawing/2014/main" id="{8D9403F5-7AC0-47F9-AE16-7EF6B012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57600"/>
            <a:ext cx="442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Under-confident at 0.6–0.9</a:t>
            </a:r>
          </a:p>
        </p:txBody>
      </p:sp>
      <p:sp>
        <p:nvSpPr>
          <p:cNvPr id="10" name="Observed accuracy exceeds stated confidence in thi">
            <a:extLst xmlns:a="http://schemas.openxmlformats.org/drawingml/2006/main">
              <a:ext uri="{FF2B5EF4-FFF2-40B4-BE49-F238E27FC236}">
                <a16:creationId xmlns:a16="http://schemas.microsoft.com/office/drawing/2014/main" id="{2F029C52-B8B5-44B9-89AF-2D33E84B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2425"/>
            <a:ext cx="438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Observed accuracy exceeds stated confidence in this range.</a:t>
            </a:r>
          </a:p>
        </p:txBody>
      </p:sp>
      <p:sp>
        <p:nvSpPr>
          <p:cNvPr id="11" name="The top bin has only 10 samples: 80% accuracy, ver">
            <a:extLst xmlns:a="http://schemas.openxmlformats.org/drawingml/2006/main">
              <a:ext uri="{FF2B5EF4-FFF2-40B4-BE49-F238E27FC236}">
                <a16:creationId xmlns:a16="http://schemas.microsoft.com/office/drawing/2014/main" id="{A982D772-DFC8-431C-8C07-844202E9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172075"/>
            <a:ext cx="4381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top bin has only 10 samples: 80% accuracy, versus 96% in the bin below. Small-sample noise may explain the dip.</a:t>
            </a:r>
          </a:p>
        </p:txBody>
      </p:sp>
    </p:spTree>
    <p:extLst>
      <p:ext uri="{BB962C8B-B14F-4D97-AF65-F5344CB8AC3E}">
        <p14:creationId xmlns:p14="http://schemas.microsoft.com/office/powerpoint/2010/main" val="6410241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958F3A03-041C-416F-BFAF-1F869AA2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 errors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9BDDEBCE-345E-4011-A834-BD1F4398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3" name="6 of 100">
            <a:extLst xmlns:a="http://schemas.openxmlformats.org/drawingml/2006/main">
              <a:ext uri="{FF2B5EF4-FFF2-40B4-BE49-F238E27FC236}">
                <a16:creationId xmlns:a16="http://schemas.microsoft.com/office/drawing/2014/main" id="{D3C508C3-6B39-41D1-81F4-29556257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7048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6 of 100</a:t>
            </a:r>
          </a:p>
        </p:txBody>
      </p:sp>
      <p:sp>
        <p:nvSpPr>
          <p:cNvPr id="4" name="high-confidence predictions were wrong">
            <a:extLst xmlns:a="http://schemas.openxmlformats.org/drawingml/2006/main">
              <a:ext uri="{FF2B5EF4-FFF2-40B4-BE49-F238E27FC236}">
                <a16:creationId xmlns:a16="http://schemas.microsoft.com/office/drawing/2014/main" id="{38A5EFAA-DECD-45E5-8FD6-21244CF6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10382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high-confidence predictions were wrong</a:t>
            </a:r>
          </a:p>
        </p:txBody>
      </p:sp>
      <p:sp>
        <p:nvSpPr>
          <p:cNvPr id="5" name="100 of 439 predictions reached at least 75% confid">
            <a:extLst xmlns:a="http://schemas.openxmlformats.org/drawingml/2006/main">
              <a:ext uri="{FF2B5EF4-FFF2-40B4-BE49-F238E27FC236}">
                <a16:creationId xmlns:a16="http://schemas.microsoft.com/office/drawing/2014/main" id="{6AECEEB9-0DD1-481E-9995-E1F501E9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0572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100 of 439 predictions reached at least 75% confidence.</a:t>
            </a:r>
          </a:p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That is 22.8% of the test set, with a 6.0% error rate in this group.</a:t>
            </a:r>
          </a:p>
        </p:txBody>
      </p:sp>
      <p:sp>
        <p:nvSpPr>
          <p:cNvPr id="6" name="At step 0: 0/6">
            <a:extLst xmlns:a="http://schemas.openxmlformats.org/drawingml/2006/main">
              <a:ext uri="{FF2B5EF4-FFF2-40B4-BE49-F238E27FC236}">
                <a16:creationId xmlns:a16="http://schemas.microsoft.com/office/drawing/2014/main" id="{E0F02FC8-8CCA-4A11-AA93-E0E91004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At step 0: 0/6</a:t>
            </a:r>
          </a:p>
        </p:txBody>
      </p:sp>
      <p:sp>
        <p:nvSpPr>
          <p:cNvPr id="7" name="The per-step model has no history yet.&#10;It flagged ">
            <a:extLst xmlns:a="http://schemas.openxmlformats.org/drawingml/2006/main">
              <a:ext uri="{FF2B5EF4-FFF2-40B4-BE49-F238E27FC236}">
                <a16:creationId xmlns:a16="http://schemas.microsoft.com/office/drawing/2014/main" id="{55F3FC1F-D317-4186-9F1B-C069CC5B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50958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per-step model has no history yet.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It flagged none of these errors.</a:t>
            </a:r>
          </a:p>
        </p:txBody>
      </p:sp>
      <p:sp>
        <p:nvSpPr>
          <p:cNvPr id="8" name="After six probes: 6/6">
            <a:extLst xmlns:a="http://schemas.openxmlformats.org/drawingml/2006/main">
              <a:ext uri="{FF2B5EF4-FFF2-40B4-BE49-F238E27FC236}">
                <a16:creationId xmlns:a16="http://schemas.microsoft.com/office/drawing/2014/main" id="{D132E2A3-A496-4910-BE74-92E5007D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295900"/>
            <a:ext cx="5219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After six probes: 6/6</a:t>
            </a:r>
          </a:p>
        </p:txBody>
      </p:sp>
      <p:sp>
        <p:nvSpPr>
          <p:cNvPr id="9" name="The sequence model flagged all six,&#10;plus 50 correc">
            <a:extLst xmlns:a="http://schemas.openxmlformats.org/drawingml/2006/main">
              <a:ext uri="{FF2B5EF4-FFF2-40B4-BE49-F238E27FC236}">
                <a16:creationId xmlns:a16="http://schemas.microsoft.com/office/drawing/2014/main" id="{4E754E4D-D830-4B5E-B185-89E17702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753100"/>
            <a:ext cx="521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sequence model flagged all six,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plus 50 correct predictions.</a:t>
            </a:r>
          </a:p>
        </p:txBody>
      </p:sp>
    </p:spTree>
    <p:extLst>
      <p:ext uri="{BB962C8B-B14F-4D97-AF65-F5344CB8AC3E}">
        <p14:creationId xmlns:p14="http://schemas.microsoft.com/office/powerpoint/2010/main" val="16800521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What drift features add">
            <a:extLst xmlns:a="http://schemas.openxmlformats.org/drawingml/2006/main">
              <a:ext uri="{FF2B5EF4-FFF2-40B4-BE49-F238E27FC236}">
                <a16:creationId xmlns:a16="http://schemas.microsoft.com/office/drawing/2014/main" id="{BB373C25-33E4-4723-99A2-D272B79B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What drift features add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B123AEDE-5889-4B66-B38D-4C5A8F83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3" name="Pooled out-of-fold results · five document-grouped">
            <a:extLst xmlns:a="http://schemas.openxmlformats.org/drawingml/2006/main">
              <a:ext uri="{FF2B5EF4-FFF2-40B4-BE49-F238E27FC236}">
                <a16:creationId xmlns:a16="http://schemas.microsoft.com/office/drawing/2014/main" id="{5A83598A-00AD-4F98-95E2-A0EE86F0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38275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Pooled out-of-fold results · five document-grouped folds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2114550"/>
          <a:ext xmlns:a="http://schemas.openxmlformats.org/drawingml/2006/main" cx="10810875" cy="24003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619250"/>
                <a:gridCol w="5667375"/>
                <a:gridCol w="1619250"/>
                <a:gridCol w="1905000"/>
              </a:tblGrid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Experiment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ROC-AUC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Corruption context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0.296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 + current confidence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0.468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0.729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 + nine history features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0.508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0.763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</a:tr>
            </a:tbl>
          </a:graphicData>
        </a:graphic>
      </p:graphicFrame>
      <p:sp>
        <p:nvSpPr>
          <p:cNvPr id="5" name="+0.040">
            <a:extLst xmlns:a="http://schemas.openxmlformats.org/drawingml/2006/main">
              <a:ext uri="{FF2B5EF4-FFF2-40B4-BE49-F238E27FC236}">
                <a16:creationId xmlns:a16="http://schemas.microsoft.com/office/drawing/2014/main" id="{53DE2980-C15B-4AF6-90B4-71357953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9175"/>
            <a:ext cx="2876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+0.040</a:t>
            </a:r>
          </a:p>
        </p:txBody>
      </p:sp>
      <p:sp>
        <p:nvSpPr>
          <p:cNvPr id="6" name="F1 improvement, B to C">
            <a:extLst xmlns:a="http://schemas.openxmlformats.org/drawingml/2006/main">
              <a:ext uri="{FF2B5EF4-FFF2-40B4-BE49-F238E27FC236}">
                <a16:creationId xmlns:a16="http://schemas.microsoft.com/office/drawing/2014/main" id="{B828A482-2628-4D6A-8FB3-64013686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95950"/>
            <a:ext cx="3486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improvement, B to C</a:t>
            </a:r>
          </a:p>
        </p:txBody>
      </p:sp>
      <p:sp>
        <p:nvSpPr>
          <p:cNvPr id="7" name="+0.034">
            <a:extLst xmlns:a="http://schemas.openxmlformats.org/drawingml/2006/main">
              <a:ext uri="{FF2B5EF4-FFF2-40B4-BE49-F238E27FC236}">
                <a16:creationId xmlns:a16="http://schemas.microsoft.com/office/drawing/2014/main" id="{C9EA730C-1EE7-47AA-8905-E39AED88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9175"/>
            <a:ext cx="3067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+0.034</a:t>
            </a:r>
          </a:p>
        </p:txBody>
      </p:sp>
      <p:sp>
        <p:nvSpPr>
          <p:cNvPr id="8" name="ROC-AUC improvement, B to C">
            <a:extLst xmlns:a="http://schemas.openxmlformats.org/drawingml/2006/main">
              <a:ext uri="{FF2B5EF4-FFF2-40B4-BE49-F238E27FC236}">
                <a16:creationId xmlns:a16="http://schemas.microsoft.com/office/drawing/2014/main" id="{1EB1D9A2-B3EB-4671-AC48-08DC9EA1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695950"/>
            <a:ext cx="41529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ROC-AUC improvement, B to C</a:t>
            </a:r>
          </a:p>
        </p:txBody>
      </p:sp>
      <p:sp>
        <p:nvSpPr>
          <p:cNvPr id="9" name="History adds a&#10;modest gain.">
            <a:extLst xmlns:a="http://schemas.openxmlformats.org/drawingml/2006/main">
              <a:ext uri="{FF2B5EF4-FFF2-40B4-BE49-F238E27FC236}">
                <a16:creationId xmlns:a16="http://schemas.microsoft.com/office/drawing/2014/main" id="{ACE29775-13FC-46F4-9808-F9B78354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29200"/>
            <a:ext cx="26003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History adds a</a:t>
            </a:r>
          </a:p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modest gain.</a:t>
            </a:r>
          </a:p>
        </p:txBody>
      </p:sp>
      <p:sp>
        <p:nvSpPr>
          <p:cNvPr id="10" name="The separate 110-document holdout showed a smaller">
            <a:extLst xmlns:a="http://schemas.openxmlformats.org/drawingml/2006/main">
              <a:ext uri="{FF2B5EF4-FFF2-40B4-BE49-F238E27FC236}">
                <a16:creationId xmlns:a16="http://schemas.microsoft.com/office/drawing/2014/main" id="{A172E6BA-2579-41E2-B685-7D19BB2F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29350"/>
            <a:ext cx="10306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separate 110-document holdout showed a smaller B-to-C F1 gain: 0.447 to 0.457.</a:t>
            </a:r>
          </a:p>
        </p:txBody>
      </p:sp>
    </p:spTree>
    <p:extLst>
      <p:ext uri="{BB962C8B-B14F-4D97-AF65-F5344CB8AC3E}">
        <p14:creationId xmlns:p14="http://schemas.microsoft.com/office/powerpoint/2010/main" val="8601379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ur findings">
            <a:extLst xmlns:a="http://schemas.openxmlformats.org/drawingml/2006/main">
              <a:ext uri="{FF2B5EF4-FFF2-40B4-BE49-F238E27FC236}">
                <a16:creationId xmlns:a16="http://schemas.microsoft.com/office/drawing/2014/main" id="{269D3555-16B9-4604-8BE5-3C7923B7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Four findings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4B701A13-EC3C-4D81-85A7-21A17311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3" name="63.5–93.3%">
            <a:extLst xmlns:a="http://schemas.openxmlformats.org/drawingml/2006/main">
              <a:ext uri="{FF2B5EF4-FFF2-40B4-BE49-F238E27FC236}">
                <a16:creationId xmlns:a16="http://schemas.microsoft.com/office/drawing/2014/main" id="{CABA10A6-A2A3-4AEC-91F0-16BC116D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7640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63.5–93.3%</a:t>
            </a:r>
          </a:p>
        </p:txBody>
      </p:sp>
      <p:sp>
        <p:nvSpPr>
          <p:cNvPr id="4" name="Confidence carries useful signal">
            <a:extLst xmlns:a="http://schemas.openxmlformats.org/drawingml/2006/main">
              <a:ext uri="{FF2B5EF4-FFF2-40B4-BE49-F238E27FC236}">
                <a16:creationId xmlns:a16="http://schemas.microsoft.com/office/drawing/2014/main" id="{34B4BE10-DE11-4E5A-8924-D250EB7D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68592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useful signal</a:t>
            </a:r>
          </a:p>
        </p:txBody>
      </p:sp>
      <p:sp>
        <p:nvSpPr>
          <p:cNvPr id="5" name="Accuracy rises across the confidence bins.">
            <a:extLst xmlns:a="http://schemas.openxmlformats.org/drawingml/2006/main">
              <a:ext uri="{FF2B5EF4-FFF2-40B4-BE49-F238E27FC236}">
                <a16:creationId xmlns:a16="http://schemas.microsoft.com/office/drawing/2014/main" id="{680F4911-19B6-4114-93A1-78FB7AD5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5265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rises across the confidence bins.</a:t>
            </a:r>
          </a:p>
        </p:txBody>
      </p:sp>
      <p:sp>
        <p:nvSpPr>
          <p:cNvPr id="6" name="6 of 100">
            <a:extLst xmlns:a="http://schemas.openxmlformats.org/drawingml/2006/main">
              <a:ext uri="{FF2B5EF4-FFF2-40B4-BE49-F238E27FC236}">
                <a16:creationId xmlns:a16="http://schemas.microsoft.com/office/drawing/2014/main" id="{3B9992A8-D5EA-412F-829A-B6163E6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0987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 of 100</a:t>
            </a:r>
          </a:p>
        </p:txBody>
      </p:sp>
      <p:sp>
        <p:nvSpPr>
          <p:cNvPr id="7" name="High confidence can still be wrong">
            <a:extLst xmlns:a="http://schemas.openxmlformats.org/drawingml/2006/main">
              <a:ext uri="{FF2B5EF4-FFF2-40B4-BE49-F238E27FC236}">
                <a16:creationId xmlns:a16="http://schemas.microsoft.com/office/drawing/2014/main" id="{C2ABE0DC-FAC6-42C1-963C-0B47D629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8194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 confidence can still be wrong</a:t>
            </a:r>
          </a:p>
        </p:txBody>
      </p:sp>
      <p:sp>
        <p:nvSpPr>
          <p:cNvPr id="8" name="After six probes: 6 flagged, with 50 false alarms.">
            <a:extLst xmlns:a="http://schemas.openxmlformats.org/drawingml/2006/main">
              <a:ext uri="{FF2B5EF4-FFF2-40B4-BE49-F238E27FC236}">
                <a16:creationId xmlns:a16="http://schemas.microsoft.com/office/drawing/2014/main" id="{37CF480C-CFFA-43C4-A797-74BD8428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8612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After six probes: 6 flagged, with 50 false alarms.</a:t>
            </a:r>
          </a:p>
        </p:txBody>
      </p:sp>
      <p:sp>
        <p:nvSpPr>
          <p:cNvPr id="9" name="r = 0.09">
            <a:extLst xmlns:a="http://schemas.openxmlformats.org/drawingml/2006/main">
              <a:ext uri="{FF2B5EF4-FFF2-40B4-BE49-F238E27FC236}">
                <a16:creationId xmlns:a16="http://schemas.microsoft.com/office/drawing/2014/main" id="{5A14CB2A-2337-46D4-AAF0-B4F75DC4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4335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r = 0.09</a:t>
            </a:r>
          </a:p>
        </p:txBody>
      </p:sp>
      <p:sp>
        <p:nvSpPr>
          <p:cNvPr id="10" name="Net drift is a weak predictor">
            <a:extLst xmlns:a="http://schemas.openxmlformats.org/drawingml/2006/main">
              <a:ext uri="{FF2B5EF4-FFF2-40B4-BE49-F238E27FC236}">
                <a16:creationId xmlns:a16="http://schemas.microsoft.com/office/drawing/2014/main" id="{34112BB8-64C9-473B-AB87-161B77B8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Net drift is a weak predictor</a:t>
            </a:r>
          </a:p>
        </p:txBody>
      </p:sp>
      <p:sp>
        <p:nvSpPr>
          <p:cNvPr id="11" name="Correlation with becoming incorrect is small.">
            <a:extLst xmlns:a="http://schemas.openxmlformats.org/drawingml/2006/main">
              <a:ext uri="{FF2B5EF4-FFF2-40B4-BE49-F238E27FC236}">
                <a16:creationId xmlns:a16="http://schemas.microsoft.com/office/drawing/2014/main" id="{602B133E-085B-4209-9B7D-35120235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41960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Correlation with becoming incorrect is small.</a:t>
            </a:r>
          </a:p>
        </p:txBody>
      </p:sp>
      <p:sp>
        <p:nvSpPr>
          <p:cNvPr id="12" name="+0.040 F1">
            <a:extLst xmlns:a="http://schemas.openxmlformats.org/drawingml/2006/main">
              <a:ext uri="{FF2B5EF4-FFF2-40B4-BE49-F238E27FC236}">
                <a16:creationId xmlns:a16="http://schemas.microsoft.com/office/drawing/2014/main" id="{C4574EAF-2EB9-4CB4-9431-005E462F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7682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+0.040 F1</a:t>
            </a:r>
          </a:p>
        </p:txBody>
      </p:sp>
      <p:sp>
        <p:nvSpPr>
          <p:cNvPr id="13" name="History adds a modest gain">
            <a:extLst xmlns:a="http://schemas.openxmlformats.org/drawingml/2006/main">
              <a:ext uri="{FF2B5EF4-FFF2-40B4-BE49-F238E27FC236}">
                <a16:creationId xmlns:a16="http://schemas.microsoft.com/office/drawing/2014/main" id="{66D77C71-6F5E-425A-8503-9AEA035D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08635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History adds a modest gain</a:t>
            </a:r>
          </a:p>
        </p:txBody>
      </p:sp>
      <p:sp>
        <p:nvSpPr>
          <p:cNvPr id="14" name="F1 rises from 0.468 to 0.508 after current confide">
            <a:extLst xmlns:a="http://schemas.openxmlformats.org/drawingml/2006/main">
              <a:ext uri="{FF2B5EF4-FFF2-40B4-BE49-F238E27FC236}">
                <a16:creationId xmlns:a16="http://schemas.microsoft.com/office/drawing/2014/main" id="{3A5AEF10-0905-413B-AFA2-33013063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5307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rises from 0.468 to 0.508 after current confidence.</a:t>
            </a:r>
          </a:p>
        </p:txBody>
      </p:sp>
    </p:spTree>
    <p:extLst>
      <p:ext uri="{BB962C8B-B14F-4D97-AF65-F5344CB8AC3E}">
        <p14:creationId xmlns:p14="http://schemas.microsoft.com/office/powerpoint/2010/main" val="19121116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imitations and next steps">
            <a:extLst xmlns:a="http://schemas.openxmlformats.org/drawingml/2006/main">
              <a:ext uri="{FF2B5EF4-FFF2-40B4-BE49-F238E27FC236}">
                <a16:creationId xmlns:a16="http://schemas.microsoft.com/office/drawing/2014/main" id="{6C154B8C-CB83-45BF-B76B-0E9D0D61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Limitations and next steps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AC08C0FA-301D-4B24-BE59-86C0306E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3" name="Limits of this study">
            <a:extLst xmlns:a="http://schemas.openxmlformats.org/drawingml/2006/main">
              <a:ext uri="{FF2B5EF4-FFF2-40B4-BE49-F238E27FC236}">
                <a16:creationId xmlns:a16="http://schemas.microsoft.com/office/drawing/2014/main" id="{3BFAF0D3-178D-45F1-8B28-1CDA434B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5010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Limits of this study</a:t>
            </a:r>
          </a:p>
        </p:txBody>
      </p:sp>
      <p:sp>
        <p:nvSpPr>
          <p:cNvPr id="4" name="What I would test next">
            <a:extLst xmlns:a="http://schemas.openxmlformats.org/drawingml/2006/main">
              <a:ext uri="{FF2B5EF4-FFF2-40B4-BE49-F238E27FC236}">
                <a16:creationId xmlns:a16="http://schemas.microsoft.com/office/drawing/2014/main" id="{4BF09ADE-D448-4B04-BCAA-445E5862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57350"/>
            <a:ext cx="49625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What I would test next</a:t>
            </a:r>
          </a:p>
        </p:txBody>
      </p:sp>
      <p:sp>
        <p:nvSpPr>
          <p:cNvPr id="5" name="Text corruption simulates repeated predictions. Re">
            <a:extLst xmlns:a="http://schemas.openxmlformats.org/drawingml/2006/main">
              <a:ext uri="{FF2B5EF4-FFF2-40B4-BE49-F238E27FC236}">
                <a16:creationId xmlns:a16="http://schemas.microsoft.com/office/drawing/2014/main" id="{0CFAE954-250E-406B-9EB7-C93E9DD9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Text corruption simulates repeated predictions. Real usage may behave differently.</a:t>
            </a:r>
          </a:p>
        </p:txBody>
      </p:sp>
      <p:sp>
        <p:nvSpPr>
          <p:cNvPr id="6" name="Only 439 test documents. The top calibration bin h">
            <a:extLst xmlns:a="http://schemas.openxmlformats.org/drawingml/2006/main">
              <a:ext uri="{FF2B5EF4-FFF2-40B4-BE49-F238E27FC236}">
                <a16:creationId xmlns:a16="http://schemas.microsoft.com/office/drawing/2014/main" id="{8F4DD7E9-50F4-422C-ADC7-FEB053CC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Only 439 test documents. The top calibration bin has 10 predictions.</a:t>
            </a:r>
          </a:p>
        </p:txBody>
      </p:sp>
      <p:sp>
        <p:nvSpPr>
          <p:cNvPr id="7" name="Two classes and one base model architecture.">
            <a:extLst xmlns:a="http://schemas.openxmlformats.org/drawingml/2006/main">
              <a:ext uri="{FF2B5EF4-FFF2-40B4-BE49-F238E27FC236}">
                <a16:creationId xmlns:a16="http://schemas.microsoft.com/office/drawing/2014/main" id="{89211080-609A-4E89-846E-2D087192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classes and one base model architecture.</a:t>
            </a:r>
          </a:p>
        </p:txBody>
      </p:sp>
      <p:sp>
        <p:nvSpPr>
          <p:cNvPr id="8" name="Six probes are required; 50 correct high-confidenc">
            <a:extLst xmlns:a="http://schemas.openxmlformats.org/drawingml/2006/main">
              <a:ext uri="{FF2B5EF4-FFF2-40B4-BE49-F238E27FC236}">
                <a16:creationId xmlns:a16="http://schemas.microsoft.com/office/drawing/2014/main" id="{256FDDFB-CA49-469A-BC84-6ABC1B3D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Six probes are required; 50 correct high-confidence cases were flagged.</a:t>
            </a:r>
          </a:p>
        </p:txBody>
      </p:sp>
      <p:sp>
        <p:nvSpPr>
          <p:cNvPr id="9" name="Reduce false alarms, then test on a new corpus.">
            <a:extLst xmlns:a="http://schemas.openxmlformats.org/drawingml/2006/main">
              <a:ext uri="{FF2B5EF4-FFF2-40B4-BE49-F238E27FC236}">
                <a16:creationId xmlns:a16="http://schemas.microsoft.com/office/drawing/2014/main" id="{3060CFE0-9E05-4411-9688-26635964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Reduce false alarms, then test on a new corpus.</a:t>
            </a:r>
          </a:p>
        </p:txBody>
      </p:sp>
      <p:sp>
        <p:nvSpPr>
          <p:cNvPr id="10" name="Collect naturally repeated real-world queries when">
            <a:extLst xmlns:a="http://schemas.openxmlformats.org/drawingml/2006/main">
              <a:ext uri="{FF2B5EF4-FFF2-40B4-BE49-F238E27FC236}">
                <a16:creationId xmlns:a16="http://schemas.microsoft.com/office/drawing/2014/main" id="{1096AB0C-B482-4BA6-95BB-5B1FD6B9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Collect naturally repeated real-world queries when data becomes available.</a:t>
            </a:r>
          </a:p>
        </p:txBody>
      </p:sp>
      <p:sp>
        <p:nvSpPr>
          <p:cNvPr id="11" name="Apply temperature scaling and retest whether histo">
            <a:extLst xmlns:a="http://schemas.openxmlformats.org/drawingml/2006/main">
              <a:ext uri="{FF2B5EF4-FFF2-40B4-BE49-F238E27FC236}">
                <a16:creationId xmlns:a16="http://schemas.microsoft.com/office/drawing/2014/main" id="{7145663E-050C-4363-B1BF-0A377192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Apply temperature scaling and retest whether history adds value.</a:t>
            </a:r>
          </a:p>
        </p:txBody>
      </p:sp>
      <p:sp>
        <p:nvSpPr>
          <p:cNvPr id="12" name="Extend to multiple classes and another base model.">
            <a:extLst xmlns:a="http://schemas.openxmlformats.org/drawingml/2006/main">
              <a:ext uri="{FF2B5EF4-FFF2-40B4-BE49-F238E27FC236}">
                <a16:creationId xmlns:a16="http://schemas.microsoft.com/office/drawing/2014/main" id="{3A04E935-0CB0-4D96-8ED5-2FA391C3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Extend to multiple classes and another base model.</a:t>
            </a:r>
          </a:p>
        </p:txBody>
      </p:sp>
    </p:spTree>
    <p:extLst>
      <p:ext uri="{BB962C8B-B14F-4D97-AF65-F5344CB8AC3E}">
        <p14:creationId xmlns:p14="http://schemas.microsoft.com/office/powerpoint/2010/main" val="17245248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14">
            <a:extLst xmlns:a="http://schemas.openxmlformats.org/drawingml/2006/main">
              <a:ext uri="{FF2B5EF4-FFF2-40B4-BE49-F238E27FC236}">
                <a16:creationId xmlns:a16="http://schemas.microsoft.com/office/drawing/2014/main" id="{12511F6A-D921-42EC-90A1-957567BE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2" name="CONCLUSION">
            <a:extLst xmlns:a="http://schemas.openxmlformats.org/drawingml/2006/main">
              <a:ext uri="{FF2B5EF4-FFF2-40B4-BE49-F238E27FC236}">
                <a16:creationId xmlns:a16="http://schemas.microsoft.com/office/drawing/2014/main" id="{21B70AED-C5E3-451C-B017-882C0D8A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CONCLUSION</a:t>
            </a:r>
          </a:p>
        </p:txBody>
      </p:sp>
      <p:sp>
        <p:nvSpPr>
          <p:cNvPr id="3" name="Confidence history adds">
            <a:extLst xmlns:a="http://schemas.openxmlformats.org/drawingml/2006/main">
              <a:ext uri="{FF2B5EF4-FFF2-40B4-BE49-F238E27FC236}">
                <a16:creationId xmlns:a16="http://schemas.microsoft.com/office/drawing/2014/main" id="{FEBFDEEA-65BA-459F-8B9E-4881C7E0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562100"/>
            <a:ext cx="108585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history adds</a:t>
            </a:r>
          </a:p>
        </p:txBody>
      </p:sp>
      <p:sp>
        <p:nvSpPr>
          <p:cNvPr id="4" name="a modest signal.">
            <a:extLst xmlns:a="http://schemas.openxmlformats.org/drawingml/2006/main">
              <a:ext uri="{FF2B5EF4-FFF2-40B4-BE49-F238E27FC236}">
                <a16:creationId xmlns:a16="http://schemas.microsoft.com/office/drawing/2014/main" id="{4517EFB3-3675-4AC3-B885-48DEDE67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40982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50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a modest signal.</a:t>
            </a:r>
          </a:p>
        </p:txBody>
      </p:sp>
      <p:sp>
        <p:nvSpPr>
          <p:cNvPr id="5" name="Six flagged. Fifty false alarms.">
            <a:extLst xmlns:a="http://schemas.openxmlformats.org/drawingml/2006/main">
              <a:ext uri="{FF2B5EF4-FFF2-40B4-BE49-F238E27FC236}">
                <a16:creationId xmlns:a16="http://schemas.microsoft.com/office/drawing/2014/main" id="{F63B554E-9A39-428A-8ECB-ED195B27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2575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465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Six flagged. Fifty false alarms.</a:t>
            </a:r>
          </a:p>
        </p:txBody>
      </p:sp>
      <p:sp>
        <p:nvSpPr>
          <p:cNvPr id="6" name="The per-step detector missed all six at the first ">
            <a:extLst xmlns:a="http://schemas.openxmlformats.org/drawingml/2006/main">
              <a:ext uri="{FF2B5EF4-FFF2-40B4-BE49-F238E27FC236}">
                <a16:creationId xmlns:a16="http://schemas.microsoft.com/office/drawing/2014/main" id="{23C3DDB9-9214-4A59-B653-5D711CF9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76775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per-step detector missed all six at the first prediction.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After six probes, the sequence model flagged all six plus 50 correct cases.</a:t>
            </a:r>
          </a:p>
        </p:txBody>
      </p:sp>
      <p:sp>
        <p:nvSpPr>
          <p:cNvPr id="7" name="F1  0.468 to 0.508">
            <a:extLst xmlns:a="http://schemas.openxmlformats.org/drawingml/2006/main">
              <a:ext uri="{FF2B5EF4-FFF2-40B4-BE49-F238E27FC236}">
                <a16:creationId xmlns:a16="http://schemas.microsoft.com/office/drawing/2014/main" id="{00A61AAA-C52D-4A42-B9B8-21D06A38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245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F1  0.468 to 0.508</a:t>
            </a:r>
          </a:p>
        </p:txBody>
      </p:sp>
      <p:sp>
        <p:nvSpPr>
          <p:cNvPr id="8" name="ROC-AUC  0.729 to 0.763">
            <a:extLst xmlns:a="http://schemas.openxmlformats.org/drawingml/2006/main">
              <a:ext uri="{FF2B5EF4-FFF2-40B4-BE49-F238E27FC236}">
                <a16:creationId xmlns:a16="http://schemas.microsoft.com/office/drawing/2014/main" id="{7BA7C57E-50A9-4546-9069-80D4D6FD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724525"/>
            <a:ext cx="5076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ROC-AUC  0.729 to 0.763</a:t>
            </a:r>
          </a:p>
        </p:txBody>
      </p:sp>
      <p:sp>
        <p:nvSpPr>
          <p:cNvPr id="9" name="Code, data, models and research report: github.com">
            <a:extLst xmlns:a="http://schemas.openxmlformats.org/drawingml/2006/main">
              <a:ext uri="{FF2B5EF4-FFF2-40B4-BE49-F238E27FC236}">
                <a16:creationId xmlns:a16="http://schemas.microsoft.com/office/drawing/2014/main" id="{C463656E-6112-4BFC-B2FF-172DDA6D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36270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Code, data, models and research report: </a:t>
            </a: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ce4387a781d48f6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14771017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2026-09-21T13:17:45.2130000Z</dcterms:created>
  <dcterms:modified xsi:type="dcterms:W3CDTF">2026-09-21T13:17:45.2130000Z</dcterms:modified>
</coreProperties>
</file>